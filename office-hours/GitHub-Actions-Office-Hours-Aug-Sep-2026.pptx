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1 minute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This session covers six GitHub Actions updates from August and early September 2026, three practical demonstrations, and five workflow performance techniques.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Welcome everyone.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Set the promise: practical changes, three small demos, and actions attendees can take this week.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Q&amp;A clock starts after the 45-minute presentation.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2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60-minute office hour reserves 45 minutes for product updates, demonstrations, and performance guidance, followed by 15 minutes for audience questions.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Describe the cadence.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Tell attendees the demos are intentionally short and reproducible.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Invite them to save detailed environment-specific questions for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2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releases improve three operational qualities: workflow provenance, least-privilege access, and predictable lifecycle management for runners and workflow data.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Frame all six announcements as an operating-model improvement rather than a feature dump.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common thread is explicit provenance, narrower access, and predictable lifecycle management.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2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August introduced a new Windows Arm64 runner image, distinct reporting identity for Code Quality, and a broader Actions retention policy.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Preview the three August announcements.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Emphasize that two require review of existing assumptions: VS 2022 dependencies and long-lived run 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Windows 11 Arm64 image with Visual Studio 2026 is generally available as windows-11-vs2026-arm, while windows-11-arm migrates automatically during September 21–30.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Explain that Arm64 is the architecture and VS 2026 is the image change.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Teams using C++, .NET workloads, SDK components, or hard-coded Visual Studio paths should test explicitly.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migration is automatic for windows-11-arm.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Starting October 1, 2026, one Actions retention setting controls checks, workflow runs, statuses, artifacts, and logs; the default is 90 days.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Previously, checks, runs, and statuses could remain for 400+ days regardless of artifact/log retention.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Starting October 1, the same setting governs all five.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Ask: does anyone rely on old run URLs for audits, support, or release evidence?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Export what must outlive the configured window.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Metadata is not billed, but artifacts and logs 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2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GitHub Code Quality Actions runs now use a dedicated dynamic path and github-code-quality actor, separating quality analysis from code-scanning activity in reports.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This is primarily a reporting and automation compatibility change.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Existing analysis keeps running.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migration task is to update anything that classifies a run by the old dynamic path or github-advanced-security actor.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2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Early September added runner end-of-life visibility, a narrow Dependabot-alert permission, and source-identity properties for reusable workflows.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Introduce the September group.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These are additive features and can be adopted independently.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last two are the demo targets because they produce a visible result with very little YAML.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A new REST API reports registration and runtime deprecation dates for a specific Actions runner version at repository, organization, or enterprise scope.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Differentiate runner binary versions from hosted runner image labels.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This endpoint is most valuable for self-hosted fleets.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A scheduled inventory process can query every version in use and alert before either cutoff.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new vulnerability-alerts permission gives GITHUB_TOKEN read-only access to Dependabot alerts without requiring a personal access token or broader security scope.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Show the permission name and emphasize job-level scoping.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A good pattern is contents: read at workflow level, then grant vulnerability-alerts: read only to the reporting job.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This is simpler to audit than a PAT and limits blast radius.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Four new job context properties expose the ref, SHA, repository, and file path of the workflow that defines a job, including jobs in reusable workflows.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github values describe the caller.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 job values describe the workflow file defining the current job.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They match for an ordinary workflow and diverge for a reusable one.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This removes the need to pass source metadata manually.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Not available on GitHub Enterprise Server.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1 minute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A single manually dispatched workflow runs three independent jobs to demonstrate reusable-workflow provenance, least-privilege Dependabot access, and separate CodeQL workload attribution.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Switch to the repository.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Show the two small files first, then dispatch the workflow.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While it starts, explain that the three jobs are independent.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Keep a pre-run result open in case of queue delays.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4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reusable-workflow demo shows that github.workflow_ref identifies the caller while job.workflow_ref and related properties identify the workflow defining the job.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Open both YAML files.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Show the caller's uses line.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In the run summary, compare github.workflow_ref with job.workflow_ref, then point out SHA, repository, and file path.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Ask attendees where they currently pass this metadata as inputs.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Close with provenance and diagnostics use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least-privilege demo uses a job-scoped vulnerability-alerts: read grant and the built-in GITHUB_TOKEN to count open Dependabot alerts.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Highlight that the permission is scoped to only this job.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Open the job summary and show the count.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Zero is a valid result.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If policy prevents access, explain that the explicit failure is preferable to a silent or overly broad fallback.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GitHub Code Quality runs now have a distinct actor and dynamic workflow path, allowing Actions reports and API consumers to separate quality analysis from code scanning.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Open the code-quality-attribution job summary.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Compare the actor, expected path, run count, and latest observed path in each row.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Explain that zero Code Quality runs means the feature is not enabled or has not completed a run in this repository.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Use a prepared screenshot if needed.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Close by showing which dashboard or billing filters must be updated.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5 minutes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highest-leverage performance improvements eliminate stale runs, reuse expensive deterministic work, prevent unnecessary jobs, control matrix growth, and distinguish queue time from execution time.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Spend about 45 seconds on each tip.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Concurrency avoids paying for obsolete commits.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Cache only expensive deterministic inputs.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Filters prevent runner allocation entirely.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Matrices often grow quadratically.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Finally, inspect queue time separately: a faster build cannot fix runner scarcity.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3 minutes, then 15 minutes Q&amp;A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The immediate next steps are to test the new Arm64 image, review retention and reporting dependencies, and adopt narrower permissions plus native workflow provenance.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Recap the three action categories.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Transition to questions.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Useful prompts: Which runner fleet is hardest to maintain?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Where do shared workflows lack provenance?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What is the longest feedback-time bottleneck today?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 wrap="square"/>
          <a:lstStyle/>
          <a:p>
            <a:pPr>
              <a:spcAft>
                <a:spcPts val="800"/>
              </a:spcAft>
              <a:defRPr sz="2000" b="1">
                <a:solidFill>
                  <a:srgbClr val="1F4E79"/>
                </a:solidFill>
                <a:latin typeface="Aptos"/>
              </a:defRPr>
            </a:pPr>
            <a:r>
              <a:t>PRESENTER NOTES</a:t>
            </a:r>
          </a:p>
          <a:p>
            <a:pPr>
              <a:spcAft>
                <a:spcPts val="1200"/>
              </a:spcAft>
              <a:defRPr sz="1600" b="1">
                <a:solidFill>
                  <a:srgbClr val="2E7D32"/>
                </a:solidFill>
                <a:latin typeface="Aptos"/>
              </a:defRPr>
            </a:pPr>
            <a:r>
              <a:t>Timing: Reference slide; no presentation time required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Feature summary</a:t>
            </a:r>
          </a:p>
          <a:p>
            <a:pPr>
              <a:lnSpc>
                <a:spcPct val="110000"/>
              </a:lnSpc>
              <a:spcAft>
                <a:spcPts val="12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This slide provides the official GitHub Changelog source for every feature covered in the presentation.</a:t>
            </a:r>
          </a:p>
          <a:p>
            <a:pPr>
              <a:spcAft>
                <a:spcPts val="500"/>
              </a:spcAft>
              <a:defRPr sz="1600" b="1">
                <a:solidFill>
                  <a:srgbClr val="1F4E79"/>
                </a:solidFill>
                <a:latin typeface="Aptos"/>
              </a:defRPr>
            </a:pPr>
            <a:r>
              <a:t>Presenter cues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Leave this slide displayed after Q&amp;A or share it with attendees as a follow-up resource.</a:t>
            </a:r>
          </a:p>
          <a:p>
            <a:pPr>
              <a:lnSpc>
                <a:spcPct val="110000"/>
              </a:lnSpc>
              <a:spcAft>
                <a:spcPts val="700"/>
              </a:spcAft>
              <a:defRPr sz="1500">
                <a:solidFill>
                  <a:srgbClr val="202020"/>
                </a:solidFill>
                <a:latin typeface="Aptos"/>
              </a:defRPr>
            </a:pPr>
            <a:r>
              <a:t>• Each URL is clickable.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blog/changelog/2026-08-20-windows-11-arm64-vs2026-image-generally-available" TargetMode="External"/><Relationship Id="rId3" Type="http://schemas.openxmlformats.org/officeDocument/2006/relationships/hyperlink" Target="https://github.blog/changelog/2026-08-20-separate-github-actions-path-for-github-code-quality" TargetMode="External"/><Relationship Id="rId4" Type="http://schemas.openxmlformats.org/officeDocument/2006/relationships/hyperlink" Target="https://github.blog/changelog/2026-08-27-actions-retention-will-cover-checks-workflow-runs-and-statuses" TargetMode="External"/><Relationship Id="rId5" Type="http://schemas.openxmlformats.org/officeDocument/2006/relationships/hyperlink" Target="https://github.blog/changelog/2026-09-03-github-actions-early-september-2026-updates" TargetMode="External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85800" y="576072"/>
            <a:ext cx="1280160" cy="310896"/>
          </a:xfrm>
          <a:prstGeom prst="round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585216"/>
            <a:ext cx="128016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0D1117"/>
                </a:solidFill>
                <a:latin typeface="Aptos"/>
              </a:rPr>
              <a:t>OFFICE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234440"/>
            <a:ext cx="10515600" cy="8229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400" b="1">
                <a:solidFill>
                  <a:srgbClr val="F0F6FC"/>
                </a:solidFill>
                <a:latin typeface="Aptos"/>
              </a:rPr>
              <a:t>GitHub Actions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029968"/>
            <a:ext cx="10515600" cy="5943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800" b="1">
                <a:solidFill>
                  <a:srgbClr val="58A6FF"/>
                </a:solidFill>
                <a:latin typeface="Aptos"/>
              </a:rPr>
              <a:t>What changed in August + September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2971800"/>
            <a:ext cx="868680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8B949E"/>
                </a:solidFill>
                <a:latin typeface="Aptos"/>
              </a:rPr>
              <a:t>Six updates · three live demos · five performance moves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3703320"/>
            <a:ext cx="10698480" cy="1234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4041648"/>
            <a:ext cx="14630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3FB950"/>
                </a:solidFill>
                <a:latin typeface="Aptos"/>
              </a:rPr>
              <a:t>45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4096512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presentation + demos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4041648"/>
            <a:ext cx="14630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600" b="1">
                <a:solidFill>
                  <a:srgbClr val="BC8CFF"/>
                </a:solidFill>
                <a:latin typeface="Aptos"/>
              </a:rPr>
              <a:t>15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4096512"/>
            <a:ext cx="18288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Q&amp;A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617220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0">
                <a:solidFill>
                  <a:srgbClr val="8B949E"/>
                </a:solidFill>
                <a:latin typeface="Aptos"/>
              </a:rPr>
              <a:t>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TODAY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Run of show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150876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00–05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Why these updates matter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08152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The operating themes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26280" y="1783080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26280" y="1783080"/>
            <a:ext cx="64008" cy="150876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8231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  <a:latin typeface="Aptos"/>
              </a:rPr>
              <a:t>05–17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8231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August 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2312" y="308152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Runners, retention, reporting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783080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1783080"/>
            <a:ext cx="64008" cy="150876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7707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17–29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September releases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77072" y="308152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API, permissions, identity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3749039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31520" y="3749039"/>
            <a:ext cx="64008" cy="150876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3977639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29–40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7552" y="434340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Three demos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504748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Small YAML, visible result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26280" y="3749039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26280" y="3749039"/>
            <a:ext cx="64008" cy="150876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782312" y="3977639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  <a:latin typeface="Aptos"/>
              </a:rPr>
              <a:t>40–45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82312" y="434340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Performance tips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82312" y="504748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Five high-leverage moves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749039"/>
            <a:ext cx="342900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3749039"/>
            <a:ext cx="64008" cy="150876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77072" y="3977639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45–60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77072" y="434340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Q&amp;A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77072" y="5047488"/>
            <a:ext cx="2916936" cy="-9144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Your workflows and constraints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The release theme: know more, grant less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347472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347472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OBSERVE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More identity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081528"/>
            <a:ext cx="2916936" cy="195681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Reusable jobs can identify the exact workflow file, repository, ref, and SHA that defined them.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429000" cy="347472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64008" cy="3474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  <a:latin typeface="Aptos"/>
              </a:rPr>
              <a:t>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Less privilege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081528"/>
            <a:ext cx="2916936" cy="195681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GITHUB_TOKEN can read Dependabot alerts through a narrow, purpose-built permission.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783080"/>
            <a:ext cx="3429000" cy="347472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783080"/>
            <a:ext cx="64008" cy="347472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OPERATE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Clearer lifecycle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081528"/>
            <a:ext cx="2916936" cy="1956815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Runner deprecation dates, broader retention rules, and cleaner Code Quality attribution reduce surprises.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" y="5806440"/>
            <a:ext cx="101498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F0F6FC"/>
                </a:solidFill>
                <a:latin typeface="Aptos"/>
              </a:rPr>
              <a:t>The practical outcome: safer reusable automation with better operational signals.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RELEASE TIMELINE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August: three operational changes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783080"/>
            <a:ext cx="1188720" cy="502920"/>
          </a:xfrm>
          <a:prstGeom prst="round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92807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Aptos"/>
              </a:rPr>
              <a:t>AUG 20</a:t>
            </a:r>
          </a:p>
        </p:txBody>
      </p:sp>
      <p:sp>
        <p:nvSpPr>
          <p:cNvPr id="8" name="Rectangle 7"/>
          <p:cNvSpPr/>
          <p:nvPr/>
        </p:nvSpPr>
        <p:spPr>
          <a:xfrm>
            <a:off x="2331720" y="2011680"/>
            <a:ext cx="457200" cy="45720"/>
          </a:xfrm>
          <a:prstGeom prst="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1764792"/>
            <a:ext cx="4389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F0F6FC"/>
                </a:solidFill>
                <a:latin typeface="Aptos"/>
              </a:rPr>
              <a:t>Windows 11 Arm64 + VS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212848"/>
            <a:ext cx="7040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GA image and migration path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108960"/>
            <a:ext cx="1188720" cy="502920"/>
          </a:xfrm>
          <a:prstGeom prst="round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218688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Aptos"/>
              </a:rPr>
              <a:t>AUG 20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31720" y="3337560"/>
            <a:ext cx="457200" cy="45720"/>
          </a:xfrm>
          <a:prstGeom prst="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3090672"/>
            <a:ext cx="4389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F0F6FC"/>
                </a:solidFill>
                <a:latin typeface="Aptos"/>
              </a:rPr>
              <a:t>Code Quality workflow identity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71800" y="3538728"/>
            <a:ext cx="7040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Dedicated path and actor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434840"/>
            <a:ext cx="1188720" cy="502920"/>
          </a:xfrm>
          <a:prstGeom prst="roundRect">
            <a:avLst/>
          </a:prstGeom>
          <a:solidFill>
            <a:srgbClr val="D29922"/>
          </a:solidFill>
          <a:ln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4544568"/>
            <a:ext cx="1188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200" b="1">
                <a:solidFill>
                  <a:srgbClr val="0D1117"/>
                </a:solidFill>
                <a:latin typeface="Aptos"/>
              </a:rPr>
              <a:t>AUG 27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4663440"/>
            <a:ext cx="457200" cy="45720"/>
          </a:xfrm>
          <a:prstGeom prst="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971800" y="4416552"/>
            <a:ext cx="438912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100" b="1">
                <a:solidFill>
                  <a:srgbClr val="F0F6FC"/>
                </a:solidFill>
                <a:latin typeface="Aptos"/>
              </a:rPr>
              <a:t>Retention scope expands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71800" y="4864607"/>
            <a:ext cx="704088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Checks, runs, statuses join logs and artifacts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AUGUST · HOSTED RUNNERS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Windows 11 Arm64 moves to Visual Studio 2026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64792"/>
            <a:ext cx="640080" cy="310896"/>
          </a:xfrm>
          <a:prstGeom prst="round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773936"/>
            <a:ext cx="64008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1">
                <a:solidFill>
                  <a:srgbClr val="0D1117"/>
                </a:solidFill>
                <a:latin typeface="Aptos"/>
              </a:rPr>
              <a:t>GA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240280"/>
            <a:ext cx="4754880" cy="292608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441448"/>
            <a:ext cx="4297680" cy="2560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scadia Mono"/>
              </a:rPr>
              <a:t>jobs:
  build-arm:
    runs-on: windows-11-vs2026-arm
    steps:
      - uses: actions/checkout@v4
      - run: dotnet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1874519"/>
            <a:ext cx="5303520" cy="338328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13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Available on standard and larger hosted runners</a:t>
            </a:r>
          </a:p>
          <a:p>
            <a:pPr>
              <a:spcAft>
                <a:spcPts val="13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windows-11-arm migrates September 21–30</a:t>
            </a:r>
          </a:p>
          <a:p>
            <a:pPr>
              <a:spcAft>
                <a:spcPts val="13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VS 2022 dependencies are the breaking-change risk</a:t>
            </a:r>
          </a:p>
          <a:p>
            <a:pPr>
              <a:spcAft>
                <a:spcPts val="13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Pin the preview label now to test before migration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89320" y="5376672"/>
            <a:ext cx="5212080" cy="658368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36208" y="5559552"/>
            <a:ext cx="4663440" cy="27432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l"/>
            <a:r>
              <a:rPr sz="1500" b="1">
                <a:solidFill>
                  <a:srgbClr val="D29922"/>
                </a:solidFill>
                <a:latin typeface="Aptos"/>
              </a:rPr>
              <a:t>ACTION: </a:t>
            </a:r>
            <a:r>
              <a:rPr sz="1500" b="0">
                <a:solidFill>
                  <a:srgbClr val="F0F6FC"/>
                </a:solidFill>
                <a:latin typeface="Aptos"/>
              </a:rPr>
              <a:t>test native toolchains and installed workloads.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AUGUST · RETENTION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One retention dial will govern five data types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Checks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35808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35808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Workflow runs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94376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94376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Statuses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52944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52944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Artifacts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811512" y="1828800"/>
            <a:ext cx="1920240" cy="777240"/>
          </a:xfrm>
          <a:prstGeom prst="roundRect">
            <a:avLst/>
          </a:prstGeom>
          <a:solidFill>
            <a:srgbClr val="161B22"/>
          </a:solidFill>
          <a:ln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11512" y="2066543"/>
            <a:ext cx="1920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Logs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063240"/>
            <a:ext cx="7955279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600" b="1">
                <a:solidFill>
                  <a:srgbClr val="F0F6FC"/>
                </a:solidFill>
                <a:latin typeface="Aptos"/>
              </a:rPr>
              <a:t>Your configured Actions retention period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520440"/>
            <a:ext cx="73152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400" b="1">
                <a:solidFill>
                  <a:srgbClr val="BC8CFF"/>
                </a:solidFill>
                <a:latin typeface="Apto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0" y="4160520"/>
            <a:ext cx="6309360" cy="105156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4389120"/>
            <a:ext cx="274320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3FB950"/>
                </a:solidFill>
                <a:latin typeface="Aptos"/>
              </a:rPr>
              <a:t>Default: 90 days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97880" y="4443984"/>
            <a:ext cx="30632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Effective October 1, 2026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5623560"/>
            <a:ext cx="99669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500" b="0">
                <a:solidFill>
                  <a:srgbClr val="8B949E"/>
                </a:solidFill>
                <a:latin typeface="Aptos"/>
              </a:rPr>
              <a:t>Public repositories: 90-day maximum · Deleted history is not restored by later increases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AUGUST · REPORTING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Code Quality runs get their own identity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83080"/>
            <a:ext cx="493776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8B949E"/>
                </a:solidFill>
                <a:latin typeface="Aptos"/>
              </a:rPr>
              <a:t>Before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240280"/>
            <a:ext cx="4892040" cy="1234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41448"/>
            <a:ext cx="443484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F0F6FC"/>
                </a:solidFill>
                <a:latin typeface="Cascadia Mono"/>
              </a:rPr>
              <a:t>path:  dynamic/github-code-scanning/codeql
actor: github-advanced-security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514600"/>
            <a:ext cx="640080" cy="4572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200" b="1">
                <a:solidFill>
                  <a:srgbClr val="BC8CFF"/>
                </a:solidFill>
                <a:latin typeface="Aptos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1783080"/>
            <a:ext cx="48463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3FB950"/>
                </a:solidFill>
                <a:latin typeface="Aptos"/>
              </a:rPr>
              <a:t>Now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240280"/>
            <a:ext cx="4892040" cy="1234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441448"/>
            <a:ext cx="443484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F0F6FC"/>
                </a:solidFill>
                <a:latin typeface="Cascadia Mono"/>
              </a:rPr>
              <a:t>path:  dynamic/github-code-quality/codeql
actor: github-code-quality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977639"/>
            <a:ext cx="10058400" cy="160020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12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Run history and usage reports now separate quality from security</a:t>
            </a:r>
          </a:p>
          <a:p>
            <a:pPr>
              <a:spcAft>
                <a:spcPts val="12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Update billing filters, dashboards, and actor-based scripts</a:t>
            </a:r>
          </a:p>
          <a:p>
            <a:pPr>
              <a:spcAft>
                <a:spcPts val="12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No Code Quality repository reconfiguration is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MONTH TO DATE · SEP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September: visibility and least privilege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83080"/>
            <a:ext cx="3429000" cy="33375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783080"/>
            <a:ext cx="64008" cy="333756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API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Runner EOL dates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081528"/>
            <a:ext cx="2916936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Ask GitHub when a runner version stops registering and running.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783080"/>
            <a:ext cx="3429000" cy="33375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783080"/>
            <a:ext cx="64008" cy="333756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BC8CFF"/>
                </a:solidFill>
                <a:latin typeface="Aptos"/>
              </a:rPr>
              <a:t>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Dependabot read scope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081528"/>
            <a:ext cx="2916936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Read vulnerability alerts without granting a broader permission.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783080"/>
            <a:ext cx="3429000" cy="33375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783080"/>
            <a:ext cx="64008" cy="333756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1168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37744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Reusable job 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081528"/>
            <a:ext cx="2916936" cy="18196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Identify the reusable workflow that actually defines the job.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5715000"/>
            <a:ext cx="97840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100" b="1">
                <a:solidFill>
                  <a:srgbClr val="F0F6FC"/>
                </a:solidFill>
                <a:latin typeface="Aptos"/>
              </a:rPr>
              <a:t>All three reduce hidden assumptions in shared automation.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SEPTEMBER · REST API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Automate runner upgrade planning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572000" cy="132588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29968"/>
            <a:ext cx="4114800" cy="9601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  <a:latin typeface="Cascadia Mono"/>
              </a:rPr>
              <a:t>GET /orgs/{org}/actions/runners/
    deprecations/{version}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3429000"/>
            <a:ext cx="4572000" cy="1874519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630168"/>
            <a:ext cx="4114800" cy="1508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F0F6FC"/>
                </a:solidFill>
                <a:latin typeface="Cascadia Mono"/>
              </a:rPr>
              <a:t>{
  "runner_version": "2.x.y",
  "registration_deprecates_at": "...",
  "runtime_deprecates_at": "..."
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1847088"/>
            <a:ext cx="5303520" cy="320040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Repository, organization, or enterprise scope</a:t>
            </a:r>
          </a:p>
          <a:p>
            <a:pPr>
              <a:spcAft>
                <a:spcPts val="14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Registration cutoff: new runner connections</a:t>
            </a:r>
          </a:p>
          <a:p>
            <a:pPr>
              <a:spcAft>
                <a:spcPts val="14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Runtime cutoff: existing runner execution</a:t>
            </a:r>
          </a:p>
          <a:p>
            <a:pPr>
              <a:spcAft>
                <a:spcPts val="1400"/>
              </a:spcAft>
              <a:defRPr sz="1900">
                <a:solidFill>
                  <a:srgbClr val="F0F6FC"/>
                </a:solidFill>
                <a:latin typeface="Aptos"/>
              </a:defRPr>
            </a:pPr>
            <a:r>
              <a:t>•  Feed dates into inventory alerts and upgrade SLAs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0" y="5257800"/>
            <a:ext cx="5074920" cy="658368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80" y="5449824"/>
            <a:ext cx="45720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3FB950"/>
                </a:solidFill>
                <a:latin typeface="Aptos"/>
              </a:rPr>
              <a:t>Best use: proactive fleet health checks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SEPTEMBER · GITHUB_TOKEN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Read alerts without opening the whole security drawer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74519"/>
            <a:ext cx="4800600" cy="160020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75688"/>
            <a:ext cx="4343400" cy="12344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0">
                <a:solidFill>
                  <a:srgbClr val="F0F6FC"/>
                </a:solidFill>
                <a:latin typeface="Cascadia Mono"/>
              </a:rPr>
              <a:t>permissions:
  contents: read
  vulnerability-alerts: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80760" y="1874519"/>
            <a:ext cx="466344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300" b="1">
                <a:solidFill>
                  <a:srgbClr val="F0F6FC"/>
                </a:solidFill>
                <a:latin typeface="Aptos"/>
              </a:rPr>
              <a:t>Purpose-built access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0" y="2450592"/>
            <a:ext cx="5029200" cy="2377440"/>
          </a:xfrm>
          <a:prstGeom prst="rect">
            <a:avLst/>
          </a:prstGeom>
          <a:noFill/>
        </p:spPr>
        <p:txBody>
          <a:bodyPr wrap="square" lIns="45720" rIns="36576">
            <a:spAutoFit/>
          </a:bodyPr>
          <a:lstStyle/>
          <a:p>
            <a:pPr>
              <a:spcAft>
                <a:spcPts val="12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•  Supports read or none</a:t>
            </a:r>
          </a:p>
          <a:p>
            <a:pPr>
              <a:spcAft>
                <a:spcPts val="12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•  Works with the workflow-scoped GITHUB_TOKEN</a:t>
            </a:r>
          </a:p>
          <a:p>
            <a:pPr>
              <a:spcAft>
                <a:spcPts val="12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•  Avoids a PAT and reduces permission surface</a:t>
            </a:r>
          </a:p>
          <a:p>
            <a:pPr>
              <a:spcAft>
                <a:spcPts val="1200"/>
              </a:spcAft>
              <a:defRPr sz="1800">
                <a:solidFill>
                  <a:srgbClr val="F0F6FC"/>
                </a:solidFill>
                <a:latin typeface="Aptos"/>
              </a:defRPr>
            </a:pPr>
            <a:r>
              <a:t>•  Can be set at workflow or job scope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977639"/>
            <a:ext cx="4800600" cy="105156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187952"/>
            <a:ext cx="14630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BC8CFF"/>
                </a:solidFill>
                <a:latin typeface="Aptos"/>
              </a:rPr>
              <a:t>Default closed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23160" y="4187952"/>
            <a:ext cx="2834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Declare only where needed.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504688"/>
            <a:ext cx="9875520" cy="320040"/>
          </a:xfrm>
          <a:prstGeom prst="rect">
            <a:avLst/>
          </a:prstGeom>
          <a:noFill/>
        </p:spPr>
        <p:txBody>
          <a:bodyPr wrap="none" lIns="36576" rIns="36576">
            <a:spAutoFit/>
          </a:bodyPr>
          <a:lstStyle/>
          <a:p>
            <a:pPr algn="ctr"/>
            <a:r>
              <a:rPr sz="1900" b="1">
                <a:solidFill>
                  <a:srgbClr val="58A6FF"/>
                </a:solidFill>
                <a:latin typeface="Aptos"/>
              </a:rPr>
              <a:t>Pattern: </a:t>
            </a:r>
            <a:r>
              <a:rPr sz="1900" b="0">
                <a:solidFill>
                  <a:srgbClr val="F0F6FC"/>
                </a:solidFill>
                <a:latin typeface="Aptos"/>
              </a:rPr>
              <a:t>workflow defaults + job-level elevation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SEPTEMBER · JOB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Reusable workflows can identify their own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83080"/>
            <a:ext cx="5074920" cy="10058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65960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scadia Mono"/>
              </a:rPr>
              <a:t>job.workflow_ref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59152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8B949E"/>
                </a:solidFill>
                <a:latin typeface="Aptos"/>
              </a:rPr>
              <a:t>full workflow ref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59" y="1783080"/>
            <a:ext cx="5074920" cy="10058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59" y="1965960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scadia Mono"/>
              </a:rPr>
              <a:t>job.workflow_sha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59" y="2359152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8B949E"/>
                </a:solidFill>
                <a:latin typeface="Aptos"/>
              </a:rPr>
              <a:t>defining commit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108960"/>
            <a:ext cx="5074920" cy="10058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scadia Mono"/>
              </a:rPr>
              <a:t>job.workflow_repository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685032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8B949E"/>
                </a:solidFill>
                <a:latin typeface="Aptos"/>
              </a:rPr>
              <a:t>owner/repo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59" y="3108960"/>
            <a:ext cx="5074920" cy="10058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59" y="3291840"/>
            <a:ext cx="32918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1">
                <a:solidFill>
                  <a:srgbClr val="58A6FF"/>
                </a:solidFill>
                <a:latin typeface="Cascadia Mono"/>
              </a:rPr>
              <a:t>job.workflow_file_path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3685032"/>
            <a:ext cx="438912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8B949E"/>
                </a:solidFill>
                <a:latin typeface="Aptos"/>
              </a:rPr>
              <a:t>repo-relative path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634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8B949E"/>
                </a:solidFill>
                <a:latin typeface="Aptos"/>
              </a:rPr>
              <a:t>Caller identity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466344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scadia Mono"/>
              </a:rPr>
              <a:t>github.workflow_ref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23560" y="4617720"/>
            <a:ext cx="640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300" b="1">
                <a:solidFill>
                  <a:srgbClr val="BC8CFF"/>
                </a:solidFill>
                <a:latin typeface="Aptos"/>
              </a:rPr>
              <a:t>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66344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scadia Mono"/>
              </a:rPr>
              <a:t>job.workflow_ref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0" y="4663440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8B949E"/>
                </a:solidFill>
                <a:latin typeface="Aptos"/>
              </a:rPr>
              <a:t>Defining identity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5669280"/>
            <a:ext cx="103327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800" b="1">
                <a:solidFill>
                  <a:srgbClr val="F0F6FC"/>
                </a:solidFill>
                <a:latin typeface="Aptos"/>
              </a:rPr>
              <a:t>Use cases: provenance · policy · diagnostics · version reporting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Demo setup: one dispatch, three visible results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83464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200" b="1">
                <a:solidFill>
                  <a:srgbClr val="F0F6FC"/>
                </a:solidFill>
                <a:latin typeface="Aptos"/>
              </a:rPr>
              <a:t>Office hours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05840" y="2514600"/>
            <a:ext cx="2834640" cy="91440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2807208"/>
            <a:ext cx="283464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58A6FF"/>
                </a:solidFill>
                <a:latin typeface="Cascadia Mono"/>
              </a:rPr>
              <a:t>workflow_dispatch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9080" y="2706624"/>
            <a:ext cx="6400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000" b="1">
                <a:solidFill>
                  <a:srgbClr val="BC8CFF"/>
                </a:solidFill>
                <a:latin typeface="Aptos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1783080"/>
            <a:ext cx="2743200" cy="960120"/>
          </a:xfrm>
          <a:prstGeom prst="roundRect">
            <a:avLst/>
          </a:prstGeom>
          <a:solidFill>
            <a:srgbClr val="161B22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92040" y="2112264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Reusable identity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92040" y="3063240"/>
            <a:ext cx="2743200" cy="960120"/>
          </a:xfrm>
          <a:prstGeom prst="roundRect">
            <a:avLst/>
          </a:prstGeom>
          <a:solidFill>
            <a:srgbClr val="161B22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92040" y="3392424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Alert count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892040" y="4343400"/>
            <a:ext cx="2743200" cy="96012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4672584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600" b="1">
                <a:solidFill>
                  <a:srgbClr val="F0F6FC"/>
                </a:solidFill>
                <a:latin typeface="Aptos"/>
              </a:rPr>
              <a:t>CodeQL attribution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2706624"/>
            <a:ext cx="640080" cy="4114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000" b="1">
                <a:solidFill>
                  <a:srgbClr val="BC8CFF"/>
                </a:solidFill>
                <a:latin typeface="Aptos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32520" y="2514600"/>
            <a:ext cx="2560320" cy="91440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32520" y="2807208"/>
            <a:ext cx="2560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F0F6FC"/>
                </a:solidFill>
                <a:latin typeface="Aptos"/>
              </a:rPr>
              <a:t>Job summaries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559552"/>
            <a:ext cx="941832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D29922"/>
                </a:solidFill>
                <a:latin typeface="Aptos"/>
              </a:rPr>
              <a:t>Fallback: keep one successful run open before the session.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LIVE DEMO · 4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Demo 1: caller versus defining workflow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892040" cy="155448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29968"/>
            <a:ext cx="4434840" cy="1188719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0F6FC"/>
                </a:solidFill>
                <a:latin typeface="Cascadia Mono"/>
              </a:rPr>
              <a:t>jobs:
  reusable-identity:
    uses: ./.github/workflows/reusable-source.yml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828800"/>
            <a:ext cx="5303520" cy="2377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029968"/>
            <a:ext cx="4846320" cy="2011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0F6FC"/>
                </a:solidFill>
                <a:latin typeface="Cascadia Mono"/>
              </a:rPr>
              <a:t>github.workflow_ref
job.workflow_ref
job.workflow_sha
job.workflow_repository
job.workflow_file_path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886200"/>
            <a:ext cx="4892040" cy="118872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4133087"/>
            <a:ext cx="11887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1">
                <a:solidFill>
                  <a:srgbClr val="3FB950"/>
                </a:solidFill>
                <a:latin typeface="Aptos"/>
              </a:rPr>
              <a:t>Observe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4133087"/>
            <a:ext cx="32004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The two workflow refs diverge.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80760" y="4617720"/>
            <a:ext cx="5303520" cy="68580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4818888"/>
            <a:ext cx="4846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700" b="1">
                <a:solidFill>
                  <a:srgbClr val="58A6FF"/>
                </a:solidFill>
                <a:latin typeface="Aptos"/>
              </a:rPr>
              <a:t>Land the point: provenance is now native.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LIVE DEMO · 3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Demo 2: least privilege in three lines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4389120" cy="15087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029968"/>
            <a:ext cx="3931920" cy="11430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0">
                <a:solidFill>
                  <a:srgbClr val="F0F6FC"/>
                </a:solidFill>
                <a:latin typeface="Cascadia Mono"/>
              </a:rPr>
              <a:t>permissions:
  contents: read
  vulnerability-alerts: read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23560" y="1828800"/>
            <a:ext cx="5623560" cy="256032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0" y="2029968"/>
            <a:ext cx="5166360" cy="21945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F0F6FC"/>
                </a:solidFill>
                <a:latin typeface="Cascadia Mono"/>
              </a:rPr>
              <a:t>env:
  GH_TOKEN: ${{ github.token }}
run: |
  gh api "repos/$GITHUB_REPOSITORY/
    dependabot/alerts?state=open"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4389120" cy="1051560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4096512"/>
            <a:ext cx="109728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3FB950"/>
                </a:solidFill>
                <a:latin typeface="Aptos"/>
              </a:rPr>
              <a:t>No PAT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94560" y="4096512"/>
            <a:ext cx="256032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Aptos"/>
              </a:rPr>
              <a:t>No broad token scope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486400"/>
            <a:ext cx="8686800" cy="3840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2000" b="1">
                <a:solidFill>
                  <a:srgbClr val="F0F6FC"/>
                </a:solidFill>
                <a:latin typeface="Aptos"/>
              </a:rPr>
              <a:t>Expected output: “Open Dependabot alerts: N”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LIVE DEMO · 3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Demo 3: separate CodeQL workload attribution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828800"/>
            <a:ext cx="4937760" cy="1234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29968"/>
            <a:ext cx="448056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scadia Mono"/>
              </a:rPr>
              <a:t>gh api "repos/$GITHUB_REPOSITORY/
  actions/runs?actor=github-code-quality"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1828800"/>
            <a:ext cx="5303520" cy="123444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2029968"/>
            <a:ext cx="4846320" cy="8686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600" b="0">
                <a:solidFill>
                  <a:srgbClr val="F0F6FC"/>
                </a:solidFill>
                <a:latin typeface="Cascadia Mono"/>
              </a:rPr>
              <a:t>gh api "repos/$GITHUB_REPOSITORY/
  actions/runs?actor=github-advanced-security"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3429000"/>
            <a:ext cx="4937760" cy="1371600"/>
          </a:xfrm>
          <a:prstGeom prst="roundRect">
            <a:avLst/>
          </a:prstGeom>
          <a:solidFill>
            <a:srgbClr val="161B22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24128" y="3675887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58A6FF"/>
                </a:solidFill>
                <a:latin typeface="Aptos"/>
              </a:rPr>
              <a:t>Code Quality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4050791"/>
            <a:ext cx="41148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0F6FC"/>
                </a:solidFill>
                <a:latin typeface="Cascadia Mono"/>
              </a:rPr>
              <a:t>actor: github-code-quality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" y="4379976"/>
            <a:ext cx="438912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F0F6FC"/>
                </a:solidFill>
                <a:latin typeface="Cascadia Mono"/>
              </a:rPr>
              <a:t>path: dynamic/github-code-quality/codeql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080760" y="3429000"/>
            <a:ext cx="5303520" cy="1371600"/>
          </a:xfrm>
          <a:prstGeom prst="roundRect">
            <a:avLst/>
          </a:prstGeom>
          <a:solidFill>
            <a:srgbClr val="161B22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3675887"/>
            <a:ext cx="1828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BC8CFF"/>
                </a:solidFill>
                <a:latin typeface="Aptos"/>
              </a:rPr>
              <a:t>Code scanning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7648" y="4050791"/>
            <a:ext cx="438912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F0F6FC"/>
                </a:solidFill>
                <a:latin typeface="Cascadia Mono"/>
              </a:rPr>
              <a:t>actor: github-advanced-security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379976"/>
            <a:ext cx="4572000" cy="24688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0">
                <a:solidFill>
                  <a:srgbClr val="F0F6FC"/>
                </a:solidFill>
                <a:latin typeface="Cascadia Mono"/>
              </a:rPr>
              <a:t>path: dynamic/github-code-scanning/codeql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532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900" b="1">
                <a:solidFill>
                  <a:srgbClr val="3FB950"/>
                </a:solidFill>
                <a:latin typeface="Aptos"/>
              </a:rPr>
              <a:t>Land the point: quality and security are now independently reportable.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FINAL FIVE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Five performance moves with outsized returns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530352" cy="530352"/>
          </a:xfrm>
          <a:prstGeom prst="round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82880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36192" y="169164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Cancel stale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86200" y="171907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Use concurrency groups with cancel-in-progress for PRs.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2569464"/>
            <a:ext cx="530352" cy="530352"/>
          </a:xfrm>
          <a:prstGeom prst="round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9748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36192" y="256032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Cache with intent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86200" y="258775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Key on lockfiles; restore broadly; measure hit rate.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438144"/>
            <a:ext cx="530352" cy="530352"/>
          </a:xfrm>
          <a:prstGeom prst="round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36192" y="342900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Filter early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86200" y="345643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Use paths, branches, and job if conditions before runners start.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306824"/>
            <a:ext cx="530352" cy="530352"/>
          </a:xfrm>
          <a:prstGeom prst="roundRect">
            <a:avLst/>
          </a:prstGeom>
          <a:solidFill>
            <a:srgbClr val="D29922"/>
          </a:solidFill>
          <a:ln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43484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429768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Shrink the matrix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86200" y="432511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Test representative combinations first; expand on main or nightly.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77240" y="5175504"/>
            <a:ext cx="530352" cy="530352"/>
          </a:xfrm>
          <a:prstGeom prst="roundRect">
            <a:avLst/>
          </a:prstGeom>
          <a:solidFill>
            <a:srgbClr val="F85149"/>
          </a:solidFill>
          <a:ln>
            <a:solidFill>
              <a:srgbClr val="F851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303520"/>
            <a:ext cx="530352" cy="21945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0D1117"/>
                </a:solidFill>
                <a:latin typeface="Apto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5166360"/>
            <a:ext cx="256032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1">
                <a:solidFill>
                  <a:srgbClr val="F0F6FC"/>
                </a:solidFill>
                <a:latin typeface="Aptos"/>
              </a:rPr>
              <a:t>Measure the queue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886200" y="5193792"/>
            <a:ext cx="7223760" cy="292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8B949E"/>
                </a:solidFill>
                <a:latin typeface="Aptos"/>
              </a:rPr>
              <a:t>Separate queue time from execution time before changing code.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77240" y="6062472"/>
            <a:ext cx="10561320" cy="384048"/>
          </a:xfrm>
          <a:prstGeom prst="roundRect">
            <a:avLst/>
          </a:prstGeom>
          <a:solidFill>
            <a:srgbClr val="21262D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6153912"/>
            <a:ext cx="1056132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1">
                <a:solidFill>
                  <a:srgbClr val="F0F6FC"/>
                </a:solidFill>
                <a:latin typeface="Aptos"/>
              </a:rPr>
              <a:t>Optimize total feedback time—not just step duration.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CLOSE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Three actions for next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828800"/>
            <a:ext cx="3429000" cy="31089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31520" y="1828800"/>
            <a:ext cx="64008" cy="3108960"/>
          </a:xfrm>
          <a:prstGeom prst="rect">
            <a:avLst/>
          </a:prstGeom>
          <a:solidFill>
            <a:srgbClr val="3FB950"/>
          </a:solidFill>
          <a:ln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87552" y="205740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3FB950"/>
                </a:solidFill>
                <a:latin typeface="Aptos"/>
              </a:rPr>
              <a:t>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87552" y="242316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Arm64 + VS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127248"/>
            <a:ext cx="2916936" cy="1591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Run architecture-specific builds on the explicit image before automatic migration.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1828800"/>
            <a:ext cx="3429000" cy="31089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89120" y="1828800"/>
            <a:ext cx="64008" cy="3108960"/>
          </a:xfrm>
          <a:prstGeom prst="rect">
            <a:avLst/>
          </a:prstGeom>
          <a:solidFill>
            <a:srgbClr val="D29922"/>
          </a:solidFill>
          <a:ln>
            <a:solidFill>
              <a:srgbClr val="D299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2" y="205740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D29922"/>
                </a:solidFill>
                <a:latin typeface="Aptos"/>
              </a:rPr>
              <a:t>REVIEW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2" y="242316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Retention + reports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3127248"/>
            <a:ext cx="2916936" cy="1591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Confirm the retention window and update Code Quality path or actor filters.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429000" cy="3108960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64008" cy="3108960"/>
          </a:xfrm>
          <a:prstGeom prst="rect">
            <a:avLst/>
          </a:prstGeom>
          <a:solidFill>
            <a:srgbClr val="58A6FF"/>
          </a:solidFill>
          <a:ln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2057400"/>
            <a:ext cx="2971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58A6FF"/>
                </a:solidFill>
                <a:latin typeface="Aptos"/>
              </a:rPr>
              <a:t>ADOPT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2423160"/>
            <a:ext cx="2916936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0F6FC"/>
                </a:solidFill>
                <a:latin typeface="Aptos"/>
              </a:rPr>
              <a:t>Identity + permission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2752" y="3127248"/>
            <a:ext cx="2916936" cy="1591056"/>
          </a:xfrm>
          <a:prstGeom prst="rect">
            <a:avLst/>
          </a:prstGeom>
          <a:noFill/>
        </p:spPr>
        <p:txBody>
          <a:bodyPr wrap="square" lIns="18288" rIns="18288" tIns="18288" bIns="18288" anchor="t">
            <a:spAutoFit/>
          </a:bodyPr>
          <a:lstStyle/>
          <a:p>
            <a:pPr algn="l"/>
            <a:r>
              <a:rPr sz="1300" b="0">
                <a:solidFill>
                  <a:srgbClr val="8B949E"/>
                </a:solidFill>
                <a:latin typeface="Aptos"/>
              </a:rPr>
              <a:t>Use native reusable-workflow provenance and job-scoped alert access.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532120"/>
            <a:ext cx="10744200" cy="56692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3400" b="1">
                <a:solidFill>
                  <a:srgbClr val="BC8CFF"/>
                </a:solidFill>
                <a:latin typeface="Aptos"/>
              </a:rPr>
              <a:t>Q&amp;A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6144768"/>
            <a:ext cx="10744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300" b="0">
                <a:solidFill>
                  <a:srgbClr val="8B949E"/>
                </a:solidFill>
                <a:latin typeface="Cascadia Mono"/>
              </a:rPr>
              <a:t>github.blog/changelog/label/actions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92608"/>
            <a:ext cx="64008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100" b="1">
                <a:solidFill>
                  <a:srgbClr val="58A6FF"/>
                </a:solidFill>
                <a:latin typeface="Aptos"/>
              </a:rPr>
              <a:t>GITHUB CHANGELOG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67512"/>
            <a:ext cx="10789920" cy="6583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F0F6FC"/>
                </a:solidFill>
                <a:latin typeface="Aptos"/>
              </a:rPr>
              <a:t>Feature references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914400" cy="45720"/>
          </a:xfrm>
          <a:prstGeom prst="rect">
            <a:avLst/>
          </a:prstGeom>
          <a:solidFill>
            <a:srgbClr val="BC8CFF"/>
          </a:solidFill>
          <a:ln>
            <a:solidFill>
              <a:srgbClr val="BC8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109960" y="310896"/>
            <a:ext cx="457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1100" b="1">
                <a:solidFill>
                  <a:srgbClr val="8B949E"/>
                </a:solidFill>
                <a:latin typeface="Aptos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64208"/>
            <a:ext cx="10744200" cy="612648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175564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0F6FC"/>
                </a:solidFill>
                <a:latin typeface="Aptos"/>
              </a:rPr>
              <a:t>Windows 11 Arm64 with Visual Studio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74920" y="1746504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u="sng">
                <a:solidFill>
                  <a:srgbClr val="58A6FF"/>
                </a:solidFill>
                <a:latin typeface="Cascadia Mono"/>
                <a:hlinkClick r:id="rId2"/>
              </a:rPr>
              <a:t>https://github.blog/changelog/2026-08-20-windows-11-arm64-vs2026-image-generally-available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414016"/>
            <a:ext cx="10744200" cy="612648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05456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0F6FC"/>
                </a:solidFill>
                <a:latin typeface="Aptos"/>
              </a:rPr>
              <a:t>Separate GitHub Actions path for GitHub Code Quality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74920" y="2496312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u="sng">
                <a:solidFill>
                  <a:srgbClr val="58A6FF"/>
                </a:solidFill>
                <a:latin typeface="Cascadia Mono"/>
                <a:hlinkClick r:id="rId3"/>
              </a:rPr>
              <a:t>https://github.blog/changelog/2026-08-20-separate-github-actions-path-for-github-code-quality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163824"/>
            <a:ext cx="10744200" cy="612648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255264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0F6FC"/>
                </a:solidFill>
                <a:latin typeface="Aptos"/>
              </a:rPr>
              <a:t>Actions retention for checks, workflow runs, and statuses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74920" y="3246120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u="sng">
                <a:solidFill>
                  <a:srgbClr val="58A6FF"/>
                </a:solidFill>
                <a:latin typeface="Cascadia Mono"/>
                <a:hlinkClick r:id="rId4"/>
              </a:rPr>
              <a:t>https://github.blog/changelog/2026-08-27-actions-retention-will-cover-checks-workflow-runs-and-statuses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913632"/>
            <a:ext cx="10744200" cy="612648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4005072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0F6FC"/>
                </a:solidFill>
                <a:latin typeface="Aptos"/>
              </a:rPr>
              <a:t>REST API for runner version deprecations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3995928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u="sng">
                <a:solidFill>
                  <a:srgbClr val="58A6FF"/>
                </a:solidFill>
                <a:latin typeface="Cascadia Mono"/>
                <a:hlinkClick r:id="rId5"/>
              </a:rPr>
              <a:t>https://github.blog/changelog/2026-09-03-github-actions-early-september-2026-updates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663440"/>
            <a:ext cx="10744200" cy="612648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0120" y="4754879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0F6FC"/>
                </a:solidFill>
                <a:latin typeface="Aptos"/>
              </a:rPr>
              <a:t>vulnerability-alerts permission for GITHUB_TOKEN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4745736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u="sng">
                <a:solidFill>
                  <a:srgbClr val="58A6FF"/>
                </a:solidFill>
                <a:latin typeface="Cascadia Mono"/>
                <a:hlinkClick r:id="rId5"/>
              </a:rPr>
              <a:t>https://github.blog/changelog/2026-09-03-github-actions-early-september-2026-updates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5413248"/>
            <a:ext cx="10744200" cy="612648"/>
          </a:xfrm>
          <a:prstGeom prst="roundRect">
            <a:avLst/>
          </a:prstGeom>
          <a:solidFill>
            <a:srgbClr val="161B22"/>
          </a:solidFill>
          <a:ln>
            <a:solidFill>
              <a:srgbClr val="2126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504688"/>
            <a:ext cx="42062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1">
                <a:solidFill>
                  <a:srgbClr val="F0F6FC"/>
                </a:solidFill>
                <a:latin typeface="Aptos"/>
              </a:rPr>
              <a:t>Reusable workflow job context properties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74920" y="5495544"/>
            <a:ext cx="6080760" cy="3474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 u="sng">
                <a:solidFill>
                  <a:srgbClr val="58A6FF"/>
                </a:solidFill>
                <a:latin typeface="Cascadia Mono"/>
                <a:hlinkClick r:id="rId5"/>
              </a:rPr>
              <a:t>https://github.blog/changelog/2026-09-03-github-actions-early-september-2026-updates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236208"/>
            <a:ext cx="1060704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ctr"/>
            <a:r>
              <a:rPr sz="1100" b="0">
                <a:solidFill>
                  <a:srgbClr val="8B949E"/>
                </a:solidFill>
                <a:latin typeface="Aptos"/>
              </a:rPr>
              <a:t>Links are clickable in Slide Show and Normal view.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519672"/>
            <a:ext cx="5852160" cy="1828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900" b="0">
                <a:solidFill>
                  <a:srgbClr val="8B949E"/>
                </a:solidFill>
                <a:latin typeface="Aptos"/>
              </a:rPr>
              <a:t>GitHub Actions Office Hour · Sep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Actions Office Hour — August and September 2026</dc:title>
  <dc:subject>GitHub Actions product updates, demos, and performance tips</dc:subject>
  <dc:creator>GitHub Office Hours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