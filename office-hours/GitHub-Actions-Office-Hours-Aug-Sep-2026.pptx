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5" autoAdjust="0"/>
    <p:restoredTop sz="60350" autoAdjust="0"/>
  </p:normalViewPr>
  <p:slideViewPr>
    <p:cSldViewPr snapToGrid="0" snapToObjects="1">
      <p:cViewPr varScale="1">
        <p:scale>
          <a:sx n="84" d="100"/>
          <a:sy n="84" d="100"/>
        </p:scale>
        <p:origin x="4554" y="51"/>
      </p:cViewPr>
      <p:guideLst>
        <p:guide orient="horz" pos="2160"/>
        <p:guide pos="2880"/>
      </p:guideLst>
    </p:cSldViewPr>
  </p:slideViewPr>
  <p:notesTextViewPr>
    <p:cViewPr>
      <p:scale>
        <a:sx n="100" d="100"/>
        <a:sy n="100" d="100"/>
      </p:scale>
      <p:origin x="0" y="-99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6918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pPr>
              <a:spcAft>
                <a:spcPts val="800"/>
              </a:spcAft>
              <a:defRPr sz="2000" b="1">
                <a:solidFill>
                  <a:srgbClr val="1F4E79"/>
                </a:solidFill>
                <a:latin typeface="Aptos"/>
              </a:defRPr>
            </a:pPr>
            <a:r>
              <a:t>PRESENTER NOTES</a:t>
            </a:r>
          </a:p>
          <a:p>
            <a:pPr>
              <a:spcAft>
                <a:spcPts val="1200"/>
              </a:spcAft>
              <a:defRPr sz="1600" b="1">
                <a:solidFill>
                  <a:srgbClr val="2E7D32"/>
                </a:solidFill>
                <a:latin typeface="Aptos"/>
              </a:defRPr>
            </a:pPr>
            <a:r>
              <a:t>Timing: 1 minute</a:t>
            </a:r>
          </a:p>
          <a:p>
            <a:pPr>
              <a:spcAft>
                <a:spcPts val="500"/>
              </a:spcAft>
              <a:defRPr sz="1600" b="1">
                <a:solidFill>
                  <a:srgbClr val="1F4E79"/>
                </a:solidFill>
                <a:latin typeface="Aptos"/>
              </a:defRPr>
            </a:pPr>
            <a:r>
              <a:t>Feature summary</a:t>
            </a:r>
          </a:p>
          <a:p>
            <a:pPr>
              <a:lnSpc>
                <a:spcPct val="110000"/>
              </a:lnSpc>
              <a:spcAft>
                <a:spcPts val="1200"/>
              </a:spcAft>
              <a:defRPr sz="1500">
                <a:solidFill>
                  <a:srgbClr val="202020"/>
                </a:solidFill>
                <a:latin typeface="Aptos"/>
              </a:defRPr>
            </a:pPr>
            <a:r>
              <a:t>This session covers six GitHub Actions updates from August and early September 2026, three practical demonstrations, and five workflow performance techniques.</a:t>
            </a:r>
          </a:p>
          <a:p>
            <a:pPr>
              <a:spcAft>
                <a:spcPts val="500"/>
              </a:spcAft>
              <a:defRPr sz="1600" b="1">
                <a:solidFill>
                  <a:srgbClr val="1F4E79"/>
                </a:solidFill>
                <a:latin typeface="Aptos"/>
              </a:defRPr>
            </a:pPr>
            <a:r>
              <a:t>Presenter cues</a:t>
            </a:r>
          </a:p>
          <a:p>
            <a:pPr>
              <a:lnSpc>
                <a:spcPct val="110000"/>
              </a:lnSpc>
              <a:spcAft>
                <a:spcPts val="700"/>
              </a:spcAft>
              <a:defRPr sz="1500">
                <a:solidFill>
                  <a:srgbClr val="202020"/>
                </a:solidFill>
                <a:latin typeface="Aptos"/>
              </a:defRPr>
            </a:pPr>
            <a:r>
              <a:t>• Welcome everyone.</a:t>
            </a:r>
          </a:p>
          <a:p>
            <a:pPr>
              <a:lnSpc>
                <a:spcPct val="110000"/>
              </a:lnSpc>
              <a:spcAft>
                <a:spcPts val="700"/>
              </a:spcAft>
              <a:defRPr sz="1500">
                <a:solidFill>
                  <a:srgbClr val="202020"/>
                </a:solidFill>
                <a:latin typeface="Aptos"/>
              </a:defRPr>
            </a:pPr>
            <a:r>
              <a:t>• Set the promise: practical changes, three small demos, and actions attendees can take this week.</a:t>
            </a:r>
          </a:p>
          <a:p>
            <a:pPr>
              <a:lnSpc>
                <a:spcPct val="110000"/>
              </a:lnSpc>
              <a:spcAft>
                <a:spcPts val="700"/>
              </a:spcAft>
              <a:defRPr sz="1500">
                <a:solidFill>
                  <a:srgbClr val="202020"/>
                </a:solidFill>
                <a:latin typeface="Aptos"/>
              </a:defRPr>
            </a:pPr>
            <a:r>
              <a:t>• The Q&amp;A clock starts after the 45-minute presentation.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pPr>
              <a:spcAft>
                <a:spcPts val="800"/>
              </a:spcAft>
              <a:defRPr sz="2000" b="1">
                <a:solidFill>
                  <a:srgbClr val="1F4E79"/>
                </a:solidFill>
                <a:latin typeface="Aptos"/>
              </a:defRPr>
            </a:pPr>
            <a:r>
              <a:t>PRESENTER NOTES</a:t>
            </a:r>
          </a:p>
          <a:p>
            <a:pPr>
              <a:spcAft>
                <a:spcPts val="1200"/>
              </a:spcAft>
              <a:defRPr sz="1600" b="1">
                <a:solidFill>
                  <a:srgbClr val="2E7D32"/>
                </a:solidFill>
                <a:latin typeface="Aptos"/>
              </a:defRPr>
            </a:pPr>
            <a:r>
              <a:t>Timing: 2 minutes</a:t>
            </a:r>
          </a:p>
          <a:p>
            <a:pPr>
              <a:spcAft>
                <a:spcPts val="500"/>
              </a:spcAft>
              <a:defRPr sz="1600" b="1">
                <a:solidFill>
                  <a:srgbClr val="1F4E79"/>
                </a:solidFill>
                <a:latin typeface="Aptos"/>
              </a:defRPr>
            </a:pPr>
            <a:r>
              <a:t>Feature summary</a:t>
            </a:r>
          </a:p>
          <a:p>
            <a:pPr>
              <a:lnSpc>
                <a:spcPct val="110000"/>
              </a:lnSpc>
              <a:spcAft>
                <a:spcPts val="1200"/>
              </a:spcAft>
              <a:defRPr sz="1500">
                <a:solidFill>
                  <a:srgbClr val="202020"/>
                </a:solidFill>
                <a:latin typeface="Aptos"/>
              </a:defRPr>
            </a:pPr>
            <a:r>
              <a:t>The 60-minute office hour reserves 45 minutes for product updates, demonstrations, and performance guidance, followed by 15 minutes for audience questions.</a:t>
            </a:r>
          </a:p>
          <a:p>
            <a:pPr>
              <a:spcAft>
                <a:spcPts val="500"/>
              </a:spcAft>
              <a:defRPr sz="1600" b="1">
                <a:solidFill>
                  <a:srgbClr val="1F4E79"/>
                </a:solidFill>
                <a:latin typeface="Aptos"/>
              </a:defRPr>
            </a:pPr>
            <a:r>
              <a:t>Presenter cues</a:t>
            </a:r>
          </a:p>
          <a:p>
            <a:pPr>
              <a:lnSpc>
                <a:spcPct val="110000"/>
              </a:lnSpc>
              <a:spcAft>
                <a:spcPts val="700"/>
              </a:spcAft>
              <a:defRPr sz="1500">
                <a:solidFill>
                  <a:srgbClr val="202020"/>
                </a:solidFill>
                <a:latin typeface="Aptos"/>
              </a:defRPr>
            </a:pPr>
            <a:r>
              <a:t>• Describe the cadence.</a:t>
            </a:r>
          </a:p>
          <a:p>
            <a:pPr>
              <a:lnSpc>
                <a:spcPct val="110000"/>
              </a:lnSpc>
              <a:spcAft>
                <a:spcPts val="700"/>
              </a:spcAft>
              <a:defRPr sz="1500">
                <a:solidFill>
                  <a:srgbClr val="202020"/>
                </a:solidFill>
                <a:latin typeface="Aptos"/>
              </a:defRPr>
            </a:pPr>
            <a:r>
              <a:t>• Tell attendees the demos are intentionally short and reproducible.</a:t>
            </a:r>
          </a:p>
          <a:p>
            <a:pPr>
              <a:lnSpc>
                <a:spcPct val="110000"/>
              </a:lnSpc>
              <a:spcAft>
                <a:spcPts val="700"/>
              </a:spcAft>
              <a:defRPr sz="1500">
                <a:solidFill>
                  <a:srgbClr val="202020"/>
                </a:solidFill>
                <a:latin typeface="Aptos"/>
              </a:defRPr>
            </a:pPr>
            <a:r>
              <a:t>• Invite them to save detailed environment-specific questions for Q&amp;A.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pPr>
              <a:spcAft>
                <a:spcPts val="800"/>
              </a:spcAft>
              <a:defRPr sz="2000" b="1">
                <a:solidFill>
                  <a:srgbClr val="1F4E79"/>
                </a:solidFill>
                <a:latin typeface="Aptos"/>
              </a:defRPr>
            </a:pPr>
            <a:r>
              <a:t>PRESENTER NOTES</a:t>
            </a:r>
          </a:p>
          <a:p>
            <a:pPr>
              <a:spcAft>
                <a:spcPts val="1200"/>
              </a:spcAft>
              <a:defRPr sz="1600" b="1">
                <a:solidFill>
                  <a:srgbClr val="2E7D32"/>
                </a:solidFill>
                <a:latin typeface="Aptos"/>
              </a:defRPr>
            </a:pPr>
            <a:r>
              <a:t>Timing: 2 minutes</a:t>
            </a:r>
          </a:p>
          <a:p>
            <a:pPr>
              <a:spcAft>
                <a:spcPts val="500"/>
              </a:spcAft>
              <a:defRPr sz="1600" b="1">
                <a:solidFill>
                  <a:srgbClr val="1F4E79"/>
                </a:solidFill>
                <a:latin typeface="Aptos"/>
              </a:defRPr>
            </a:pPr>
            <a:r>
              <a:t>Feature summary</a:t>
            </a:r>
          </a:p>
          <a:p>
            <a:pPr>
              <a:lnSpc>
                <a:spcPct val="110000"/>
              </a:lnSpc>
              <a:spcAft>
                <a:spcPts val="1200"/>
              </a:spcAft>
              <a:defRPr sz="1500">
                <a:solidFill>
                  <a:srgbClr val="202020"/>
                </a:solidFill>
                <a:latin typeface="Aptos"/>
              </a:defRPr>
            </a:pPr>
            <a:r>
              <a:t>The releases improve three operational qualities: workflow provenance, least-privilege access, and predictable lifecycle management for runners and workflow data.</a:t>
            </a:r>
          </a:p>
          <a:p>
            <a:pPr>
              <a:spcAft>
                <a:spcPts val="500"/>
              </a:spcAft>
              <a:defRPr sz="1600" b="1">
                <a:solidFill>
                  <a:srgbClr val="1F4E79"/>
                </a:solidFill>
                <a:latin typeface="Aptos"/>
              </a:defRPr>
            </a:pPr>
            <a:r>
              <a:t>Presenter cues</a:t>
            </a:r>
          </a:p>
          <a:p>
            <a:pPr>
              <a:lnSpc>
                <a:spcPct val="110000"/>
              </a:lnSpc>
              <a:spcAft>
                <a:spcPts val="700"/>
              </a:spcAft>
              <a:defRPr sz="1500">
                <a:solidFill>
                  <a:srgbClr val="202020"/>
                </a:solidFill>
                <a:latin typeface="Aptos"/>
              </a:defRPr>
            </a:pPr>
            <a:r>
              <a:t>• Frame all six announcements as an operating-model improvement rather than a feature dump.</a:t>
            </a:r>
          </a:p>
          <a:p>
            <a:pPr>
              <a:lnSpc>
                <a:spcPct val="110000"/>
              </a:lnSpc>
              <a:spcAft>
                <a:spcPts val="700"/>
              </a:spcAft>
              <a:defRPr sz="1500">
                <a:solidFill>
                  <a:srgbClr val="202020"/>
                </a:solidFill>
                <a:latin typeface="Aptos"/>
              </a:defRPr>
            </a:pPr>
            <a:r>
              <a:t>• The common thread is explicit provenance, narrower access, and predictable lifecycle management.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pPr>
              <a:spcAft>
                <a:spcPts val="800"/>
              </a:spcAft>
              <a:defRPr sz="2000" b="1">
                <a:solidFill>
                  <a:srgbClr val="1F4E79"/>
                </a:solidFill>
                <a:latin typeface="Aptos"/>
              </a:defRPr>
            </a:pPr>
            <a:r>
              <a:t>PRESENTER NOTES</a:t>
            </a:r>
          </a:p>
          <a:p>
            <a:pPr>
              <a:spcAft>
                <a:spcPts val="1200"/>
              </a:spcAft>
              <a:defRPr sz="1600" b="1">
                <a:solidFill>
                  <a:srgbClr val="2E7D32"/>
                </a:solidFill>
                <a:latin typeface="Aptos"/>
              </a:defRPr>
            </a:pPr>
            <a:r>
              <a:t>Timing: 2 minutes</a:t>
            </a:r>
          </a:p>
          <a:p>
            <a:pPr>
              <a:spcAft>
                <a:spcPts val="500"/>
              </a:spcAft>
              <a:defRPr sz="1600" b="1">
                <a:solidFill>
                  <a:srgbClr val="1F4E79"/>
                </a:solidFill>
                <a:latin typeface="Aptos"/>
              </a:defRPr>
            </a:pPr>
            <a:r>
              <a:t>Feature summary</a:t>
            </a:r>
          </a:p>
          <a:p>
            <a:pPr>
              <a:lnSpc>
                <a:spcPct val="110000"/>
              </a:lnSpc>
              <a:spcAft>
                <a:spcPts val="1200"/>
              </a:spcAft>
              <a:defRPr sz="1500">
                <a:solidFill>
                  <a:srgbClr val="202020"/>
                </a:solidFill>
                <a:latin typeface="Aptos"/>
              </a:defRPr>
            </a:pPr>
            <a:r>
              <a:t>August introduced a new Windows Arm64 runner image, distinct reporting identity for Code Quality, and a broader Actions retention policy.</a:t>
            </a:r>
          </a:p>
          <a:p>
            <a:pPr>
              <a:spcAft>
                <a:spcPts val="500"/>
              </a:spcAft>
              <a:defRPr sz="1600" b="1">
                <a:solidFill>
                  <a:srgbClr val="1F4E79"/>
                </a:solidFill>
                <a:latin typeface="Aptos"/>
              </a:defRPr>
            </a:pPr>
            <a:r>
              <a:t>Presenter cues</a:t>
            </a:r>
          </a:p>
          <a:p>
            <a:pPr>
              <a:lnSpc>
                <a:spcPct val="110000"/>
              </a:lnSpc>
              <a:spcAft>
                <a:spcPts val="700"/>
              </a:spcAft>
              <a:defRPr sz="1500">
                <a:solidFill>
                  <a:srgbClr val="202020"/>
                </a:solidFill>
                <a:latin typeface="Aptos"/>
              </a:defRPr>
            </a:pPr>
            <a:r>
              <a:t>• Preview the three August announcements.</a:t>
            </a:r>
          </a:p>
          <a:p>
            <a:pPr>
              <a:lnSpc>
                <a:spcPct val="110000"/>
              </a:lnSpc>
              <a:spcAft>
                <a:spcPts val="700"/>
              </a:spcAft>
              <a:defRPr sz="1500">
                <a:solidFill>
                  <a:srgbClr val="202020"/>
                </a:solidFill>
                <a:latin typeface="Aptos"/>
              </a:defRPr>
            </a:pPr>
            <a:r>
              <a:t>• Emphasize that two require review of existing assumptions: VS 2022 dependencies and long-lived run history.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pPr>
              <a:spcAft>
                <a:spcPts val="800"/>
              </a:spcAft>
              <a:defRPr sz="2000" b="1">
                <a:solidFill>
                  <a:srgbClr val="1F4E79"/>
                </a:solidFill>
                <a:latin typeface="Aptos"/>
              </a:defRPr>
            </a:pPr>
            <a:r>
              <a:t>PRESENTER NOTES</a:t>
            </a:r>
          </a:p>
          <a:p>
            <a:pPr>
              <a:spcAft>
                <a:spcPts val="1200"/>
              </a:spcAft>
              <a:defRPr sz="1600" b="1">
                <a:solidFill>
                  <a:srgbClr val="2E7D32"/>
                </a:solidFill>
                <a:latin typeface="Aptos"/>
              </a:defRPr>
            </a:pPr>
            <a:r>
              <a:t>Timing: 3 minutes</a:t>
            </a:r>
          </a:p>
          <a:p>
            <a:pPr>
              <a:spcAft>
                <a:spcPts val="500"/>
              </a:spcAft>
              <a:defRPr sz="1600" b="1">
                <a:solidFill>
                  <a:srgbClr val="1F4E79"/>
                </a:solidFill>
                <a:latin typeface="Aptos"/>
              </a:defRPr>
            </a:pPr>
            <a:r>
              <a:t>Feature summary</a:t>
            </a:r>
          </a:p>
          <a:p>
            <a:pPr>
              <a:lnSpc>
                <a:spcPct val="110000"/>
              </a:lnSpc>
              <a:spcAft>
                <a:spcPts val="1200"/>
              </a:spcAft>
              <a:defRPr sz="1500">
                <a:solidFill>
                  <a:srgbClr val="202020"/>
                </a:solidFill>
                <a:latin typeface="Aptos"/>
              </a:defRPr>
            </a:pPr>
            <a:r>
              <a:t>The Windows 11 Arm64 image with Visual Studio 2026 is generally available as windows-11-vs2026-arm, while windows-11-arm migrates automatically during September 21–30.</a:t>
            </a:r>
          </a:p>
          <a:p>
            <a:pPr>
              <a:spcAft>
                <a:spcPts val="500"/>
              </a:spcAft>
              <a:defRPr sz="1600" b="1">
                <a:solidFill>
                  <a:srgbClr val="1F4E79"/>
                </a:solidFill>
                <a:latin typeface="Aptos"/>
              </a:defRPr>
            </a:pPr>
            <a:r>
              <a:t>Presenter cues</a:t>
            </a:r>
          </a:p>
          <a:p>
            <a:pPr>
              <a:lnSpc>
                <a:spcPct val="110000"/>
              </a:lnSpc>
              <a:spcAft>
                <a:spcPts val="700"/>
              </a:spcAft>
              <a:defRPr sz="1500">
                <a:solidFill>
                  <a:srgbClr val="202020"/>
                </a:solidFill>
                <a:latin typeface="Aptos"/>
              </a:defRPr>
            </a:pPr>
            <a:r>
              <a:t>• Explain that Arm64 is the architecture and VS 2026 is the image change.</a:t>
            </a:r>
          </a:p>
          <a:p>
            <a:pPr>
              <a:lnSpc>
                <a:spcPct val="110000"/>
              </a:lnSpc>
              <a:spcAft>
                <a:spcPts val="700"/>
              </a:spcAft>
              <a:defRPr sz="1500">
                <a:solidFill>
                  <a:srgbClr val="202020"/>
                </a:solidFill>
                <a:latin typeface="Aptos"/>
              </a:defRPr>
            </a:pPr>
            <a:r>
              <a:t>• Teams using C++, .NET workloads, SDK components, or hard-coded Visual Studio paths should test explicitly.</a:t>
            </a:r>
          </a:p>
          <a:p>
            <a:pPr>
              <a:lnSpc>
                <a:spcPct val="110000"/>
              </a:lnSpc>
              <a:spcAft>
                <a:spcPts val="700"/>
              </a:spcAft>
              <a:defRPr sz="1500">
                <a:solidFill>
                  <a:srgbClr val="202020"/>
                </a:solidFill>
                <a:latin typeface="Aptos"/>
              </a:defRPr>
            </a:pPr>
            <a:r>
              <a:t>• The migration is automatic for windows-11-arm.</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pPr>
              <a:spcAft>
                <a:spcPts val="800"/>
              </a:spcAft>
              <a:defRPr sz="2000" b="1">
                <a:solidFill>
                  <a:srgbClr val="1F4E79"/>
                </a:solidFill>
                <a:latin typeface="Aptos"/>
              </a:defRPr>
            </a:pPr>
            <a:r>
              <a:rPr dirty="0"/>
              <a:t>PRESENTER NOTES</a:t>
            </a:r>
          </a:p>
          <a:p>
            <a:pPr>
              <a:spcAft>
                <a:spcPts val="1200"/>
              </a:spcAft>
              <a:defRPr sz="1600" b="1">
                <a:solidFill>
                  <a:srgbClr val="2E7D32"/>
                </a:solidFill>
                <a:latin typeface="Aptos"/>
              </a:defRPr>
            </a:pPr>
            <a:r>
              <a:rPr dirty="0"/>
              <a:t>Timing: 3 minutes</a:t>
            </a:r>
          </a:p>
          <a:p>
            <a:pPr>
              <a:spcAft>
                <a:spcPts val="500"/>
              </a:spcAft>
              <a:defRPr sz="1600" b="1">
                <a:solidFill>
                  <a:srgbClr val="1F4E79"/>
                </a:solidFill>
                <a:latin typeface="Aptos"/>
              </a:defRPr>
            </a:pPr>
            <a:r>
              <a:rPr dirty="0"/>
              <a:t>Feature summary</a:t>
            </a:r>
          </a:p>
          <a:p>
            <a:pPr>
              <a:lnSpc>
                <a:spcPct val="110000"/>
              </a:lnSpc>
              <a:spcAft>
                <a:spcPts val="1200"/>
              </a:spcAft>
              <a:defRPr sz="1500">
                <a:solidFill>
                  <a:srgbClr val="202020"/>
                </a:solidFill>
                <a:latin typeface="Aptos"/>
              </a:defRPr>
            </a:pPr>
            <a:r>
              <a:rPr dirty="0"/>
              <a:t>Starting October 1, 2026, one Actions retention setting controls checks, workflow runs, statuses, artifacts, and logs; the default is 90 days.</a:t>
            </a:r>
          </a:p>
          <a:p>
            <a:pPr>
              <a:spcAft>
                <a:spcPts val="500"/>
              </a:spcAft>
              <a:defRPr sz="1600" b="1">
                <a:solidFill>
                  <a:srgbClr val="1F4E79"/>
                </a:solidFill>
                <a:latin typeface="Aptos"/>
              </a:defRPr>
            </a:pPr>
            <a:r>
              <a:rPr dirty="0"/>
              <a:t>Presenter cues</a:t>
            </a:r>
          </a:p>
          <a:p>
            <a:pPr>
              <a:lnSpc>
                <a:spcPct val="110000"/>
              </a:lnSpc>
              <a:spcAft>
                <a:spcPts val="700"/>
              </a:spcAft>
              <a:defRPr sz="1500">
                <a:solidFill>
                  <a:srgbClr val="202020"/>
                </a:solidFill>
                <a:latin typeface="Aptos"/>
              </a:defRPr>
            </a:pPr>
            <a:r>
              <a:rPr dirty="0"/>
              <a:t>• Previously, checks, runs, and statuses could remain for 400+ days regardless of artifact/log retention.</a:t>
            </a:r>
          </a:p>
          <a:p>
            <a:pPr>
              <a:lnSpc>
                <a:spcPct val="110000"/>
              </a:lnSpc>
              <a:spcAft>
                <a:spcPts val="700"/>
              </a:spcAft>
              <a:defRPr sz="1500">
                <a:solidFill>
                  <a:srgbClr val="202020"/>
                </a:solidFill>
                <a:latin typeface="Aptos"/>
              </a:defRPr>
            </a:pPr>
            <a:r>
              <a:rPr dirty="0"/>
              <a:t>• Starting October 1, the same setting governs all five.</a:t>
            </a:r>
          </a:p>
          <a:p>
            <a:pPr>
              <a:lnSpc>
                <a:spcPct val="110000"/>
              </a:lnSpc>
              <a:spcAft>
                <a:spcPts val="700"/>
              </a:spcAft>
              <a:defRPr sz="1500">
                <a:solidFill>
                  <a:srgbClr val="202020"/>
                </a:solidFill>
                <a:latin typeface="Aptos"/>
              </a:defRPr>
            </a:pPr>
            <a:r>
              <a:rPr dirty="0"/>
              <a:t>• </a:t>
            </a:r>
            <a:r>
              <a:rPr lang="en-US" dirty="0"/>
              <a:t>Export what must outlive the configured window.</a:t>
            </a:r>
          </a:p>
          <a:p>
            <a:pPr>
              <a:lnSpc>
                <a:spcPct val="110000"/>
              </a:lnSpc>
              <a:spcAft>
                <a:spcPts val="700"/>
              </a:spcAft>
              <a:defRPr sz="1500">
                <a:solidFill>
                  <a:srgbClr val="202020"/>
                </a:solidFill>
                <a:latin typeface="Aptos"/>
              </a:defRPr>
            </a:pPr>
            <a:r>
              <a:rPr dirty="0"/>
              <a:t>• Metadata is not billed, but artifacts and logs are.</a:t>
            </a:r>
            <a:endParaRPr lang="en-US" dirty="0"/>
          </a:p>
          <a:p>
            <a:pPr>
              <a:lnSpc>
                <a:spcPct val="110000"/>
              </a:lnSpc>
              <a:spcAft>
                <a:spcPts val="700"/>
              </a:spcAft>
              <a:defRPr sz="1500">
                <a:solidFill>
                  <a:srgbClr val="202020"/>
                </a:solidFill>
                <a:latin typeface="Aptos"/>
              </a:defRPr>
            </a:pPr>
            <a:endParaRPr lang="en-US" dirty="0"/>
          </a:p>
          <a:p>
            <a:pPr>
              <a:lnSpc>
                <a:spcPct val="110000"/>
              </a:lnSpc>
              <a:spcAft>
                <a:spcPts val="700"/>
              </a:spcAft>
              <a:defRPr sz="1500">
                <a:solidFill>
                  <a:srgbClr val="202020"/>
                </a:solidFill>
                <a:latin typeface="Aptos"/>
              </a:defRPr>
            </a:pPr>
            <a:r>
              <a:rPr lang="en-US" sz="1600" b="1" kern="1200" dirty="0">
                <a:solidFill>
                  <a:srgbClr val="1F4E79"/>
                </a:solidFill>
                <a:latin typeface="Aptos"/>
                <a:ea typeface="+mn-ea"/>
                <a:cs typeface="+mn-cs"/>
              </a:rPr>
              <a:t>Notes</a:t>
            </a:r>
          </a:p>
          <a:p>
            <a:pPr>
              <a:lnSpc>
                <a:spcPct val="100000"/>
              </a:lnSpc>
              <a:spcAft>
                <a:spcPts val="700"/>
              </a:spcAft>
              <a:defRPr sz="1500">
                <a:solidFill>
                  <a:srgbClr val="202020"/>
                </a:solidFill>
                <a:latin typeface="Aptos"/>
              </a:defRPr>
            </a:pPr>
            <a:r>
              <a:rPr lang="en-US" dirty="0"/>
              <a:t>• </a:t>
            </a:r>
            <a:r>
              <a:rPr lang="en-US" sz="1500" b="0" i="0" kern="1200" dirty="0">
                <a:solidFill>
                  <a:srgbClr val="202020"/>
                </a:solidFill>
                <a:effectLst/>
                <a:latin typeface="Aptos"/>
                <a:ea typeface="+mn-ea"/>
                <a:cs typeface="+mn-cs"/>
              </a:rPr>
              <a:t>Starting October 1, 2026, checks, workflow runs, and statuses will be governed by the same Actions retention setting that already controls how long artifacts and logs are kept, with a default of 90 days. Until now, checks, workflow runs, and statuses were retained for 400+ days regardless of your retention configuration. After this change, they will automatically be cleaned up once they pass the artifact and log retention period configured for your repository, organization, or enterprise.</a:t>
            </a:r>
          </a:p>
          <a:p>
            <a:pPr>
              <a:lnSpc>
                <a:spcPct val="100000"/>
              </a:lnSpc>
              <a:spcAft>
                <a:spcPts val="700"/>
              </a:spcAft>
              <a:defRPr sz="1500">
                <a:solidFill>
                  <a:srgbClr val="202020"/>
                </a:solidFill>
                <a:latin typeface="Aptos"/>
              </a:defRPr>
            </a:pPr>
            <a:r>
              <a:rPr lang="en-US" dirty="0"/>
              <a:t>• </a:t>
            </a:r>
            <a:r>
              <a:rPr lang="en-US" sz="1500" b="0" i="0" kern="1200" dirty="0">
                <a:solidFill>
                  <a:srgbClr val="202020"/>
                </a:solidFill>
                <a:effectLst/>
                <a:latin typeface="Aptos"/>
                <a:ea typeface="+mn-ea"/>
                <a:cs typeface="+mn-cs"/>
              </a:rPr>
              <a:t>Settings -&gt; Actions -&gt; General</a:t>
            </a:r>
          </a:p>
          <a:p>
            <a:pPr>
              <a:lnSpc>
                <a:spcPct val="100000"/>
              </a:lnSpc>
              <a:spcAft>
                <a:spcPts val="700"/>
              </a:spcAft>
              <a:defRPr sz="1500">
                <a:solidFill>
                  <a:srgbClr val="202020"/>
                </a:solidFill>
                <a:latin typeface="Aptos"/>
              </a:defRPr>
            </a:pPr>
            <a:r>
              <a:rPr lang="en-US" dirty="0"/>
              <a:t>• </a:t>
            </a:r>
            <a:r>
              <a:rPr lang="en-US" sz="1500" b="0" i="0" kern="1200" dirty="0">
                <a:solidFill>
                  <a:srgbClr val="202020"/>
                </a:solidFill>
                <a:effectLst/>
                <a:latin typeface="Aptos"/>
                <a:ea typeface="+mn-ea"/>
                <a:cs typeface="+mn-cs"/>
              </a:rPr>
              <a:t>You can export the data via the GitHub CLI.</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pPr>
              <a:spcAft>
                <a:spcPts val="800"/>
              </a:spcAft>
              <a:defRPr sz="2000" b="1">
                <a:solidFill>
                  <a:srgbClr val="1F4E79"/>
                </a:solidFill>
                <a:latin typeface="Aptos"/>
              </a:defRPr>
            </a:pPr>
            <a:r>
              <a:rPr dirty="0"/>
              <a:t>PRESENTER NOTES</a:t>
            </a:r>
          </a:p>
          <a:p>
            <a:pPr>
              <a:spcAft>
                <a:spcPts val="1200"/>
              </a:spcAft>
              <a:defRPr sz="1600" b="1">
                <a:solidFill>
                  <a:srgbClr val="2E7D32"/>
                </a:solidFill>
                <a:latin typeface="Aptos"/>
              </a:defRPr>
            </a:pPr>
            <a:r>
              <a:rPr dirty="0"/>
              <a:t>Timing: 2 minutes</a:t>
            </a:r>
          </a:p>
          <a:p>
            <a:pPr>
              <a:spcAft>
                <a:spcPts val="500"/>
              </a:spcAft>
              <a:defRPr sz="1600" b="1">
                <a:solidFill>
                  <a:srgbClr val="1F4E79"/>
                </a:solidFill>
                <a:latin typeface="Aptos"/>
              </a:defRPr>
            </a:pPr>
            <a:r>
              <a:rPr dirty="0"/>
              <a:t>Feature summary</a:t>
            </a:r>
          </a:p>
          <a:p>
            <a:pPr>
              <a:lnSpc>
                <a:spcPct val="110000"/>
              </a:lnSpc>
              <a:spcAft>
                <a:spcPts val="1200"/>
              </a:spcAft>
              <a:defRPr sz="1500">
                <a:solidFill>
                  <a:srgbClr val="202020"/>
                </a:solidFill>
                <a:latin typeface="Aptos"/>
              </a:defRPr>
            </a:pPr>
            <a:r>
              <a:rPr dirty="0"/>
              <a:t>GitHub Code Quality Actions runs now use a dedicated dynamic path and </a:t>
            </a:r>
            <a:r>
              <a:rPr dirty="0" err="1"/>
              <a:t>github</a:t>
            </a:r>
            <a:r>
              <a:rPr dirty="0"/>
              <a:t>-code-quality actor, separating quality analysis from code-scanning activity in reports.</a:t>
            </a:r>
          </a:p>
          <a:p>
            <a:pPr>
              <a:spcAft>
                <a:spcPts val="500"/>
              </a:spcAft>
              <a:defRPr sz="1600" b="1">
                <a:solidFill>
                  <a:srgbClr val="1F4E79"/>
                </a:solidFill>
                <a:latin typeface="Aptos"/>
              </a:defRPr>
            </a:pPr>
            <a:r>
              <a:rPr dirty="0"/>
              <a:t>Presenter cues</a:t>
            </a:r>
          </a:p>
          <a:p>
            <a:pPr>
              <a:lnSpc>
                <a:spcPct val="110000"/>
              </a:lnSpc>
              <a:spcAft>
                <a:spcPts val="700"/>
              </a:spcAft>
              <a:defRPr sz="1500">
                <a:solidFill>
                  <a:srgbClr val="202020"/>
                </a:solidFill>
                <a:latin typeface="Aptos"/>
              </a:defRPr>
            </a:pPr>
            <a:r>
              <a:rPr dirty="0"/>
              <a:t>• This is primarily a reporting and automation compatibility change.</a:t>
            </a:r>
          </a:p>
          <a:p>
            <a:pPr>
              <a:lnSpc>
                <a:spcPct val="110000"/>
              </a:lnSpc>
              <a:spcAft>
                <a:spcPts val="700"/>
              </a:spcAft>
              <a:defRPr sz="1500">
                <a:solidFill>
                  <a:srgbClr val="202020"/>
                </a:solidFill>
                <a:latin typeface="Aptos"/>
              </a:defRPr>
            </a:pPr>
            <a:r>
              <a:rPr dirty="0"/>
              <a:t>• Existing analysis keeps running.</a:t>
            </a:r>
          </a:p>
          <a:p>
            <a:pPr>
              <a:lnSpc>
                <a:spcPct val="110000"/>
              </a:lnSpc>
              <a:spcAft>
                <a:spcPts val="700"/>
              </a:spcAft>
              <a:defRPr sz="1500">
                <a:solidFill>
                  <a:srgbClr val="202020"/>
                </a:solidFill>
                <a:latin typeface="Aptos"/>
              </a:defRPr>
            </a:pPr>
            <a:r>
              <a:rPr dirty="0"/>
              <a:t>• The migration task is to update anything that classifies a run by the old dynamic path or </a:t>
            </a:r>
            <a:r>
              <a:rPr dirty="0" err="1"/>
              <a:t>github</a:t>
            </a:r>
            <a:r>
              <a:rPr dirty="0"/>
              <a:t>-advanced-security actor.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pPr>
              <a:spcAft>
                <a:spcPts val="800"/>
              </a:spcAft>
              <a:defRPr sz="2000" b="1">
                <a:solidFill>
                  <a:srgbClr val="1F4E79"/>
                </a:solidFill>
                <a:latin typeface="Aptos"/>
              </a:defRPr>
            </a:pPr>
            <a:r>
              <a:t>PRESENTER NOTES</a:t>
            </a:r>
          </a:p>
          <a:p>
            <a:pPr>
              <a:spcAft>
                <a:spcPts val="1200"/>
              </a:spcAft>
              <a:defRPr sz="1600" b="1">
                <a:solidFill>
                  <a:srgbClr val="2E7D32"/>
                </a:solidFill>
                <a:latin typeface="Aptos"/>
              </a:defRPr>
            </a:pPr>
            <a:r>
              <a:t>Timing: 2 minutes</a:t>
            </a:r>
          </a:p>
          <a:p>
            <a:pPr>
              <a:spcAft>
                <a:spcPts val="500"/>
              </a:spcAft>
              <a:defRPr sz="1600" b="1">
                <a:solidFill>
                  <a:srgbClr val="1F4E79"/>
                </a:solidFill>
                <a:latin typeface="Aptos"/>
              </a:defRPr>
            </a:pPr>
            <a:r>
              <a:t>Feature summary</a:t>
            </a:r>
          </a:p>
          <a:p>
            <a:pPr>
              <a:lnSpc>
                <a:spcPct val="110000"/>
              </a:lnSpc>
              <a:spcAft>
                <a:spcPts val="1200"/>
              </a:spcAft>
              <a:defRPr sz="1500">
                <a:solidFill>
                  <a:srgbClr val="202020"/>
                </a:solidFill>
                <a:latin typeface="Aptos"/>
              </a:defRPr>
            </a:pPr>
            <a:r>
              <a:t>Early September added runner end-of-life visibility, a narrow Dependabot-alert permission, and source-identity properties for reusable workflows.</a:t>
            </a:r>
          </a:p>
          <a:p>
            <a:pPr>
              <a:spcAft>
                <a:spcPts val="500"/>
              </a:spcAft>
              <a:defRPr sz="1600" b="1">
                <a:solidFill>
                  <a:srgbClr val="1F4E79"/>
                </a:solidFill>
                <a:latin typeface="Aptos"/>
              </a:defRPr>
            </a:pPr>
            <a:r>
              <a:t>Presenter cues</a:t>
            </a:r>
          </a:p>
          <a:p>
            <a:pPr>
              <a:lnSpc>
                <a:spcPct val="110000"/>
              </a:lnSpc>
              <a:spcAft>
                <a:spcPts val="700"/>
              </a:spcAft>
              <a:defRPr sz="1500">
                <a:solidFill>
                  <a:srgbClr val="202020"/>
                </a:solidFill>
                <a:latin typeface="Aptos"/>
              </a:defRPr>
            </a:pPr>
            <a:r>
              <a:t>• Introduce the September group.</a:t>
            </a:r>
          </a:p>
          <a:p>
            <a:pPr>
              <a:lnSpc>
                <a:spcPct val="110000"/>
              </a:lnSpc>
              <a:spcAft>
                <a:spcPts val="700"/>
              </a:spcAft>
              <a:defRPr sz="1500">
                <a:solidFill>
                  <a:srgbClr val="202020"/>
                </a:solidFill>
                <a:latin typeface="Aptos"/>
              </a:defRPr>
            </a:pPr>
            <a:r>
              <a:t>• These are additive features and can be adopted independently.</a:t>
            </a:r>
          </a:p>
          <a:p>
            <a:pPr>
              <a:lnSpc>
                <a:spcPct val="110000"/>
              </a:lnSpc>
              <a:spcAft>
                <a:spcPts val="700"/>
              </a:spcAft>
              <a:defRPr sz="1500">
                <a:solidFill>
                  <a:srgbClr val="202020"/>
                </a:solidFill>
                <a:latin typeface="Aptos"/>
              </a:defRPr>
            </a:pPr>
            <a:r>
              <a:t>• The last two are the demo targets because they produce a visible result with very little YAML.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pPr>
              <a:spcAft>
                <a:spcPts val="800"/>
              </a:spcAft>
              <a:defRPr sz="2000" b="1">
                <a:solidFill>
                  <a:srgbClr val="1F4E79"/>
                </a:solidFill>
                <a:latin typeface="Aptos"/>
              </a:defRPr>
            </a:pPr>
            <a:r>
              <a:rPr dirty="0"/>
              <a:t>PRESENTER NOTES</a:t>
            </a:r>
          </a:p>
          <a:p>
            <a:pPr>
              <a:spcAft>
                <a:spcPts val="1200"/>
              </a:spcAft>
              <a:defRPr sz="1600" b="1">
                <a:solidFill>
                  <a:srgbClr val="2E7D32"/>
                </a:solidFill>
                <a:latin typeface="Aptos"/>
              </a:defRPr>
            </a:pPr>
            <a:r>
              <a:rPr dirty="0"/>
              <a:t>Timing: 3 minutes</a:t>
            </a:r>
          </a:p>
          <a:p>
            <a:pPr>
              <a:spcAft>
                <a:spcPts val="500"/>
              </a:spcAft>
              <a:defRPr sz="1600" b="1">
                <a:solidFill>
                  <a:srgbClr val="1F4E79"/>
                </a:solidFill>
                <a:latin typeface="Aptos"/>
              </a:defRPr>
            </a:pPr>
            <a:r>
              <a:rPr dirty="0"/>
              <a:t>Feature summary</a:t>
            </a:r>
          </a:p>
          <a:p>
            <a:pPr>
              <a:lnSpc>
                <a:spcPct val="110000"/>
              </a:lnSpc>
              <a:spcAft>
                <a:spcPts val="1200"/>
              </a:spcAft>
              <a:defRPr sz="1500">
                <a:solidFill>
                  <a:srgbClr val="202020"/>
                </a:solidFill>
                <a:latin typeface="Aptos"/>
              </a:defRPr>
            </a:pPr>
            <a:r>
              <a:rPr dirty="0"/>
              <a:t>A new REST API reports registration and runtime deprecation dates for a specific Actions runner version at repository, organization, or enterprise scope.</a:t>
            </a:r>
          </a:p>
          <a:p>
            <a:pPr>
              <a:spcAft>
                <a:spcPts val="500"/>
              </a:spcAft>
              <a:defRPr sz="1600" b="1">
                <a:solidFill>
                  <a:srgbClr val="1F4E79"/>
                </a:solidFill>
                <a:latin typeface="Aptos"/>
              </a:defRPr>
            </a:pPr>
            <a:r>
              <a:rPr dirty="0"/>
              <a:t>Presenter cues</a:t>
            </a:r>
          </a:p>
          <a:p>
            <a:pPr>
              <a:lnSpc>
                <a:spcPct val="110000"/>
              </a:lnSpc>
              <a:spcAft>
                <a:spcPts val="700"/>
              </a:spcAft>
              <a:defRPr sz="1500">
                <a:solidFill>
                  <a:srgbClr val="202020"/>
                </a:solidFill>
                <a:latin typeface="Aptos"/>
              </a:defRPr>
            </a:pPr>
            <a:r>
              <a:rPr dirty="0"/>
              <a:t>• Differentiate runner binary versions from hosted runner image labels.</a:t>
            </a:r>
          </a:p>
          <a:p>
            <a:pPr>
              <a:lnSpc>
                <a:spcPct val="110000"/>
              </a:lnSpc>
              <a:spcAft>
                <a:spcPts val="700"/>
              </a:spcAft>
              <a:defRPr sz="1500">
                <a:solidFill>
                  <a:srgbClr val="202020"/>
                </a:solidFill>
                <a:latin typeface="Aptos"/>
              </a:defRPr>
            </a:pPr>
            <a:r>
              <a:rPr dirty="0"/>
              <a:t>• This endpoint is most valuable for self-hosted fleets.</a:t>
            </a:r>
          </a:p>
          <a:p>
            <a:pPr>
              <a:lnSpc>
                <a:spcPct val="110000"/>
              </a:lnSpc>
              <a:spcAft>
                <a:spcPts val="700"/>
              </a:spcAft>
              <a:defRPr sz="1500">
                <a:solidFill>
                  <a:srgbClr val="202020"/>
                </a:solidFill>
                <a:latin typeface="Aptos"/>
              </a:defRPr>
            </a:pPr>
            <a:r>
              <a:rPr dirty="0"/>
              <a:t>• A scheduled inventory process can query every version in use and alert before either cutoff.</a:t>
            </a:r>
            <a:endParaRPr lang="en-US" dirty="0"/>
          </a:p>
          <a:p>
            <a:pPr>
              <a:lnSpc>
                <a:spcPct val="110000"/>
              </a:lnSpc>
              <a:spcAft>
                <a:spcPts val="700"/>
              </a:spcAft>
              <a:defRPr sz="1500">
                <a:solidFill>
                  <a:srgbClr val="202020"/>
                </a:solidFill>
                <a:latin typeface="Aptos"/>
              </a:defRPr>
            </a:pPr>
            <a:endParaRPr lang="en-US" dirty="0"/>
          </a:p>
          <a:p>
            <a:pPr>
              <a:lnSpc>
                <a:spcPct val="110000"/>
              </a:lnSpc>
              <a:spcAft>
                <a:spcPts val="700"/>
              </a:spcAft>
              <a:defRPr sz="1500">
                <a:solidFill>
                  <a:srgbClr val="202020"/>
                </a:solidFill>
                <a:latin typeface="Aptos"/>
              </a:defRPr>
            </a:pPr>
            <a:r>
              <a:rPr lang="en-US" sz="1600" b="1" kern="1200" dirty="0">
                <a:solidFill>
                  <a:srgbClr val="1F4E79"/>
                </a:solidFill>
                <a:latin typeface="Aptos"/>
                <a:ea typeface="+mn-ea"/>
                <a:cs typeface="+mn-cs"/>
              </a:rPr>
              <a:t>Notes</a:t>
            </a:r>
          </a:p>
          <a:p>
            <a:pPr marL="0" marR="0" lvl="0" indent="0" algn="l" defTabSz="914400" rtl="0" eaLnBrk="1" fontAlgn="auto" latinLnBrk="0" hangingPunct="1">
              <a:lnSpc>
                <a:spcPct val="110000"/>
              </a:lnSpc>
              <a:spcBef>
                <a:spcPts val="0"/>
              </a:spcBef>
              <a:spcAft>
                <a:spcPts val="700"/>
              </a:spcAft>
              <a:buClrTx/>
              <a:buSzTx/>
              <a:buFontTx/>
              <a:buNone/>
              <a:tabLst/>
              <a:defRPr sz="1500">
                <a:solidFill>
                  <a:srgbClr val="202020"/>
                </a:solidFill>
                <a:latin typeface="Aptos"/>
              </a:defRPr>
            </a:pPr>
            <a:r>
              <a:rPr lang="en-US" dirty="0"/>
              <a:t>• Can be invoked using curl, GitHub CLI, Python, and even an Action using the GitHub CLI.</a:t>
            </a:r>
          </a:p>
          <a:p>
            <a:pPr marL="0" marR="0" lvl="0" indent="0" algn="l" defTabSz="914400" rtl="0" eaLnBrk="1" fontAlgn="auto" latinLnBrk="0" hangingPunct="1">
              <a:lnSpc>
                <a:spcPct val="110000"/>
              </a:lnSpc>
              <a:spcBef>
                <a:spcPts val="0"/>
              </a:spcBef>
              <a:spcAft>
                <a:spcPts val="700"/>
              </a:spcAft>
              <a:buClrTx/>
              <a:buSzTx/>
              <a:buFont typeface="Arial" panose="020B0604020202020204" pitchFamily="34" charset="0"/>
              <a:buNone/>
              <a:tabLst/>
              <a:defRPr sz="1500">
                <a:solidFill>
                  <a:srgbClr val="202020"/>
                </a:solidFill>
                <a:latin typeface="Aptos"/>
              </a:defRPr>
            </a:pPr>
            <a:r>
              <a:rPr lang="en-US" dirty="0"/>
              <a:t>• </a:t>
            </a:r>
            <a:r>
              <a:rPr lang="en-US" sz="1500" kern="1200" dirty="0" err="1">
                <a:solidFill>
                  <a:srgbClr val="202020"/>
                </a:solidFill>
                <a:latin typeface="Aptos"/>
                <a:ea typeface="+mn-ea"/>
                <a:cs typeface="+mn-cs"/>
              </a:rPr>
              <a:t>gh</a:t>
            </a:r>
            <a:r>
              <a:rPr lang="en-US" sz="1500" kern="1200" dirty="0">
                <a:solidFill>
                  <a:srgbClr val="202020"/>
                </a:solidFill>
                <a:latin typeface="Aptos"/>
                <a:ea typeface="+mn-ea"/>
                <a:cs typeface="+mn-cs"/>
              </a:rPr>
              <a:t> </a:t>
            </a:r>
            <a:r>
              <a:rPr lang="en-US" sz="1500" kern="1200" dirty="0" err="1">
                <a:solidFill>
                  <a:srgbClr val="202020"/>
                </a:solidFill>
                <a:latin typeface="Aptos"/>
                <a:ea typeface="+mn-ea"/>
                <a:cs typeface="+mn-cs"/>
              </a:rPr>
              <a:t>api</a:t>
            </a:r>
            <a:r>
              <a:rPr lang="en-US" sz="1500" kern="1200" dirty="0">
                <a:solidFill>
                  <a:srgbClr val="202020"/>
                </a:solidFill>
                <a:latin typeface="Aptos"/>
                <a:ea typeface="+mn-ea"/>
                <a:cs typeface="+mn-cs"/>
              </a:rPr>
              <a:t> repos/</a:t>
            </a:r>
            <a:r>
              <a:rPr lang="en-US" sz="1500" kern="1200" dirty="0" err="1">
                <a:solidFill>
                  <a:srgbClr val="202020"/>
                </a:solidFill>
                <a:latin typeface="Aptos"/>
                <a:ea typeface="+mn-ea"/>
                <a:cs typeface="+mn-cs"/>
              </a:rPr>
              <a:t>seandorsett</a:t>
            </a:r>
            <a:r>
              <a:rPr lang="en-US" sz="1500" kern="1200" dirty="0">
                <a:solidFill>
                  <a:srgbClr val="202020"/>
                </a:solidFill>
                <a:latin typeface="Aptos"/>
                <a:ea typeface="+mn-ea"/>
                <a:cs typeface="+mn-cs"/>
              </a:rPr>
              <a:t>/</a:t>
            </a:r>
            <a:r>
              <a:rPr lang="en-US" sz="1500" kern="1200" dirty="0" err="1">
                <a:solidFill>
                  <a:srgbClr val="202020"/>
                </a:solidFill>
                <a:latin typeface="Aptos"/>
                <a:ea typeface="+mn-ea"/>
                <a:cs typeface="+mn-cs"/>
              </a:rPr>
              <a:t>gha</a:t>
            </a:r>
            <a:r>
              <a:rPr lang="en-US" sz="1500" kern="1200" dirty="0">
                <a:solidFill>
                  <a:srgbClr val="202020"/>
                </a:solidFill>
                <a:latin typeface="Aptos"/>
                <a:ea typeface="+mn-ea"/>
                <a:cs typeface="+mn-cs"/>
              </a:rPr>
              <a:t>-office-hours-</a:t>
            </a:r>
            <a:r>
              <a:rPr lang="en-US" sz="1500" kern="1200" dirty="0" err="1">
                <a:solidFill>
                  <a:srgbClr val="202020"/>
                </a:solidFill>
                <a:latin typeface="Aptos"/>
                <a:ea typeface="+mn-ea"/>
                <a:cs typeface="+mn-cs"/>
              </a:rPr>
              <a:t>sep</a:t>
            </a:r>
            <a:r>
              <a:rPr lang="en-US" sz="1500" kern="1200" dirty="0">
                <a:solidFill>
                  <a:srgbClr val="202020"/>
                </a:solidFill>
                <a:latin typeface="Aptos"/>
                <a:ea typeface="+mn-ea"/>
                <a:cs typeface="+mn-cs"/>
              </a:rPr>
              <a:t>/actions/runners/deprecations/2.337.0</a:t>
            </a:r>
          </a:p>
          <a:p>
            <a:pPr marL="0" marR="0" lvl="0" indent="0" algn="l" defTabSz="914400" rtl="0" eaLnBrk="1" fontAlgn="auto" latinLnBrk="0" hangingPunct="1">
              <a:lnSpc>
                <a:spcPct val="110000"/>
              </a:lnSpc>
              <a:spcBef>
                <a:spcPts val="0"/>
              </a:spcBef>
              <a:spcAft>
                <a:spcPts val="700"/>
              </a:spcAft>
              <a:buClrTx/>
              <a:buSzTx/>
              <a:buFont typeface="Arial" panose="020B0604020202020204" pitchFamily="34" charset="0"/>
              <a:buNone/>
              <a:tabLst/>
              <a:defRPr sz="1500">
                <a:solidFill>
                  <a:srgbClr val="202020"/>
                </a:solidFill>
                <a:latin typeface="Aptos"/>
              </a:defRPr>
            </a:pPr>
            <a:r>
              <a:rPr lang="en-US" dirty="0"/>
              <a:t>• </a:t>
            </a:r>
            <a:r>
              <a:rPr lang="en-US" sz="1500" kern="1200" dirty="0">
                <a:solidFill>
                  <a:srgbClr val="202020"/>
                </a:solidFill>
                <a:latin typeface="Aptos"/>
                <a:ea typeface="+mn-ea"/>
                <a:cs typeface="+mn-cs"/>
              </a:rPr>
              <a:t>May get a 404 if the version is not yet in the database.</a:t>
            </a:r>
          </a:p>
          <a:p>
            <a:pPr>
              <a:lnSpc>
                <a:spcPct val="110000"/>
              </a:lnSpc>
              <a:spcAft>
                <a:spcPts val="700"/>
              </a:spcAft>
              <a:defRPr sz="1500">
                <a:solidFill>
                  <a:srgbClr val="202020"/>
                </a:solidFill>
                <a:latin typeface="Aptos"/>
              </a:defRPr>
            </a:pP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pPr>
              <a:spcAft>
                <a:spcPts val="800"/>
              </a:spcAft>
              <a:defRPr sz="2000" b="1">
                <a:solidFill>
                  <a:srgbClr val="1F4E79"/>
                </a:solidFill>
                <a:latin typeface="Aptos"/>
              </a:defRPr>
            </a:pPr>
            <a:r>
              <a:rPr dirty="0"/>
              <a:t>PRESENTER NOTES</a:t>
            </a:r>
          </a:p>
          <a:p>
            <a:pPr>
              <a:spcAft>
                <a:spcPts val="1200"/>
              </a:spcAft>
              <a:defRPr sz="1600" b="1">
                <a:solidFill>
                  <a:srgbClr val="2E7D32"/>
                </a:solidFill>
                <a:latin typeface="Aptos"/>
              </a:defRPr>
            </a:pPr>
            <a:r>
              <a:rPr dirty="0"/>
              <a:t>Timing: 3 minutes</a:t>
            </a:r>
          </a:p>
          <a:p>
            <a:pPr>
              <a:spcAft>
                <a:spcPts val="500"/>
              </a:spcAft>
              <a:defRPr sz="1600" b="1">
                <a:solidFill>
                  <a:srgbClr val="1F4E79"/>
                </a:solidFill>
                <a:latin typeface="Aptos"/>
              </a:defRPr>
            </a:pPr>
            <a:r>
              <a:rPr dirty="0"/>
              <a:t>Feature summary</a:t>
            </a:r>
          </a:p>
          <a:p>
            <a:pPr>
              <a:lnSpc>
                <a:spcPct val="110000"/>
              </a:lnSpc>
              <a:spcAft>
                <a:spcPts val="1200"/>
              </a:spcAft>
              <a:defRPr sz="1500">
                <a:solidFill>
                  <a:srgbClr val="202020"/>
                </a:solidFill>
                <a:latin typeface="Aptos"/>
              </a:defRPr>
            </a:pPr>
            <a:r>
              <a:rPr dirty="0"/>
              <a:t>The new vulnerability-alerts permission gives GITHUB_TOKEN read-only access to </a:t>
            </a:r>
            <a:r>
              <a:rPr dirty="0" err="1"/>
              <a:t>Dependabot</a:t>
            </a:r>
            <a:r>
              <a:rPr dirty="0"/>
              <a:t> alerts without requiring a personal access token or broader security scope.</a:t>
            </a:r>
          </a:p>
          <a:p>
            <a:pPr>
              <a:spcAft>
                <a:spcPts val="500"/>
              </a:spcAft>
              <a:defRPr sz="1600" b="1">
                <a:solidFill>
                  <a:srgbClr val="1F4E79"/>
                </a:solidFill>
                <a:latin typeface="Aptos"/>
              </a:defRPr>
            </a:pPr>
            <a:r>
              <a:rPr dirty="0"/>
              <a:t>Presenter cues</a:t>
            </a:r>
          </a:p>
          <a:p>
            <a:pPr>
              <a:lnSpc>
                <a:spcPct val="110000"/>
              </a:lnSpc>
              <a:spcAft>
                <a:spcPts val="700"/>
              </a:spcAft>
              <a:defRPr sz="1500">
                <a:solidFill>
                  <a:srgbClr val="202020"/>
                </a:solidFill>
                <a:latin typeface="Aptos"/>
              </a:defRPr>
            </a:pPr>
            <a:r>
              <a:rPr dirty="0"/>
              <a:t>• Show the permission name and emphasize job-level scoping.</a:t>
            </a:r>
          </a:p>
          <a:p>
            <a:pPr>
              <a:lnSpc>
                <a:spcPct val="110000"/>
              </a:lnSpc>
              <a:spcAft>
                <a:spcPts val="700"/>
              </a:spcAft>
              <a:defRPr sz="1500">
                <a:solidFill>
                  <a:srgbClr val="202020"/>
                </a:solidFill>
                <a:latin typeface="Aptos"/>
              </a:defRPr>
            </a:pPr>
            <a:r>
              <a:rPr dirty="0"/>
              <a:t>• A good pattern is contents: read at workflow level, then grant vulnerability-alerts: read only to the reporting job.</a:t>
            </a:r>
          </a:p>
          <a:p>
            <a:pPr>
              <a:lnSpc>
                <a:spcPct val="110000"/>
              </a:lnSpc>
              <a:spcAft>
                <a:spcPts val="700"/>
              </a:spcAft>
              <a:defRPr sz="1500">
                <a:solidFill>
                  <a:srgbClr val="202020"/>
                </a:solidFill>
                <a:latin typeface="Aptos"/>
              </a:defRPr>
            </a:pPr>
            <a:r>
              <a:rPr dirty="0"/>
              <a:t>• This is simpler to audit than a PAT and limits blast radius.</a:t>
            </a:r>
            <a:endParaRPr lang="en-US" dirty="0"/>
          </a:p>
          <a:p>
            <a:pPr>
              <a:lnSpc>
                <a:spcPct val="110000"/>
              </a:lnSpc>
              <a:spcAft>
                <a:spcPts val="700"/>
              </a:spcAft>
              <a:defRPr sz="1500">
                <a:solidFill>
                  <a:srgbClr val="202020"/>
                </a:solidFill>
                <a:latin typeface="Aptos"/>
              </a:defRPr>
            </a:pPr>
            <a:endParaRPr lang="en-US" dirty="0"/>
          </a:p>
          <a:p>
            <a:pPr>
              <a:lnSpc>
                <a:spcPct val="110000"/>
              </a:lnSpc>
              <a:spcAft>
                <a:spcPts val="700"/>
              </a:spcAft>
              <a:defRPr sz="1500">
                <a:solidFill>
                  <a:srgbClr val="202020"/>
                </a:solidFill>
                <a:latin typeface="Aptos"/>
              </a:defRPr>
            </a:pPr>
            <a:r>
              <a:rPr lang="en-US" dirty="0"/>
              <a:t>Notes</a:t>
            </a:r>
          </a:p>
          <a:p>
            <a:pPr>
              <a:lnSpc>
                <a:spcPct val="110000"/>
              </a:lnSpc>
              <a:spcAft>
                <a:spcPts val="700"/>
              </a:spcAft>
              <a:defRPr sz="1500">
                <a:solidFill>
                  <a:srgbClr val="202020"/>
                </a:solidFill>
                <a:latin typeface="Aptos"/>
              </a:defRPr>
            </a:pPr>
            <a:r>
              <a:rPr lang="en-US" dirty="0"/>
              <a:t>• Show the PAT setting.</a:t>
            </a:r>
          </a:p>
          <a:p>
            <a:pPr>
              <a:lnSpc>
                <a:spcPct val="100000"/>
              </a:lnSpc>
              <a:spcAft>
                <a:spcPts val="700"/>
              </a:spcAft>
              <a:defRPr sz="1500">
                <a:solidFill>
                  <a:srgbClr val="202020"/>
                </a:solidFill>
                <a:latin typeface="Aptos"/>
              </a:defRPr>
            </a:pPr>
            <a:r>
              <a:rPr lang="en-US" dirty="0"/>
              <a:t>• </a:t>
            </a:r>
            <a:r>
              <a:rPr lang="en-US" sz="1500" kern="1200" dirty="0" err="1">
                <a:solidFill>
                  <a:srgbClr val="202020"/>
                </a:solidFill>
                <a:latin typeface="Aptos"/>
                <a:ea typeface="+mn-ea"/>
                <a:cs typeface="+mn-cs"/>
              </a:rPr>
              <a:t>Dependabot</a:t>
            </a:r>
            <a:r>
              <a:rPr lang="en-US" sz="1500" kern="1200" dirty="0">
                <a:solidFill>
                  <a:srgbClr val="202020"/>
                </a:solidFill>
                <a:latin typeface="Aptos"/>
                <a:ea typeface="+mn-ea"/>
                <a:cs typeface="+mn-cs"/>
              </a:rPr>
              <a:t> alerts are GitHub's automated notifications that flag known security vulnerabilities in the dependencies your project uses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pPr>
              <a:spcAft>
                <a:spcPts val="800"/>
              </a:spcAft>
              <a:defRPr sz="2000" b="1">
                <a:solidFill>
                  <a:srgbClr val="1F4E79"/>
                </a:solidFill>
                <a:latin typeface="Aptos"/>
              </a:defRPr>
            </a:pPr>
            <a:r>
              <a:t>PRESENTER NOTES</a:t>
            </a:r>
          </a:p>
          <a:p>
            <a:pPr>
              <a:spcAft>
                <a:spcPts val="1200"/>
              </a:spcAft>
              <a:defRPr sz="1600" b="1">
                <a:solidFill>
                  <a:srgbClr val="2E7D32"/>
                </a:solidFill>
                <a:latin typeface="Aptos"/>
              </a:defRPr>
            </a:pPr>
            <a:r>
              <a:t>Timing: 3 minutes</a:t>
            </a:r>
          </a:p>
          <a:p>
            <a:pPr>
              <a:spcAft>
                <a:spcPts val="500"/>
              </a:spcAft>
              <a:defRPr sz="1600" b="1">
                <a:solidFill>
                  <a:srgbClr val="1F4E79"/>
                </a:solidFill>
                <a:latin typeface="Aptos"/>
              </a:defRPr>
            </a:pPr>
            <a:r>
              <a:t>Feature summary</a:t>
            </a:r>
          </a:p>
          <a:p>
            <a:pPr>
              <a:lnSpc>
                <a:spcPct val="110000"/>
              </a:lnSpc>
              <a:spcAft>
                <a:spcPts val="1200"/>
              </a:spcAft>
              <a:defRPr sz="1500">
                <a:solidFill>
                  <a:srgbClr val="202020"/>
                </a:solidFill>
                <a:latin typeface="Aptos"/>
              </a:defRPr>
            </a:pPr>
            <a:r>
              <a:t>Four new job context properties expose the ref, SHA, repository, and file path of the workflow that defines a job, including jobs in reusable workflows.</a:t>
            </a:r>
          </a:p>
          <a:p>
            <a:pPr>
              <a:spcAft>
                <a:spcPts val="500"/>
              </a:spcAft>
              <a:defRPr sz="1600" b="1">
                <a:solidFill>
                  <a:srgbClr val="1F4E79"/>
                </a:solidFill>
                <a:latin typeface="Aptos"/>
              </a:defRPr>
            </a:pPr>
            <a:r>
              <a:t>Presenter cues</a:t>
            </a:r>
          </a:p>
          <a:p>
            <a:pPr>
              <a:lnSpc>
                <a:spcPct val="110000"/>
              </a:lnSpc>
              <a:spcAft>
                <a:spcPts val="700"/>
              </a:spcAft>
              <a:defRPr sz="1500">
                <a:solidFill>
                  <a:srgbClr val="202020"/>
                </a:solidFill>
                <a:latin typeface="Aptos"/>
              </a:defRPr>
            </a:pPr>
            <a:r>
              <a:t>• The github values describe the caller.</a:t>
            </a:r>
          </a:p>
          <a:p>
            <a:pPr>
              <a:lnSpc>
                <a:spcPct val="110000"/>
              </a:lnSpc>
              <a:spcAft>
                <a:spcPts val="700"/>
              </a:spcAft>
              <a:defRPr sz="1500">
                <a:solidFill>
                  <a:srgbClr val="202020"/>
                </a:solidFill>
                <a:latin typeface="Aptos"/>
              </a:defRPr>
            </a:pPr>
            <a:r>
              <a:t>• The job values describe the workflow file defining the current job.</a:t>
            </a:r>
          </a:p>
          <a:p>
            <a:pPr>
              <a:lnSpc>
                <a:spcPct val="110000"/>
              </a:lnSpc>
              <a:spcAft>
                <a:spcPts val="700"/>
              </a:spcAft>
              <a:defRPr sz="1500">
                <a:solidFill>
                  <a:srgbClr val="202020"/>
                </a:solidFill>
                <a:latin typeface="Aptos"/>
              </a:defRPr>
            </a:pPr>
            <a:r>
              <a:t>• They match for an ordinary workflow and diverge for a reusable one.</a:t>
            </a:r>
          </a:p>
          <a:p>
            <a:pPr>
              <a:lnSpc>
                <a:spcPct val="110000"/>
              </a:lnSpc>
              <a:spcAft>
                <a:spcPts val="700"/>
              </a:spcAft>
              <a:defRPr sz="1500">
                <a:solidFill>
                  <a:srgbClr val="202020"/>
                </a:solidFill>
                <a:latin typeface="Aptos"/>
              </a:defRPr>
            </a:pPr>
            <a:r>
              <a:t>• This removes the need to pass source metadata manually.</a:t>
            </a:r>
          </a:p>
          <a:p>
            <a:pPr>
              <a:lnSpc>
                <a:spcPct val="110000"/>
              </a:lnSpc>
              <a:spcAft>
                <a:spcPts val="700"/>
              </a:spcAft>
              <a:defRPr sz="1500">
                <a:solidFill>
                  <a:srgbClr val="202020"/>
                </a:solidFill>
                <a:latin typeface="Aptos"/>
              </a:defRPr>
            </a:pPr>
            <a:r>
              <a:t>• Not available on GitHub Enterprise Server.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pPr>
              <a:spcAft>
                <a:spcPts val="800"/>
              </a:spcAft>
              <a:defRPr sz="2000" b="1">
                <a:solidFill>
                  <a:srgbClr val="1F4E79"/>
                </a:solidFill>
                <a:latin typeface="Aptos"/>
              </a:defRPr>
            </a:pPr>
            <a:r>
              <a:t>PRESENTER NOTES</a:t>
            </a:r>
          </a:p>
          <a:p>
            <a:pPr>
              <a:spcAft>
                <a:spcPts val="1200"/>
              </a:spcAft>
              <a:defRPr sz="1600" b="1">
                <a:solidFill>
                  <a:srgbClr val="2E7D32"/>
                </a:solidFill>
                <a:latin typeface="Aptos"/>
              </a:defRPr>
            </a:pPr>
            <a:r>
              <a:t>Timing: 1 minute</a:t>
            </a:r>
          </a:p>
          <a:p>
            <a:pPr>
              <a:spcAft>
                <a:spcPts val="500"/>
              </a:spcAft>
              <a:defRPr sz="1600" b="1">
                <a:solidFill>
                  <a:srgbClr val="1F4E79"/>
                </a:solidFill>
                <a:latin typeface="Aptos"/>
              </a:defRPr>
            </a:pPr>
            <a:r>
              <a:t>Feature summary</a:t>
            </a:r>
          </a:p>
          <a:p>
            <a:pPr>
              <a:lnSpc>
                <a:spcPct val="110000"/>
              </a:lnSpc>
              <a:spcAft>
                <a:spcPts val="1200"/>
              </a:spcAft>
              <a:defRPr sz="1500">
                <a:solidFill>
                  <a:srgbClr val="202020"/>
                </a:solidFill>
                <a:latin typeface="Aptos"/>
              </a:defRPr>
            </a:pPr>
            <a:r>
              <a:t>A single manually dispatched workflow runs three independent jobs to demonstrate reusable-workflow provenance, least-privilege Dependabot access, and separate CodeQL workload attribution.</a:t>
            </a:r>
          </a:p>
          <a:p>
            <a:pPr>
              <a:spcAft>
                <a:spcPts val="500"/>
              </a:spcAft>
              <a:defRPr sz="1600" b="1">
                <a:solidFill>
                  <a:srgbClr val="1F4E79"/>
                </a:solidFill>
                <a:latin typeface="Aptos"/>
              </a:defRPr>
            </a:pPr>
            <a:r>
              <a:t>Presenter cues</a:t>
            </a:r>
          </a:p>
          <a:p>
            <a:pPr>
              <a:lnSpc>
                <a:spcPct val="110000"/>
              </a:lnSpc>
              <a:spcAft>
                <a:spcPts val="700"/>
              </a:spcAft>
              <a:defRPr sz="1500">
                <a:solidFill>
                  <a:srgbClr val="202020"/>
                </a:solidFill>
                <a:latin typeface="Aptos"/>
              </a:defRPr>
            </a:pPr>
            <a:r>
              <a:t>• Switch to the repository.</a:t>
            </a:r>
          </a:p>
          <a:p>
            <a:pPr>
              <a:lnSpc>
                <a:spcPct val="110000"/>
              </a:lnSpc>
              <a:spcAft>
                <a:spcPts val="700"/>
              </a:spcAft>
              <a:defRPr sz="1500">
                <a:solidFill>
                  <a:srgbClr val="202020"/>
                </a:solidFill>
                <a:latin typeface="Aptos"/>
              </a:defRPr>
            </a:pPr>
            <a:r>
              <a:t>• Show the two small files first, then dispatch the workflow.</a:t>
            </a:r>
          </a:p>
          <a:p>
            <a:pPr>
              <a:lnSpc>
                <a:spcPct val="110000"/>
              </a:lnSpc>
              <a:spcAft>
                <a:spcPts val="700"/>
              </a:spcAft>
              <a:defRPr sz="1500">
                <a:solidFill>
                  <a:srgbClr val="202020"/>
                </a:solidFill>
                <a:latin typeface="Aptos"/>
              </a:defRPr>
            </a:pPr>
            <a:r>
              <a:t>• While it starts, explain that the three jobs are independent.</a:t>
            </a:r>
          </a:p>
          <a:p>
            <a:pPr>
              <a:lnSpc>
                <a:spcPct val="110000"/>
              </a:lnSpc>
              <a:spcAft>
                <a:spcPts val="700"/>
              </a:spcAft>
              <a:defRPr sz="1500">
                <a:solidFill>
                  <a:srgbClr val="202020"/>
                </a:solidFill>
                <a:latin typeface="Aptos"/>
              </a:defRPr>
            </a:pPr>
            <a:r>
              <a:t>• Keep a pre-run result open in case of queue delays.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pPr>
              <a:spcAft>
                <a:spcPts val="800"/>
              </a:spcAft>
              <a:defRPr sz="2000" b="1">
                <a:solidFill>
                  <a:srgbClr val="1F4E79"/>
                </a:solidFill>
                <a:latin typeface="Aptos"/>
              </a:defRPr>
            </a:pPr>
            <a:r>
              <a:t>PRESENTER NOTES</a:t>
            </a:r>
          </a:p>
          <a:p>
            <a:pPr>
              <a:spcAft>
                <a:spcPts val="1200"/>
              </a:spcAft>
              <a:defRPr sz="1600" b="1">
                <a:solidFill>
                  <a:srgbClr val="2E7D32"/>
                </a:solidFill>
                <a:latin typeface="Aptos"/>
              </a:defRPr>
            </a:pPr>
            <a:r>
              <a:t>Timing: 4 minutes</a:t>
            </a:r>
          </a:p>
          <a:p>
            <a:pPr>
              <a:spcAft>
                <a:spcPts val="500"/>
              </a:spcAft>
              <a:defRPr sz="1600" b="1">
                <a:solidFill>
                  <a:srgbClr val="1F4E79"/>
                </a:solidFill>
                <a:latin typeface="Aptos"/>
              </a:defRPr>
            </a:pPr>
            <a:r>
              <a:t>Feature summary</a:t>
            </a:r>
          </a:p>
          <a:p>
            <a:pPr>
              <a:lnSpc>
                <a:spcPct val="110000"/>
              </a:lnSpc>
              <a:spcAft>
                <a:spcPts val="1200"/>
              </a:spcAft>
              <a:defRPr sz="1500">
                <a:solidFill>
                  <a:srgbClr val="202020"/>
                </a:solidFill>
                <a:latin typeface="Aptos"/>
              </a:defRPr>
            </a:pPr>
            <a:r>
              <a:t>The reusable-workflow demo shows that github.workflow_ref identifies the caller while job.workflow_ref and related properties identify the workflow defining the job.</a:t>
            </a:r>
          </a:p>
          <a:p>
            <a:pPr>
              <a:spcAft>
                <a:spcPts val="500"/>
              </a:spcAft>
              <a:defRPr sz="1600" b="1">
                <a:solidFill>
                  <a:srgbClr val="1F4E79"/>
                </a:solidFill>
                <a:latin typeface="Aptos"/>
              </a:defRPr>
            </a:pPr>
            <a:r>
              <a:t>Presenter cues</a:t>
            </a:r>
          </a:p>
          <a:p>
            <a:pPr>
              <a:lnSpc>
                <a:spcPct val="110000"/>
              </a:lnSpc>
              <a:spcAft>
                <a:spcPts val="700"/>
              </a:spcAft>
              <a:defRPr sz="1500">
                <a:solidFill>
                  <a:srgbClr val="202020"/>
                </a:solidFill>
                <a:latin typeface="Aptos"/>
              </a:defRPr>
            </a:pPr>
            <a:r>
              <a:t>• Open both YAML files.</a:t>
            </a:r>
          </a:p>
          <a:p>
            <a:pPr>
              <a:lnSpc>
                <a:spcPct val="110000"/>
              </a:lnSpc>
              <a:spcAft>
                <a:spcPts val="700"/>
              </a:spcAft>
              <a:defRPr sz="1500">
                <a:solidFill>
                  <a:srgbClr val="202020"/>
                </a:solidFill>
                <a:latin typeface="Aptos"/>
              </a:defRPr>
            </a:pPr>
            <a:r>
              <a:t>• Show the caller's uses line.</a:t>
            </a:r>
          </a:p>
          <a:p>
            <a:pPr>
              <a:lnSpc>
                <a:spcPct val="110000"/>
              </a:lnSpc>
              <a:spcAft>
                <a:spcPts val="700"/>
              </a:spcAft>
              <a:defRPr sz="1500">
                <a:solidFill>
                  <a:srgbClr val="202020"/>
                </a:solidFill>
                <a:latin typeface="Aptos"/>
              </a:defRPr>
            </a:pPr>
            <a:r>
              <a:t>• In the run summary, compare github.workflow_ref with job.workflow_ref, then point out SHA, repository, and file path.</a:t>
            </a:r>
          </a:p>
          <a:p>
            <a:pPr>
              <a:lnSpc>
                <a:spcPct val="110000"/>
              </a:lnSpc>
              <a:spcAft>
                <a:spcPts val="700"/>
              </a:spcAft>
              <a:defRPr sz="1500">
                <a:solidFill>
                  <a:srgbClr val="202020"/>
                </a:solidFill>
                <a:latin typeface="Aptos"/>
              </a:defRPr>
            </a:pPr>
            <a:r>
              <a:t>• Ask attendees where they currently pass this metadata as inputs.</a:t>
            </a:r>
          </a:p>
          <a:p>
            <a:pPr>
              <a:lnSpc>
                <a:spcPct val="110000"/>
              </a:lnSpc>
              <a:spcAft>
                <a:spcPts val="700"/>
              </a:spcAft>
              <a:defRPr sz="1500">
                <a:solidFill>
                  <a:srgbClr val="202020"/>
                </a:solidFill>
                <a:latin typeface="Aptos"/>
              </a:defRPr>
            </a:pPr>
            <a:r>
              <a:t>• Close with provenance and diagnostics use cases.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pPr>
              <a:spcAft>
                <a:spcPts val="800"/>
              </a:spcAft>
              <a:defRPr sz="2000" b="1">
                <a:solidFill>
                  <a:srgbClr val="1F4E79"/>
                </a:solidFill>
                <a:latin typeface="Aptos"/>
              </a:defRPr>
            </a:pPr>
            <a:r>
              <a:t>PRESENTER NOTES</a:t>
            </a:r>
          </a:p>
          <a:p>
            <a:pPr>
              <a:spcAft>
                <a:spcPts val="1200"/>
              </a:spcAft>
              <a:defRPr sz="1600" b="1">
                <a:solidFill>
                  <a:srgbClr val="2E7D32"/>
                </a:solidFill>
                <a:latin typeface="Aptos"/>
              </a:defRPr>
            </a:pPr>
            <a:r>
              <a:t>Timing: 3 minutes</a:t>
            </a:r>
          </a:p>
          <a:p>
            <a:pPr>
              <a:spcAft>
                <a:spcPts val="500"/>
              </a:spcAft>
              <a:defRPr sz="1600" b="1">
                <a:solidFill>
                  <a:srgbClr val="1F4E79"/>
                </a:solidFill>
                <a:latin typeface="Aptos"/>
              </a:defRPr>
            </a:pPr>
            <a:r>
              <a:t>Feature summary</a:t>
            </a:r>
          </a:p>
          <a:p>
            <a:pPr>
              <a:lnSpc>
                <a:spcPct val="110000"/>
              </a:lnSpc>
              <a:spcAft>
                <a:spcPts val="1200"/>
              </a:spcAft>
              <a:defRPr sz="1500">
                <a:solidFill>
                  <a:srgbClr val="202020"/>
                </a:solidFill>
                <a:latin typeface="Aptos"/>
              </a:defRPr>
            </a:pPr>
            <a:r>
              <a:t>The least-privilege demo uses a job-scoped vulnerability-alerts: read grant and the built-in GITHUB_TOKEN to count open Dependabot alerts.</a:t>
            </a:r>
          </a:p>
          <a:p>
            <a:pPr>
              <a:spcAft>
                <a:spcPts val="500"/>
              </a:spcAft>
              <a:defRPr sz="1600" b="1">
                <a:solidFill>
                  <a:srgbClr val="1F4E79"/>
                </a:solidFill>
                <a:latin typeface="Aptos"/>
              </a:defRPr>
            </a:pPr>
            <a:r>
              <a:t>Presenter cues</a:t>
            </a:r>
          </a:p>
          <a:p>
            <a:pPr>
              <a:lnSpc>
                <a:spcPct val="110000"/>
              </a:lnSpc>
              <a:spcAft>
                <a:spcPts val="700"/>
              </a:spcAft>
              <a:defRPr sz="1500">
                <a:solidFill>
                  <a:srgbClr val="202020"/>
                </a:solidFill>
                <a:latin typeface="Aptos"/>
              </a:defRPr>
            </a:pPr>
            <a:r>
              <a:t>• Highlight that the permission is scoped to only this job.</a:t>
            </a:r>
          </a:p>
          <a:p>
            <a:pPr>
              <a:lnSpc>
                <a:spcPct val="110000"/>
              </a:lnSpc>
              <a:spcAft>
                <a:spcPts val="700"/>
              </a:spcAft>
              <a:defRPr sz="1500">
                <a:solidFill>
                  <a:srgbClr val="202020"/>
                </a:solidFill>
                <a:latin typeface="Aptos"/>
              </a:defRPr>
            </a:pPr>
            <a:r>
              <a:t>• Open the job summary and show the count.</a:t>
            </a:r>
          </a:p>
          <a:p>
            <a:pPr>
              <a:lnSpc>
                <a:spcPct val="110000"/>
              </a:lnSpc>
              <a:spcAft>
                <a:spcPts val="700"/>
              </a:spcAft>
              <a:defRPr sz="1500">
                <a:solidFill>
                  <a:srgbClr val="202020"/>
                </a:solidFill>
                <a:latin typeface="Aptos"/>
              </a:defRPr>
            </a:pPr>
            <a:r>
              <a:t>• Zero is a valid result.</a:t>
            </a:r>
          </a:p>
          <a:p>
            <a:pPr>
              <a:lnSpc>
                <a:spcPct val="110000"/>
              </a:lnSpc>
              <a:spcAft>
                <a:spcPts val="700"/>
              </a:spcAft>
              <a:defRPr sz="1500">
                <a:solidFill>
                  <a:srgbClr val="202020"/>
                </a:solidFill>
                <a:latin typeface="Aptos"/>
              </a:defRPr>
            </a:pPr>
            <a:r>
              <a:t>• If policy prevents access, explain that the explicit failure is preferable to a silent or overly broad fallback.</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pPr>
              <a:spcAft>
                <a:spcPts val="800"/>
              </a:spcAft>
              <a:defRPr sz="2000" b="1">
                <a:solidFill>
                  <a:srgbClr val="1F4E79"/>
                </a:solidFill>
                <a:latin typeface="Aptos"/>
              </a:defRPr>
            </a:pPr>
            <a:r>
              <a:t>PRESENTER NOTES</a:t>
            </a:r>
          </a:p>
          <a:p>
            <a:pPr>
              <a:spcAft>
                <a:spcPts val="1200"/>
              </a:spcAft>
              <a:defRPr sz="1600" b="1">
                <a:solidFill>
                  <a:srgbClr val="2E7D32"/>
                </a:solidFill>
                <a:latin typeface="Aptos"/>
              </a:defRPr>
            </a:pPr>
            <a:r>
              <a:t>Timing: 3 minutes</a:t>
            </a:r>
          </a:p>
          <a:p>
            <a:pPr>
              <a:spcAft>
                <a:spcPts val="500"/>
              </a:spcAft>
              <a:defRPr sz="1600" b="1">
                <a:solidFill>
                  <a:srgbClr val="1F4E79"/>
                </a:solidFill>
                <a:latin typeface="Aptos"/>
              </a:defRPr>
            </a:pPr>
            <a:r>
              <a:t>Feature summary</a:t>
            </a:r>
          </a:p>
          <a:p>
            <a:pPr>
              <a:lnSpc>
                <a:spcPct val="110000"/>
              </a:lnSpc>
              <a:spcAft>
                <a:spcPts val="1200"/>
              </a:spcAft>
              <a:defRPr sz="1500">
                <a:solidFill>
                  <a:srgbClr val="202020"/>
                </a:solidFill>
                <a:latin typeface="Aptos"/>
              </a:defRPr>
            </a:pPr>
            <a:r>
              <a:t>GitHub Code Quality runs now have a distinct actor and dynamic workflow path, allowing Actions reports and API consumers to separate quality analysis from code scanning.</a:t>
            </a:r>
          </a:p>
          <a:p>
            <a:pPr>
              <a:spcAft>
                <a:spcPts val="500"/>
              </a:spcAft>
              <a:defRPr sz="1600" b="1">
                <a:solidFill>
                  <a:srgbClr val="1F4E79"/>
                </a:solidFill>
                <a:latin typeface="Aptos"/>
              </a:defRPr>
            </a:pPr>
            <a:r>
              <a:t>Presenter cues</a:t>
            </a:r>
          </a:p>
          <a:p>
            <a:pPr>
              <a:lnSpc>
                <a:spcPct val="110000"/>
              </a:lnSpc>
              <a:spcAft>
                <a:spcPts val="700"/>
              </a:spcAft>
              <a:defRPr sz="1500">
                <a:solidFill>
                  <a:srgbClr val="202020"/>
                </a:solidFill>
                <a:latin typeface="Aptos"/>
              </a:defRPr>
            </a:pPr>
            <a:r>
              <a:t>• Open the code-quality-attribution job summary.</a:t>
            </a:r>
          </a:p>
          <a:p>
            <a:pPr>
              <a:lnSpc>
                <a:spcPct val="110000"/>
              </a:lnSpc>
              <a:spcAft>
                <a:spcPts val="700"/>
              </a:spcAft>
              <a:defRPr sz="1500">
                <a:solidFill>
                  <a:srgbClr val="202020"/>
                </a:solidFill>
                <a:latin typeface="Aptos"/>
              </a:defRPr>
            </a:pPr>
            <a:r>
              <a:t>• Compare the actor, expected path, run count, and latest observed path in each row.</a:t>
            </a:r>
          </a:p>
          <a:p>
            <a:pPr>
              <a:lnSpc>
                <a:spcPct val="110000"/>
              </a:lnSpc>
              <a:spcAft>
                <a:spcPts val="700"/>
              </a:spcAft>
              <a:defRPr sz="1500">
                <a:solidFill>
                  <a:srgbClr val="202020"/>
                </a:solidFill>
                <a:latin typeface="Aptos"/>
              </a:defRPr>
            </a:pPr>
            <a:r>
              <a:t>• Explain that zero Code Quality runs means the feature is not enabled or has not completed a run in this repository.</a:t>
            </a:r>
          </a:p>
          <a:p>
            <a:pPr>
              <a:lnSpc>
                <a:spcPct val="110000"/>
              </a:lnSpc>
              <a:spcAft>
                <a:spcPts val="700"/>
              </a:spcAft>
              <a:defRPr sz="1500">
                <a:solidFill>
                  <a:srgbClr val="202020"/>
                </a:solidFill>
                <a:latin typeface="Aptos"/>
              </a:defRPr>
            </a:pPr>
            <a:r>
              <a:t>• Use a prepared screenshot if needed.</a:t>
            </a:r>
          </a:p>
          <a:p>
            <a:pPr>
              <a:lnSpc>
                <a:spcPct val="110000"/>
              </a:lnSpc>
              <a:spcAft>
                <a:spcPts val="700"/>
              </a:spcAft>
              <a:defRPr sz="1500">
                <a:solidFill>
                  <a:srgbClr val="202020"/>
                </a:solidFill>
                <a:latin typeface="Aptos"/>
              </a:defRPr>
            </a:pPr>
            <a:r>
              <a:t>• Close by showing which dashboard or billing filters must be updated.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pPr>
              <a:spcAft>
                <a:spcPts val="800"/>
              </a:spcAft>
              <a:defRPr sz="2000" b="1">
                <a:solidFill>
                  <a:srgbClr val="1F4E79"/>
                </a:solidFill>
                <a:latin typeface="Aptos"/>
              </a:defRPr>
            </a:pPr>
            <a:r>
              <a:rPr dirty="0"/>
              <a:t>PRESENTER NOTES</a:t>
            </a:r>
          </a:p>
          <a:p>
            <a:pPr>
              <a:spcAft>
                <a:spcPts val="1200"/>
              </a:spcAft>
              <a:defRPr sz="1600" b="1">
                <a:solidFill>
                  <a:srgbClr val="2E7D32"/>
                </a:solidFill>
                <a:latin typeface="Aptos"/>
              </a:defRPr>
            </a:pPr>
            <a:r>
              <a:rPr dirty="0"/>
              <a:t>Timing: 5 minutes</a:t>
            </a:r>
          </a:p>
          <a:p>
            <a:pPr>
              <a:spcAft>
                <a:spcPts val="500"/>
              </a:spcAft>
              <a:defRPr sz="1600" b="1">
                <a:solidFill>
                  <a:srgbClr val="1F4E79"/>
                </a:solidFill>
                <a:latin typeface="Aptos"/>
              </a:defRPr>
            </a:pPr>
            <a:r>
              <a:rPr dirty="0"/>
              <a:t>Feature summary</a:t>
            </a:r>
          </a:p>
          <a:p>
            <a:pPr>
              <a:lnSpc>
                <a:spcPct val="110000"/>
              </a:lnSpc>
              <a:spcAft>
                <a:spcPts val="1200"/>
              </a:spcAft>
              <a:defRPr sz="1500">
                <a:solidFill>
                  <a:srgbClr val="202020"/>
                </a:solidFill>
                <a:latin typeface="Aptos"/>
              </a:defRPr>
            </a:pPr>
            <a:r>
              <a:rPr dirty="0"/>
              <a:t>The highest-leverage performance improvements eliminate stale runs, reuse expensive deterministic work, prevent unnecessary jobs, control matrix growth, and distinguish queue time from execution time.</a:t>
            </a:r>
          </a:p>
          <a:p>
            <a:pPr>
              <a:spcAft>
                <a:spcPts val="500"/>
              </a:spcAft>
              <a:defRPr sz="1600" b="1">
                <a:solidFill>
                  <a:srgbClr val="1F4E79"/>
                </a:solidFill>
                <a:latin typeface="Aptos"/>
              </a:defRPr>
            </a:pPr>
            <a:r>
              <a:rPr dirty="0"/>
              <a:t>Presenter cues</a:t>
            </a:r>
          </a:p>
          <a:p>
            <a:pPr>
              <a:lnSpc>
                <a:spcPct val="110000"/>
              </a:lnSpc>
              <a:spcAft>
                <a:spcPts val="700"/>
              </a:spcAft>
              <a:defRPr sz="1500">
                <a:solidFill>
                  <a:srgbClr val="202020"/>
                </a:solidFill>
                <a:latin typeface="Aptos"/>
              </a:defRPr>
            </a:pPr>
            <a:r>
              <a:rPr dirty="0"/>
              <a:t>• Spend about 45 seconds on each tip.</a:t>
            </a:r>
          </a:p>
          <a:p>
            <a:pPr>
              <a:lnSpc>
                <a:spcPct val="110000"/>
              </a:lnSpc>
              <a:spcAft>
                <a:spcPts val="700"/>
              </a:spcAft>
              <a:defRPr sz="1500">
                <a:solidFill>
                  <a:srgbClr val="202020"/>
                </a:solidFill>
                <a:latin typeface="Aptos"/>
              </a:defRPr>
            </a:pPr>
            <a:r>
              <a:rPr dirty="0"/>
              <a:t>• Concurrency avoids paying for obsolete commits.</a:t>
            </a:r>
          </a:p>
          <a:p>
            <a:pPr>
              <a:lnSpc>
                <a:spcPct val="110000"/>
              </a:lnSpc>
              <a:spcAft>
                <a:spcPts val="700"/>
              </a:spcAft>
              <a:defRPr sz="1500">
                <a:solidFill>
                  <a:srgbClr val="202020"/>
                </a:solidFill>
                <a:latin typeface="Aptos"/>
              </a:defRPr>
            </a:pPr>
            <a:r>
              <a:rPr dirty="0"/>
              <a:t>• Cache only expensive deterministic inputs.</a:t>
            </a:r>
          </a:p>
          <a:p>
            <a:pPr>
              <a:lnSpc>
                <a:spcPct val="110000"/>
              </a:lnSpc>
              <a:spcAft>
                <a:spcPts val="700"/>
              </a:spcAft>
              <a:defRPr sz="1500">
                <a:solidFill>
                  <a:srgbClr val="202020"/>
                </a:solidFill>
                <a:latin typeface="Aptos"/>
              </a:defRPr>
            </a:pPr>
            <a:r>
              <a:rPr dirty="0"/>
              <a:t>• Filters prevent runner allocation entirely.</a:t>
            </a:r>
          </a:p>
          <a:p>
            <a:pPr>
              <a:lnSpc>
                <a:spcPct val="110000"/>
              </a:lnSpc>
              <a:spcAft>
                <a:spcPts val="700"/>
              </a:spcAft>
              <a:defRPr sz="1500">
                <a:solidFill>
                  <a:srgbClr val="202020"/>
                </a:solidFill>
                <a:latin typeface="Aptos"/>
              </a:defRPr>
            </a:pPr>
            <a:r>
              <a:rPr dirty="0"/>
              <a:t>• Matrices often grow quadratically.</a:t>
            </a:r>
          </a:p>
          <a:p>
            <a:r>
              <a:rPr dirty="0"/>
              <a:t>• Finally, inspect queue time separately: a faster build cannot fix runner scarcity.</a:t>
            </a:r>
            <a:br>
              <a:rPr lang="en-US" dirty="0"/>
            </a:br>
            <a:br>
              <a:rPr lang="en-US" dirty="0"/>
            </a:br>
            <a:r>
              <a:rPr lang="en-US" dirty="0"/>
              <a:t>Here's more context on each of the five moves from that </a:t>
            </a:r>
            <a:r>
              <a:rPr lang="en-US"/>
              <a:t>slide:</a:t>
            </a:r>
          </a:p>
          <a:p>
            <a:endParaRPr lang="en-US" dirty="0"/>
          </a:p>
          <a:p>
            <a:r>
              <a:rPr lang="en-US" b="1" dirty="0"/>
              <a:t>1. Cancel stale work</a:t>
            </a:r>
            <a:r>
              <a:rPr lang="en-US" dirty="0"/>
              <a:t> When you push multiple commits to the same PR in quick succession, GitHub Actions will happily run a full workflow for every single push — including ones that are already obsolete by the time they'd finish. Using </a:t>
            </a:r>
            <a:r>
              <a:rPr lang="en-US" sz="1200" kern="1200" dirty="0">
                <a:solidFill>
                  <a:schemeClr val="tx1"/>
                </a:solidFill>
                <a:latin typeface="+mn-lt"/>
                <a:ea typeface="+mn-ea"/>
                <a:cs typeface="+mn-cs"/>
              </a:rPr>
              <a:t>concurrency</a:t>
            </a:r>
            <a:r>
              <a:rPr lang="en-US" dirty="0"/>
              <a:t> groups with </a:t>
            </a:r>
            <a:r>
              <a:rPr lang="en-US" sz="1200" kern="1200" dirty="0">
                <a:solidFill>
                  <a:schemeClr val="tx1"/>
                </a:solidFill>
                <a:latin typeface="+mn-lt"/>
                <a:ea typeface="+mn-ea"/>
                <a:cs typeface="+mn-cs"/>
              </a:rPr>
              <a:t>cancel-in-progress: true</a:t>
            </a:r>
            <a:r>
              <a:rPr lang="en-US" dirty="0"/>
              <a:t> ties workflow runs to a group key (typically the PR or branch ref), so a new push automatically cancels the previous run for that same group instead of letting it finish. This saves runner minutes (and money, if you're on paid runners) and gets you feedback on your latest commit faster instead of waiting behind a queue of already-stale runs.</a:t>
            </a:r>
          </a:p>
          <a:p>
            <a:r>
              <a:rPr lang="en-US" sz="1200" kern="1200" dirty="0">
                <a:solidFill>
                  <a:schemeClr val="tx1"/>
                </a:solidFill>
                <a:latin typeface="+mn-lt"/>
                <a:ea typeface="+mn-ea"/>
                <a:cs typeface="+mn-cs"/>
              </a:rPr>
              <a:t>concurrency:</a:t>
            </a:r>
          </a:p>
          <a:p>
            <a:r>
              <a:rPr lang="en-US" sz="1200" kern="1200" dirty="0">
                <a:solidFill>
                  <a:schemeClr val="tx1"/>
                </a:solidFill>
                <a:latin typeface="+mn-lt"/>
                <a:ea typeface="+mn-ea"/>
                <a:cs typeface="+mn-cs"/>
              </a:rPr>
              <a:t>  group: ${{ </a:t>
            </a:r>
            <a:r>
              <a:rPr lang="en-US" sz="1200" kern="1200" dirty="0" err="1">
                <a:solidFill>
                  <a:schemeClr val="tx1"/>
                </a:solidFill>
                <a:latin typeface="+mn-lt"/>
                <a:ea typeface="+mn-ea"/>
                <a:cs typeface="+mn-cs"/>
              </a:rPr>
              <a:t>github.workflow</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github.ref</a:t>
            </a:r>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cancel-in-progress: true</a:t>
            </a:r>
          </a:p>
          <a:p>
            <a:endParaRPr lang="en-US" sz="1200" kern="1200" dirty="0">
              <a:solidFill>
                <a:schemeClr val="tx1"/>
              </a:solidFill>
              <a:latin typeface="+mn-lt"/>
              <a:ea typeface="+mn-ea"/>
              <a:cs typeface="+mn-cs"/>
            </a:endParaRPr>
          </a:p>
          <a:p>
            <a:r>
              <a:rPr lang="en-US" b="1" dirty="0"/>
              <a:t>2. Cache with intent</a:t>
            </a:r>
            <a:r>
              <a:rPr lang="en-US" dirty="0"/>
              <a:t> The </a:t>
            </a:r>
            <a:r>
              <a:rPr lang="en-US" sz="1200" kern="1200" dirty="0">
                <a:solidFill>
                  <a:schemeClr val="tx1"/>
                </a:solidFill>
                <a:latin typeface="+mn-lt"/>
                <a:ea typeface="+mn-ea"/>
                <a:cs typeface="+mn-cs"/>
              </a:rPr>
              <a:t>actions/cache</a:t>
            </a:r>
            <a:r>
              <a:rPr lang="en-US" dirty="0"/>
              <a:t> action can dramatically speed up dependency installation (</a:t>
            </a:r>
            <a:r>
              <a:rPr lang="en-US" dirty="0" err="1"/>
              <a:t>npm</a:t>
            </a:r>
            <a:r>
              <a:rPr lang="en-US" dirty="0"/>
              <a:t>, pip, Maven, etc.) by skipping redundant downloads — but only if your cache key strategy is deliberate. Keying on </a:t>
            </a:r>
            <a:r>
              <a:rPr lang="en-US" dirty="0" err="1"/>
              <a:t>lockfiles</a:t>
            </a:r>
            <a:r>
              <a:rPr lang="en-US" dirty="0"/>
              <a:t> (like </a:t>
            </a:r>
            <a:r>
              <a:rPr lang="en-US" sz="1200" kern="1200" dirty="0">
                <a:solidFill>
                  <a:schemeClr val="tx1"/>
                </a:solidFill>
                <a:latin typeface="+mn-lt"/>
                <a:ea typeface="+mn-ea"/>
                <a:cs typeface="+mn-cs"/>
              </a:rPr>
              <a:t>package-</a:t>
            </a:r>
            <a:r>
              <a:rPr lang="en-US" sz="1200" kern="1200" dirty="0" err="1">
                <a:solidFill>
                  <a:schemeClr val="tx1"/>
                </a:solidFill>
                <a:latin typeface="+mn-lt"/>
                <a:ea typeface="+mn-ea"/>
                <a:cs typeface="+mn-cs"/>
              </a:rPr>
              <a:t>lock.json</a:t>
            </a:r>
            <a:r>
              <a:rPr lang="en-US" dirty="0"/>
              <a:t> or </a:t>
            </a:r>
            <a:r>
              <a:rPr lang="en-US" sz="1200" kern="1200" dirty="0" err="1">
                <a:solidFill>
                  <a:schemeClr val="tx1"/>
                </a:solidFill>
                <a:latin typeface="+mn-lt"/>
                <a:ea typeface="+mn-ea"/>
                <a:cs typeface="+mn-cs"/>
              </a:rPr>
              <a:t>poetry.lock</a:t>
            </a:r>
            <a:r>
              <a:rPr lang="en-US" dirty="0"/>
              <a:t>) means the cache only invalidates when dependencies actually change, rather than on every commit. "Restore broadly" typically refers to using fallback/partial-match </a:t>
            </a:r>
            <a:r>
              <a:rPr lang="en-US" sz="1200" kern="1200" dirty="0">
                <a:solidFill>
                  <a:schemeClr val="tx1"/>
                </a:solidFill>
                <a:latin typeface="+mn-lt"/>
                <a:ea typeface="+mn-ea"/>
                <a:cs typeface="+mn-cs"/>
              </a:rPr>
              <a:t>restore-keys</a:t>
            </a:r>
            <a:r>
              <a:rPr lang="en-US" dirty="0"/>
              <a:t> so a near-miss (e.g., different </a:t>
            </a:r>
            <a:r>
              <a:rPr lang="en-US" dirty="0" err="1"/>
              <a:t>lockfile</a:t>
            </a:r>
            <a:r>
              <a:rPr lang="en-US" dirty="0"/>
              <a:t> hash but same major deps) still gets you a useful partial cache instead of starting from zero. And actually tracking your cache hit rate matters because a cache that's frequently missing isn't earning its complexity — it just adds overhead without the payoff.</a:t>
            </a:r>
          </a:p>
          <a:p>
            <a:endParaRPr lang="en-US" dirty="0"/>
          </a:p>
          <a:p>
            <a:r>
              <a:rPr lang="en-US" b="1" dirty="0"/>
              <a:t>3. Filter early</a:t>
            </a:r>
            <a:r>
              <a:rPr lang="en-US" dirty="0"/>
              <a:t> Every workflow run that spins up a runner costs time and (often) money, even if the job immediately exits because "nothing relevant changed." Using </a:t>
            </a:r>
            <a:r>
              <a:rPr lang="en-US" sz="1200" kern="1200" dirty="0">
                <a:solidFill>
                  <a:schemeClr val="tx1"/>
                </a:solidFill>
                <a:latin typeface="+mn-lt"/>
                <a:ea typeface="+mn-ea"/>
                <a:cs typeface="+mn-cs"/>
              </a:rPr>
              <a:t>paths</a:t>
            </a:r>
            <a:r>
              <a:rPr lang="en-US" dirty="0"/>
              <a:t>/</a:t>
            </a:r>
            <a:r>
              <a:rPr lang="en-US" sz="1200" kern="1200" dirty="0">
                <a:solidFill>
                  <a:schemeClr val="tx1"/>
                </a:solidFill>
                <a:latin typeface="+mn-lt"/>
                <a:ea typeface="+mn-ea"/>
                <a:cs typeface="+mn-cs"/>
              </a:rPr>
              <a:t>paths-ignore</a:t>
            </a:r>
            <a:r>
              <a:rPr lang="en-US" dirty="0"/>
              <a:t> and </a:t>
            </a:r>
            <a:r>
              <a:rPr lang="en-US" sz="1200" kern="1200" dirty="0">
                <a:solidFill>
                  <a:schemeClr val="tx1"/>
                </a:solidFill>
                <a:latin typeface="+mn-lt"/>
                <a:ea typeface="+mn-ea"/>
                <a:cs typeface="+mn-cs"/>
              </a:rPr>
              <a:t>branches</a:t>
            </a:r>
            <a:r>
              <a:rPr lang="en-US" dirty="0"/>
              <a:t>/</a:t>
            </a:r>
            <a:r>
              <a:rPr lang="en-US" sz="1200" kern="1200" dirty="0">
                <a:solidFill>
                  <a:schemeClr val="tx1"/>
                </a:solidFill>
                <a:latin typeface="+mn-lt"/>
                <a:ea typeface="+mn-ea"/>
                <a:cs typeface="+mn-cs"/>
              </a:rPr>
              <a:t>branches-ignore</a:t>
            </a:r>
            <a:r>
              <a:rPr lang="en-US" dirty="0"/>
              <a:t> filters at the trigger level means GitHub decides not to start a run at all for irrelevant changes (e.g., a docs-only PR doesn't need to trigger your full test suite). Job-level </a:t>
            </a:r>
            <a:r>
              <a:rPr lang="en-US" sz="1200" kern="1200" dirty="0">
                <a:solidFill>
                  <a:schemeClr val="tx1"/>
                </a:solidFill>
                <a:latin typeface="+mn-lt"/>
                <a:ea typeface="+mn-ea"/>
                <a:cs typeface="+mn-cs"/>
              </a:rPr>
              <a:t>if</a:t>
            </a:r>
            <a:r>
              <a:rPr lang="en-US" dirty="0"/>
              <a:t> conditions go a step further — the workflow starts, but individual jobs skip based on conditions (like </a:t>
            </a:r>
            <a:r>
              <a:rPr lang="en-US" sz="1200" kern="1200" dirty="0">
                <a:solidFill>
                  <a:schemeClr val="tx1"/>
                </a:solidFill>
                <a:latin typeface="+mn-lt"/>
                <a:ea typeface="+mn-ea"/>
                <a:cs typeface="+mn-cs"/>
              </a:rPr>
              <a:t>if: </a:t>
            </a:r>
            <a:r>
              <a:rPr lang="en-US" sz="1200" kern="1200" dirty="0" err="1">
                <a:solidFill>
                  <a:schemeClr val="tx1"/>
                </a:solidFill>
                <a:latin typeface="+mn-lt"/>
                <a:ea typeface="+mn-ea"/>
                <a:cs typeface="+mn-cs"/>
              </a:rPr>
              <a:t>github.event_name</a:t>
            </a:r>
            <a:r>
              <a:rPr lang="en-US" sz="1200" kern="1200" dirty="0">
                <a:solidFill>
                  <a:schemeClr val="tx1"/>
                </a:solidFill>
                <a:latin typeface="+mn-lt"/>
                <a:ea typeface="+mn-ea"/>
                <a:cs typeface="+mn-cs"/>
              </a:rPr>
              <a:t> == 'push'</a:t>
            </a:r>
            <a:r>
              <a:rPr lang="en-US" dirty="0"/>
              <a:t>) without wasting time provisioning a runner and checking out code just to immediately bail out.</a:t>
            </a:r>
          </a:p>
          <a:p>
            <a:endParaRPr lang="en-US" dirty="0"/>
          </a:p>
          <a:p>
            <a:r>
              <a:rPr lang="en-US" b="1" dirty="0"/>
              <a:t>4. Shrink the matrix</a:t>
            </a:r>
            <a:r>
              <a:rPr lang="en-US" dirty="0"/>
              <a:t> Build matrices (testing across multiple OS versions, language versions, dependency versions, etc.) multiply your total CI time and cost linearly with every dimension you add — a 3×3×3 matrix is 27 separate jobs. The suggestion here is to run a smaller, "representative" subset of that matrix on every PR (e.g., just Ubuntu + latest Python) for fast everyday feedback, then reserve the full expanded matrix for less frequent triggers like merges to </a:t>
            </a:r>
            <a:r>
              <a:rPr lang="en-US" sz="1200" kern="1200" dirty="0">
                <a:solidFill>
                  <a:schemeClr val="tx1"/>
                </a:solidFill>
                <a:latin typeface="+mn-lt"/>
                <a:ea typeface="+mn-ea"/>
                <a:cs typeface="+mn-cs"/>
              </a:rPr>
              <a:t>main</a:t>
            </a:r>
            <a:r>
              <a:rPr lang="en-US" dirty="0"/>
              <a:t> or a nightly scheduled run. This keeps the common case (iterating on a PR) fast, while still getting full compatibility coverage on a regular cadence rather than every single push.</a:t>
            </a:r>
          </a:p>
          <a:p>
            <a:endParaRPr lang="en-US" dirty="0"/>
          </a:p>
          <a:p>
            <a:r>
              <a:rPr lang="en-US" b="1" dirty="0"/>
              <a:t>5. Measure the queue</a:t>
            </a:r>
            <a:r>
              <a:rPr lang="en-US" dirty="0"/>
              <a:t> It's easy to assume a "slow CI" complaint means your test suite itself is slow, but often a big chunk of the delay is queue time — the gap between a workflow being triggered and a runner actually being available to execute it (due to concurrency limits, runner availability, or org-wide capacity constraints). If you don't separate queue time from execution time in your metrics, you might spend real engineering effort optimizing test code that was never the bottleneck, while the actual fix (more runners, higher concurrency limits, self-hosted capacity) goes unaddressed. GitHub's workflow run API and job timestamps let you calculate this split directly, so it's worth checking before assuming code-level changes are the answer.</a:t>
            </a:r>
          </a:p>
          <a:p>
            <a:r>
              <a:rPr lang="en-US" dirty="0"/>
              <a:t>The closing line — </a:t>
            </a:r>
            <a:r>
              <a:rPr lang="en-US" b="1" dirty="0"/>
              <a:t>"Optimize total feedback time, not just step duration"</a:t>
            </a:r>
            <a:r>
              <a:rPr lang="en-US" dirty="0"/>
              <a:t> — ties all five together: the real metric that matters to a developer waiting on CI is the total wall-clock time from push to result, and that includes queueing, redundant runs, and unnecessary matrix expansion — not just how fast any single step executes in isolation.</a:t>
            </a:r>
          </a:p>
          <a:p>
            <a:pPr>
              <a:lnSpc>
                <a:spcPct val="110000"/>
              </a:lnSpc>
              <a:spcAft>
                <a:spcPts val="700"/>
              </a:spcAft>
              <a:defRPr sz="1500">
                <a:solidFill>
                  <a:srgbClr val="202020"/>
                </a:solidFill>
                <a:latin typeface="Aptos"/>
              </a:defRPr>
            </a:pP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pPr>
              <a:spcAft>
                <a:spcPts val="800"/>
              </a:spcAft>
              <a:defRPr sz="2000" b="1">
                <a:solidFill>
                  <a:srgbClr val="1F4E79"/>
                </a:solidFill>
                <a:latin typeface="Aptos"/>
              </a:defRPr>
            </a:pPr>
            <a:r>
              <a:t>PRESENTER NOTES</a:t>
            </a:r>
          </a:p>
          <a:p>
            <a:pPr>
              <a:spcAft>
                <a:spcPts val="1200"/>
              </a:spcAft>
              <a:defRPr sz="1600" b="1">
                <a:solidFill>
                  <a:srgbClr val="2E7D32"/>
                </a:solidFill>
                <a:latin typeface="Aptos"/>
              </a:defRPr>
            </a:pPr>
            <a:r>
              <a:t>Timing: 3 minutes, then 15 minutes Q&amp;A</a:t>
            </a:r>
          </a:p>
          <a:p>
            <a:pPr>
              <a:spcAft>
                <a:spcPts val="500"/>
              </a:spcAft>
              <a:defRPr sz="1600" b="1">
                <a:solidFill>
                  <a:srgbClr val="1F4E79"/>
                </a:solidFill>
                <a:latin typeface="Aptos"/>
              </a:defRPr>
            </a:pPr>
            <a:r>
              <a:t>Feature summary</a:t>
            </a:r>
          </a:p>
          <a:p>
            <a:pPr>
              <a:lnSpc>
                <a:spcPct val="110000"/>
              </a:lnSpc>
              <a:spcAft>
                <a:spcPts val="1200"/>
              </a:spcAft>
              <a:defRPr sz="1500">
                <a:solidFill>
                  <a:srgbClr val="202020"/>
                </a:solidFill>
                <a:latin typeface="Aptos"/>
              </a:defRPr>
            </a:pPr>
            <a:r>
              <a:t>The immediate next steps are to test the new Arm64 image, review retention and reporting dependencies, and adopt narrower permissions plus native workflow provenance.</a:t>
            </a:r>
          </a:p>
          <a:p>
            <a:pPr>
              <a:spcAft>
                <a:spcPts val="500"/>
              </a:spcAft>
              <a:defRPr sz="1600" b="1">
                <a:solidFill>
                  <a:srgbClr val="1F4E79"/>
                </a:solidFill>
                <a:latin typeface="Aptos"/>
              </a:defRPr>
            </a:pPr>
            <a:r>
              <a:t>Presenter cues</a:t>
            </a:r>
          </a:p>
          <a:p>
            <a:pPr>
              <a:lnSpc>
                <a:spcPct val="110000"/>
              </a:lnSpc>
              <a:spcAft>
                <a:spcPts val="700"/>
              </a:spcAft>
              <a:defRPr sz="1500">
                <a:solidFill>
                  <a:srgbClr val="202020"/>
                </a:solidFill>
                <a:latin typeface="Aptos"/>
              </a:defRPr>
            </a:pPr>
            <a:r>
              <a:t>• Recap the three action categories.</a:t>
            </a:r>
          </a:p>
          <a:p>
            <a:pPr>
              <a:lnSpc>
                <a:spcPct val="110000"/>
              </a:lnSpc>
              <a:spcAft>
                <a:spcPts val="700"/>
              </a:spcAft>
              <a:defRPr sz="1500">
                <a:solidFill>
                  <a:srgbClr val="202020"/>
                </a:solidFill>
                <a:latin typeface="Aptos"/>
              </a:defRPr>
            </a:pPr>
            <a:r>
              <a:t>• Transition to questions.</a:t>
            </a:r>
          </a:p>
          <a:p>
            <a:pPr>
              <a:lnSpc>
                <a:spcPct val="110000"/>
              </a:lnSpc>
              <a:spcAft>
                <a:spcPts val="700"/>
              </a:spcAft>
              <a:defRPr sz="1500">
                <a:solidFill>
                  <a:srgbClr val="202020"/>
                </a:solidFill>
                <a:latin typeface="Aptos"/>
              </a:defRPr>
            </a:pPr>
            <a:r>
              <a:t>• Useful prompts: Which runner fleet is hardest to maintain?</a:t>
            </a:r>
          </a:p>
          <a:p>
            <a:pPr>
              <a:lnSpc>
                <a:spcPct val="110000"/>
              </a:lnSpc>
              <a:spcAft>
                <a:spcPts val="700"/>
              </a:spcAft>
              <a:defRPr sz="1500">
                <a:solidFill>
                  <a:srgbClr val="202020"/>
                </a:solidFill>
                <a:latin typeface="Aptos"/>
              </a:defRPr>
            </a:pPr>
            <a:r>
              <a:t>• Where do shared workflows lack provenance?</a:t>
            </a:r>
          </a:p>
          <a:p>
            <a:pPr>
              <a:lnSpc>
                <a:spcPct val="110000"/>
              </a:lnSpc>
              <a:spcAft>
                <a:spcPts val="700"/>
              </a:spcAft>
              <a:defRPr sz="1500">
                <a:solidFill>
                  <a:srgbClr val="202020"/>
                </a:solidFill>
                <a:latin typeface="Aptos"/>
              </a:defRPr>
            </a:pPr>
            <a:r>
              <a:t>• What is the longest feedback-time bottleneck today?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pPr>
              <a:spcAft>
                <a:spcPts val="800"/>
              </a:spcAft>
              <a:defRPr sz="2000" b="1">
                <a:solidFill>
                  <a:srgbClr val="1F4E79"/>
                </a:solidFill>
                <a:latin typeface="Aptos"/>
              </a:defRPr>
            </a:pPr>
            <a:r>
              <a:rPr dirty="0"/>
              <a:t>PRESENTER NOTES</a:t>
            </a:r>
          </a:p>
          <a:p>
            <a:pPr>
              <a:spcAft>
                <a:spcPts val="1200"/>
              </a:spcAft>
              <a:defRPr sz="1600" b="1">
                <a:solidFill>
                  <a:srgbClr val="2E7D32"/>
                </a:solidFill>
                <a:latin typeface="Aptos"/>
              </a:defRPr>
            </a:pPr>
            <a:r>
              <a:rPr dirty="0"/>
              <a:t>Timing: Reference slide; no presentation time required</a:t>
            </a:r>
          </a:p>
          <a:p>
            <a:pPr>
              <a:spcAft>
                <a:spcPts val="500"/>
              </a:spcAft>
              <a:defRPr sz="1600" b="1">
                <a:solidFill>
                  <a:srgbClr val="1F4E79"/>
                </a:solidFill>
                <a:latin typeface="Aptos"/>
              </a:defRPr>
            </a:pPr>
            <a:r>
              <a:rPr dirty="0"/>
              <a:t>Feature summary</a:t>
            </a:r>
          </a:p>
          <a:p>
            <a:pPr>
              <a:lnSpc>
                <a:spcPct val="110000"/>
              </a:lnSpc>
              <a:spcAft>
                <a:spcPts val="1200"/>
              </a:spcAft>
              <a:defRPr sz="1500">
                <a:solidFill>
                  <a:srgbClr val="202020"/>
                </a:solidFill>
                <a:latin typeface="Aptos"/>
              </a:defRPr>
            </a:pPr>
            <a:r>
              <a:rPr dirty="0"/>
              <a:t>This slide provides the official GitHub Changelog source for every feature covered in the presentation.</a:t>
            </a:r>
          </a:p>
          <a:p>
            <a:pPr>
              <a:spcAft>
                <a:spcPts val="500"/>
              </a:spcAft>
              <a:defRPr sz="1600" b="1">
                <a:solidFill>
                  <a:srgbClr val="1F4E79"/>
                </a:solidFill>
                <a:latin typeface="Aptos"/>
              </a:defRPr>
            </a:pPr>
            <a:r>
              <a:rPr dirty="0"/>
              <a:t>Presenter cues</a:t>
            </a:r>
          </a:p>
          <a:p>
            <a:pPr>
              <a:lnSpc>
                <a:spcPct val="110000"/>
              </a:lnSpc>
              <a:spcAft>
                <a:spcPts val="700"/>
              </a:spcAft>
              <a:defRPr sz="1500">
                <a:solidFill>
                  <a:srgbClr val="202020"/>
                </a:solidFill>
                <a:latin typeface="Aptos"/>
              </a:defRPr>
            </a:pPr>
            <a:r>
              <a:rPr dirty="0"/>
              <a:t>• Leave this slide displayed after Q&amp;A or share it with attendees as a follow-up resource.</a:t>
            </a:r>
          </a:p>
          <a:p>
            <a:pPr>
              <a:lnSpc>
                <a:spcPct val="110000"/>
              </a:lnSpc>
              <a:spcAft>
                <a:spcPts val="700"/>
              </a:spcAft>
              <a:defRPr sz="1500">
                <a:solidFill>
                  <a:srgbClr val="202020"/>
                </a:solidFill>
                <a:latin typeface="Aptos"/>
              </a:defRPr>
            </a:pPr>
            <a:r>
              <a:rPr dirty="0"/>
              <a:t>• Each URL is clickable.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blog/changelog/2026-08-20-windows-11-arm64-vs2026-image-generally-available" TargetMode="External"/><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hyperlink" Target="https://github.blog/changelog/2026-09-03-github-actions-early-september-2026-updates" TargetMode="External"/><Relationship Id="rId5" Type="http://schemas.openxmlformats.org/officeDocument/2006/relationships/hyperlink" Target="https://github.blog/changelog/2026-08-27-actions-retention-will-cover-checks-workflow-runs-and-statuses" TargetMode="External"/><Relationship Id="rId4" Type="http://schemas.openxmlformats.org/officeDocument/2006/relationships/hyperlink" Target="https://github.blog/changelog/2026-08-20-separate-github-actions-path-for-github-code-qualit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ounded Rectangle 1"/>
          <p:cNvSpPr/>
          <p:nvPr/>
        </p:nvSpPr>
        <p:spPr>
          <a:xfrm>
            <a:off x="685800" y="576072"/>
            <a:ext cx="1280160" cy="310896"/>
          </a:xfrm>
          <a:prstGeom prst="roundRect">
            <a:avLst/>
          </a:prstGeom>
          <a:solidFill>
            <a:srgbClr val="BC8CFF"/>
          </a:solidFill>
          <a:ln>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85216"/>
            <a:ext cx="1280160" cy="256032"/>
          </a:xfrm>
          <a:prstGeom prst="rect">
            <a:avLst/>
          </a:prstGeom>
          <a:noFill/>
        </p:spPr>
        <p:txBody>
          <a:bodyPr wrap="square" lIns="36576" tIns="36576" rIns="36576" bIns="36576" anchor="t">
            <a:spAutoFit/>
          </a:bodyPr>
          <a:lstStyle/>
          <a:p>
            <a:pPr algn="ctr"/>
            <a:r>
              <a:rPr sz="1100" b="1">
                <a:solidFill>
                  <a:srgbClr val="0D1117"/>
                </a:solidFill>
                <a:latin typeface="Aptos"/>
              </a:rPr>
              <a:t>OFFICE HOUR</a:t>
            </a:r>
          </a:p>
        </p:txBody>
      </p:sp>
      <p:sp>
        <p:nvSpPr>
          <p:cNvPr id="4" name="TextBox 3"/>
          <p:cNvSpPr txBox="1"/>
          <p:nvPr/>
        </p:nvSpPr>
        <p:spPr>
          <a:xfrm>
            <a:off x="685800" y="1234440"/>
            <a:ext cx="10515600" cy="822960"/>
          </a:xfrm>
          <a:prstGeom prst="rect">
            <a:avLst/>
          </a:prstGeom>
          <a:noFill/>
        </p:spPr>
        <p:txBody>
          <a:bodyPr wrap="square" lIns="36576" tIns="36576" rIns="36576" bIns="36576" anchor="t">
            <a:spAutoFit/>
          </a:bodyPr>
          <a:lstStyle/>
          <a:p>
            <a:pPr algn="l"/>
            <a:r>
              <a:rPr sz="4400" b="1">
                <a:solidFill>
                  <a:srgbClr val="F0F6FC"/>
                </a:solidFill>
                <a:latin typeface="Aptos"/>
              </a:rPr>
              <a:t>GitHub Actions</a:t>
            </a:r>
          </a:p>
        </p:txBody>
      </p:sp>
      <p:sp>
        <p:nvSpPr>
          <p:cNvPr id="5" name="TextBox 4"/>
          <p:cNvSpPr txBox="1"/>
          <p:nvPr/>
        </p:nvSpPr>
        <p:spPr>
          <a:xfrm>
            <a:off x="685800" y="2029968"/>
            <a:ext cx="10515600" cy="594360"/>
          </a:xfrm>
          <a:prstGeom prst="rect">
            <a:avLst/>
          </a:prstGeom>
          <a:noFill/>
        </p:spPr>
        <p:txBody>
          <a:bodyPr wrap="square" lIns="36576" tIns="36576" rIns="36576" bIns="36576" anchor="t">
            <a:spAutoFit/>
          </a:bodyPr>
          <a:lstStyle/>
          <a:p>
            <a:pPr algn="l"/>
            <a:r>
              <a:rPr sz="2800" b="1">
                <a:solidFill>
                  <a:srgbClr val="58A6FF"/>
                </a:solidFill>
                <a:latin typeface="Aptos"/>
              </a:rPr>
              <a:t>What changed in August + September 2026</a:t>
            </a:r>
          </a:p>
        </p:txBody>
      </p:sp>
      <p:sp>
        <p:nvSpPr>
          <p:cNvPr id="6" name="TextBox 5"/>
          <p:cNvSpPr txBox="1"/>
          <p:nvPr/>
        </p:nvSpPr>
        <p:spPr>
          <a:xfrm>
            <a:off x="713232" y="2971800"/>
            <a:ext cx="8686800" cy="411480"/>
          </a:xfrm>
          <a:prstGeom prst="rect">
            <a:avLst/>
          </a:prstGeom>
          <a:noFill/>
        </p:spPr>
        <p:txBody>
          <a:bodyPr wrap="square" lIns="36576" tIns="36576" rIns="36576" bIns="36576" anchor="t">
            <a:spAutoFit/>
          </a:bodyPr>
          <a:lstStyle/>
          <a:p>
            <a:pPr algn="l"/>
            <a:r>
              <a:rPr sz="1800" b="0">
                <a:solidFill>
                  <a:srgbClr val="8B949E"/>
                </a:solidFill>
                <a:latin typeface="Aptos"/>
              </a:rPr>
              <a:t>Six updates · three live demos · five performance moves</a:t>
            </a:r>
          </a:p>
        </p:txBody>
      </p:sp>
      <p:sp>
        <p:nvSpPr>
          <p:cNvPr id="7" name="Rounded Rectangle 6"/>
          <p:cNvSpPr/>
          <p:nvPr/>
        </p:nvSpPr>
        <p:spPr>
          <a:xfrm>
            <a:off x="713232" y="3703320"/>
            <a:ext cx="10698480" cy="123444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4041648"/>
            <a:ext cx="1463040" cy="411480"/>
          </a:xfrm>
          <a:prstGeom prst="rect">
            <a:avLst/>
          </a:prstGeom>
          <a:noFill/>
        </p:spPr>
        <p:txBody>
          <a:bodyPr wrap="square" lIns="36576" tIns="36576" rIns="36576" bIns="36576" anchor="t">
            <a:spAutoFit/>
          </a:bodyPr>
          <a:lstStyle/>
          <a:p>
            <a:pPr algn="l"/>
            <a:r>
              <a:rPr sz="2600" b="1">
                <a:solidFill>
                  <a:srgbClr val="3FB950"/>
                </a:solidFill>
                <a:latin typeface="Aptos"/>
              </a:rPr>
              <a:t>45 min</a:t>
            </a:r>
          </a:p>
        </p:txBody>
      </p:sp>
      <p:sp>
        <p:nvSpPr>
          <p:cNvPr id="9" name="TextBox 8"/>
          <p:cNvSpPr txBox="1"/>
          <p:nvPr/>
        </p:nvSpPr>
        <p:spPr>
          <a:xfrm>
            <a:off x="2286000" y="4096512"/>
            <a:ext cx="2743200" cy="320040"/>
          </a:xfrm>
          <a:prstGeom prst="rect">
            <a:avLst/>
          </a:prstGeom>
          <a:noFill/>
        </p:spPr>
        <p:txBody>
          <a:bodyPr wrap="square" lIns="36576" tIns="36576" rIns="36576" bIns="36576" anchor="t">
            <a:spAutoFit/>
          </a:bodyPr>
          <a:lstStyle/>
          <a:p>
            <a:pPr algn="l"/>
            <a:r>
              <a:rPr sz="1600" b="0">
                <a:solidFill>
                  <a:srgbClr val="F0F6FC"/>
                </a:solidFill>
                <a:latin typeface="Aptos"/>
              </a:rPr>
              <a:t>presentation + demos</a:t>
            </a:r>
          </a:p>
        </p:txBody>
      </p:sp>
      <p:sp>
        <p:nvSpPr>
          <p:cNvPr id="10" name="TextBox 9"/>
          <p:cNvSpPr txBox="1"/>
          <p:nvPr/>
        </p:nvSpPr>
        <p:spPr>
          <a:xfrm>
            <a:off x="5989320" y="4041648"/>
            <a:ext cx="1463040" cy="411480"/>
          </a:xfrm>
          <a:prstGeom prst="rect">
            <a:avLst/>
          </a:prstGeom>
          <a:noFill/>
        </p:spPr>
        <p:txBody>
          <a:bodyPr wrap="square" lIns="36576" tIns="36576" rIns="36576" bIns="36576" anchor="t">
            <a:spAutoFit/>
          </a:bodyPr>
          <a:lstStyle/>
          <a:p>
            <a:pPr algn="l"/>
            <a:r>
              <a:rPr sz="2600" b="1">
                <a:solidFill>
                  <a:srgbClr val="BC8CFF"/>
                </a:solidFill>
                <a:latin typeface="Aptos"/>
              </a:rPr>
              <a:t>15 min</a:t>
            </a:r>
          </a:p>
        </p:txBody>
      </p:sp>
      <p:sp>
        <p:nvSpPr>
          <p:cNvPr id="11" name="TextBox 10"/>
          <p:cNvSpPr txBox="1"/>
          <p:nvPr/>
        </p:nvSpPr>
        <p:spPr>
          <a:xfrm>
            <a:off x="7315200" y="4096512"/>
            <a:ext cx="1828800" cy="320040"/>
          </a:xfrm>
          <a:prstGeom prst="rect">
            <a:avLst/>
          </a:prstGeom>
          <a:noFill/>
        </p:spPr>
        <p:txBody>
          <a:bodyPr wrap="square" lIns="36576" tIns="36576" rIns="36576" bIns="36576" anchor="t">
            <a:spAutoFit/>
          </a:bodyPr>
          <a:lstStyle/>
          <a:p>
            <a:pPr algn="l"/>
            <a:r>
              <a:rPr sz="1600" b="0">
                <a:solidFill>
                  <a:srgbClr val="F0F6FC"/>
                </a:solidFill>
                <a:latin typeface="Aptos"/>
              </a:rPr>
              <a:t>Q&amp;A</a:t>
            </a:r>
          </a:p>
        </p:txBody>
      </p:sp>
      <p:sp>
        <p:nvSpPr>
          <p:cNvPr id="12" name="TextBox 11"/>
          <p:cNvSpPr txBox="1"/>
          <p:nvPr/>
        </p:nvSpPr>
        <p:spPr>
          <a:xfrm>
            <a:off x="713232" y="6172200"/>
            <a:ext cx="2743200" cy="274320"/>
          </a:xfrm>
          <a:prstGeom prst="rect">
            <a:avLst/>
          </a:prstGeom>
          <a:noFill/>
        </p:spPr>
        <p:txBody>
          <a:bodyPr wrap="square" lIns="36576" tIns="36576" rIns="36576" bIns="36576" anchor="t">
            <a:spAutoFit/>
          </a:bodyPr>
          <a:lstStyle/>
          <a:p>
            <a:pPr algn="l"/>
            <a:r>
              <a:rPr sz="1200" b="0">
                <a:solidFill>
                  <a:srgbClr val="8B949E"/>
                </a:solidFill>
                <a:latin typeface="Aptos"/>
              </a:rPr>
              <a:t>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640080" y="292608"/>
            <a:ext cx="6400800" cy="274320"/>
          </a:xfrm>
          <a:prstGeom prst="rect">
            <a:avLst/>
          </a:prstGeom>
          <a:noFill/>
        </p:spPr>
        <p:txBody>
          <a:bodyPr wrap="square" lIns="36576" tIns="36576" rIns="36576" bIns="36576" anchor="t">
            <a:spAutoFit/>
          </a:bodyPr>
          <a:lstStyle/>
          <a:p>
            <a:pPr algn="l"/>
            <a:r>
              <a:rPr sz="1100" b="1">
                <a:solidFill>
                  <a:srgbClr val="58A6FF"/>
                </a:solidFill>
                <a:latin typeface="Aptos"/>
              </a:rPr>
              <a:t>TODAY</a:t>
            </a:r>
          </a:p>
        </p:txBody>
      </p:sp>
      <p:sp>
        <p:nvSpPr>
          <p:cNvPr id="3" name="TextBox 2"/>
          <p:cNvSpPr txBox="1"/>
          <p:nvPr/>
        </p:nvSpPr>
        <p:spPr>
          <a:xfrm>
            <a:off x="640080" y="667512"/>
            <a:ext cx="10789920" cy="658368"/>
          </a:xfrm>
          <a:prstGeom prst="rect">
            <a:avLst/>
          </a:prstGeom>
          <a:noFill/>
        </p:spPr>
        <p:txBody>
          <a:bodyPr wrap="square" lIns="36576" tIns="36576" rIns="36576" bIns="36576" anchor="t">
            <a:spAutoFit/>
          </a:bodyPr>
          <a:lstStyle/>
          <a:p>
            <a:pPr algn="l"/>
            <a:r>
              <a:rPr sz="3000" b="1">
                <a:solidFill>
                  <a:srgbClr val="F0F6FC"/>
                </a:solidFill>
                <a:latin typeface="Aptos"/>
              </a:rPr>
              <a:t>Run of show</a:t>
            </a:r>
          </a:p>
        </p:txBody>
      </p:sp>
      <p:sp>
        <p:nvSpPr>
          <p:cNvPr id="4" name="Rectangle 3"/>
          <p:cNvSpPr/>
          <p:nvPr/>
        </p:nvSpPr>
        <p:spPr>
          <a:xfrm>
            <a:off x="640080" y="1417320"/>
            <a:ext cx="914400" cy="45720"/>
          </a:xfrm>
          <a:prstGeom prst="rect">
            <a:avLst/>
          </a:prstGeom>
          <a:solidFill>
            <a:srgbClr val="BC8CFF"/>
          </a:solidFill>
          <a:ln>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310896"/>
            <a:ext cx="457200" cy="274320"/>
          </a:xfrm>
          <a:prstGeom prst="rect">
            <a:avLst/>
          </a:prstGeom>
          <a:noFill/>
        </p:spPr>
        <p:txBody>
          <a:bodyPr wrap="square" lIns="36576" tIns="36576" rIns="36576" bIns="36576" anchor="t">
            <a:spAutoFit/>
          </a:bodyPr>
          <a:lstStyle/>
          <a:p>
            <a:pPr algn="r"/>
            <a:r>
              <a:rPr sz="1100" b="1">
                <a:solidFill>
                  <a:srgbClr val="8B949E"/>
                </a:solidFill>
                <a:latin typeface="Aptos"/>
              </a:rPr>
              <a:t>02</a:t>
            </a:r>
          </a:p>
        </p:txBody>
      </p:sp>
      <p:sp>
        <p:nvSpPr>
          <p:cNvPr id="6" name="Rounded Rectangle 5"/>
          <p:cNvSpPr/>
          <p:nvPr/>
        </p:nvSpPr>
        <p:spPr>
          <a:xfrm>
            <a:off x="731520" y="1783080"/>
            <a:ext cx="3429000" cy="150876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783080"/>
            <a:ext cx="64008" cy="1508760"/>
          </a:xfrm>
          <a:prstGeom prst="rect">
            <a:avLst/>
          </a:prstGeom>
          <a:solidFill>
            <a:srgbClr val="58A6FF"/>
          </a:solidFill>
          <a:ln>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2011680"/>
            <a:ext cx="2971800" cy="274320"/>
          </a:xfrm>
          <a:prstGeom prst="rect">
            <a:avLst/>
          </a:prstGeom>
          <a:noFill/>
        </p:spPr>
        <p:txBody>
          <a:bodyPr wrap="square" lIns="36576" tIns="36576" rIns="36576" bIns="36576" anchor="t">
            <a:spAutoFit/>
          </a:bodyPr>
          <a:lstStyle/>
          <a:p>
            <a:pPr algn="l"/>
            <a:r>
              <a:rPr sz="1000" b="1">
                <a:solidFill>
                  <a:srgbClr val="58A6FF"/>
                </a:solidFill>
                <a:latin typeface="Aptos"/>
              </a:rPr>
              <a:t>00–05</a:t>
            </a:r>
          </a:p>
        </p:txBody>
      </p:sp>
      <p:sp>
        <p:nvSpPr>
          <p:cNvPr id="9" name="TextBox 8"/>
          <p:cNvSpPr txBox="1"/>
          <p:nvPr/>
        </p:nvSpPr>
        <p:spPr>
          <a:xfrm>
            <a:off x="987552" y="2377440"/>
            <a:ext cx="2916936" cy="658368"/>
          </a:xfrm>
          <a:prstGeom prst="rect">
            <a:avLst/>
          </a:prstGeom>
          <a:noFill/>
        </p:spPr>
        <p:txBody>
          <a:bodyPr wrap="square" lIns="36576" tIns="36576" rIns="36576" bIns="36576" anchor="t">
            <a:spAutoFit/>
          </a:bodyPr>
          <a:lstStyle/>
          <a:p>
            <a:pPr algn="l"/>
            <a:r>
              <a:rPr sz="1900" b="1">
                <a:solidFill>
                  <a:srgbClr val="F0F6FC"/>
                </a:solidFill>
                <a:latin typeface="Aptos"/>
              </a:rPr>
              <a:t>Why these updates matter</a:t>
            </a:r>
          </a:p>
        </p:txBody>
      </p:sp>
      <p:sp>
        <p:nvSpPr>
          <p:cNvPr id="10" name="TextBox 9"/>
          <p:cNvSpPr txBox="1"/>
          <p:nvPr/>
        </p:nvSpPr>
        <p:spPr>
          <a:xfrm>
            <a:off x="987552" y="3081528"/>
            <a:ext cx="2916936" cy="0"/>
          </a:xfrm>
          <a:prstGeom prst="rect">
            <a:avLst/>
          </a:prstGeom>
          <a:noFill/>
        </p:spPr>
        <p:txBody>
          <a:bodyPr wrap="square" lIns="18288" tIns="18288" rIns="18288" bIns="18288" anchor="t">
            <a:spAutoFit/>
          </a:bodyPr>
          <a:lstStyle/>
          <a:p>
            <a:pPr algn="l"/>
            <a:r>
              <a:rPr sz="1300" b="0">
                <a:solidFill>
                  <a:srgbClr val="8B949E"/>
                </a:solidFill>
                <a:latin typeface="Aptos"/>
              </a:rPr>
              <a:t>The operating themes</a:t>
            </a:r>
          </a:p>
        </p:txBody>
      </p:sp>
      <p:sp>
        <p:nvSpPr>
          <p:cNvPr id="11" name="Rounded Rectangle 10"/>
          <p:cNvSpPr/>
          <p:nvPr/>
        </p:nvSpPr>
        <p:spPr>
          <a:xfrm>
            <a:off x="4526280" y="1783080"/>
            <a:ext cx="3429000" cy="150876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26280" y="1783080"/>
            <a:ext cx="64008" cy="1508760"/>
          </a:xfrm>
          <a:prstGeom prst="rect">
            <a:avLst/>
          </a:prstGeom>
          <a:solidFill>
            <a:srgbClr val="BC8CFF"/>
          </a:solidFill>
          <a:ln>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82312" y="2011680"/>
            <a:ext cx="2971800" cy="274320"/>
          </a:xfrm>
          <a:prstGeom prst="rect">
            <a:avLst/>
          </a:prstGeom>
          <a:noFill/>
        </p:spPr>
        <p:txBody>
          <a:bodyPr wrap="square" lIns="36576" tIns="36576" rIns="36576" bIns="36576" anchor="t">
            <a:spAutoFit/>
          </a:bodyPr>
          <a:lstStyle/>
          <a:p>
            <a:pPr algn="l"/>
            <a:r>
              <a:rPr sz="1000" b="1">
                <a:solidFill>
                  <a:srgbClr val="BC8CFF"/>
                </a:solidFill>
                <a:latin typeface="Aptos"/>
              </a:rPr>
              <a:t>05–17</a:t>
            </a:r>
          </a:p>
        </p:txBody>
      </p:sp>
      <p:sp>
        <p:nvSpPr>
          <p:cNvPr id="14" name="TextBox 13"/>
          <p:cNvSpPr txBox="1"/>
          <p:nvPr/>
        </p:nvSpPr>
        <p:spPr>
          <a:xfrm>
            <a:off x="4782312" y="2377440"/>
            <a:ext cx="2916936" cy="658368"/>
          </a:xfrm>
          <a:prstGeom prst="rect">
            <a:avLst/>
          </a:prstGeom>
          <a:noFill/>
        </p:spPr>
        <p:txBody>
          <a:bodyPr wrap="square" lIns="36576" tIns="36576" rIns="36576" bIns="36576" anchor="t">
            <a:spAutoFit/>
          </a:bodyPr>
          <a:lstStyle/>
          <a:p>
            <a:pPr algn="l"/>
            <a:r>
              <a:rPr sz="1900" b="1">
                <a:solidFill>
                  <a:srgbClr val="F0F6FC"/>
                </a:solidFill>
                <a:latin typeface="Aptos"/>
              </a:rPr>
              <a:t>August releases</a:t>
            </a:r>
          </a:p>
        </p:txBody>
      </p:sp>
      <p:sp>
        <p:nvSpPr>
          <p:cNvPr id="15" name="TextBox 14"/>
          <p:cNvSpPr txBox="1"/>
          <p:nvPr/>
        </p:nvSpPr>
        <p:spPr>
          <a:xfrm>
            <a:off x="4782312" y="3081528"/>
            <a:ext cx="2916936" cy="0"/>
          </a:xfrm>
          <a:prstGeom prst="rect">
            <a:avLst/>
          </a:prstGeom>
          <a:noFill/>
        </p:spPr>
        <p:txBody>
          <a:bodyPr wrap="square" lIns="18288" tIns="18288" rIns="18288" bIns="18288" anchor="t">
            <a:spAutoFit/>
          </a:bodyPr>
          <a:lstStyle/>
          <a:p>
            <a:pPr algn="l"/>
            <a:r>
              <a:rPr sz="1300" b="0">
                <a:solidFill>
                  <a:srgbClr val="8B949E"/>
                </a:solidFill>
                <a:latin typeface="Aptos"/>
              </a:rPr>
              <a:t>Runners, retention, reporting</a:t>
            </a:r>
          </a:p>
        </p:txBody>
      </p:sp>
      <p:sp>
        <p:nvSpPr>
          <p:cNvPr id="16" name="Rounded Rectangle 15"/>
          <p:cNvSpPr/>
          <p:nvPr/>
        </p:nvSpPr>
        <p:spPr>
          <a:xfrm>
            <a:off x="8321040" y="1783080"/>
            <a:ext cx="3429000" cy="150876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321040" y="1783080"/>
            <a:ext cx="64008" cy="1508760"/>
          </a:xfrm>
          <a:prstGeom prst="rect">
            <a:avLst/>
          </a:prstGeom>
          <a:solidFill>
            <a:srgbClr val="3FB950"/>
          </a:solidFill>
          <a:ln>
            <a:solidFill>
              <a:srgbClr val="3FB9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77072" y="2011680"/>
            <a:ext cx="2971800" cy="274320"/>
          </a:xfrm>
          <a:prstGeom prst="rect">
            <a:avLst/>
          </a:prstGeom>
          <a:noFill/>
        </p:spPr>
        <p:txBody>
          <a:bodyPr wrap="square" lIns="36576" tIns="36576" rIns="36576" bIns="36576" anchor="t">
            <a:spAutoFit/>
          </a:bodyPr>
          <a:lstStyle/>
          <a:p>
            <a:pPr algn="l"/>
            <a:r>
              <a:rPr sz="1000" b="1">
                <a:solidFill>
                  <a:srgbClr val="3FB950"/>
                </a:solidFill>
                <a:latin typeface="Aptos"/>
              </a:rPr>
              <a:t>17–29</a:t>
            </a:r>
          </a:p>
        </p:txBody>
      </p:sp>
      <p:sp>
        <p:nvSpPr>
          <p:cNvPr id="19" name="TextBox 18"/>
          <p:cNvSpPr txBox="1"/>
          <p:nvPr/>
        </p:nvSpPr>
        <p:spPr>
          <a:xfrm>
            <a:off x="8577072" y="2377440"/>
            <a:ext cx="2916936" cy="658368"/>
          </a:xfrm>
          <a:prstGeom prst="rect">
            <a:avLst/>
          </a:prstGeom>
          <a:noFill/>
        </p:spPr>
        <p:txBody>
          <a:bodyPr wrap="square" lIns="36576" tIns="36576" rIns="36576" bIns="36576" anchor="t">
            <a:spAutoFit/>
          </a:bodyPr>
          <a:lstStyle/>
          <a:p>
            <a:pPr algn="l"/>
            <a:r>
              <a:rPr sz="1900" b="1">
                <a:solidFill>
                  <a:srgbClr val="F0F6FC"/>
                </a:solidFill>
                <a:latin typeface="Aptos"/>
              </a:rPr>
              <a:t>September releases</a:t>
            </a:r>
          </a:p>
        </p:txBody>
      </p:sp>
      <p:sp>
        <p:nvSpPr>
          <p:cNvPr id="20" name="TextBox 19"/>
          <p:cNvSpPr txBox="1"/>
          <p:nvPr/>
        </p:nvSpPr>
        <p:spPr>
          <a:xfrm>
            <a:off x="8577072" y="3081528"/>
            <a:ext cx="2916936" cy="0"/>
          </a:xfrm>
          <a:prstGeom prst="rect">
            <a:avLst/>
          </a:prstGeom>
          <a:noFill/>
        </p:spPr>
        <p:txBody>
          <a:bodyPr wrap="square" lIns="18288" tIns="18288" rIns="18288" bIns="18288" anchor="t">
            <a:spAutoFit/>
          </a:bodyPr>
          <a:lstStyle/>
          <a:p>
            <a:pPr algn="l"/>
            <a:r>
              <a:rPr sz="1300" b="0">
                <a:solidFill>
                  <a:srgbClr val="8B949E"/>
                </a:solidFill>
                <a:latin typeface="Aptos"/>
              </a:rPr>
              <a:t>API, permissions, identity</a:t>
            </a:r>
          </a:p>
        </p:txBody>
      </p:sp>
      <p:sp>
        <p:nvSpPr>
          <p:cNvPr id="21" name="Rounded Rectangle 20"/>
          <p:cNvSpPr/>
          <p:nvPr/>
        </p:nvSpPr>
        <p:spPr>
          <a:xfrm>
            <a:off x="731520" y="3749039"/>
            <a:ext cx="3429000" cy="150876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31520" y="3749039"/>
            <a:ext cx="64008" cy="1508760"/>
          </a:xfrm>
          <a:prstGeom prst="rect">
            <a:avLst/>
          </a:prstGeom>
          <a:solidFill>
            <a:srgbClr val="58A6FF"/>
          </a:solidFill>
          <a:ln>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87552" y="3977639"/>
            <a:ext cx="2971800" cy="274320"/>
          </a:xfrm>
          <a:prstGeom prst="rect">
            <a:avLst/>
          </a:prstGeom>
          <a:noFill/>
        </p:spPr>
        <p:txBody>
          <a:bodyPr wrap="square" lIns="36576" tIns="36576" rIns="36576" bIns="36576" anchor="t">
            <a:spAutoFit/>
          </a:bodyPr>
          <a:lstStyle/>
          <a:p>
            <a:pPr algn="l"/>
            <a:r>
              <a:rPr sz="1000" b="1">
                <a:solidFill>
                  <a:srgbClr val="58A6FF"/>
                </a:solidFill>
                <a:latin typeface="Aptos"/>
              </a:rPr>
              <a:t>29–40</a:t>
            </a:r>
          </a:p>
        </p:txBody>
      </p:sp>
      <p:sp>
        <p:nvSpPr>
          <p:cNvPr id="24" name="TextBox 23"/>
          <p:cNvSpPr txBox="1"/>
          <p:nvPr/>
        </p:nvSpPr>
        <p:spPr>
          <a:xfrm>
            <a:off x="987552" y="4343400"/>
            <a:ext cx="2916936" cy="658368"/>
          </a:xfrm>
          <a:prstGeom prst="rect">
            <a:avLst/>
          </a:prstGeom>
          <a:noFill/>
        </p:spPr>
        <p:txBody>
          <a:bodyPr wrap="square" lIns="36576" tIns="36576" rIns="36576" bIns="36576" anchor="t">
            <a:spAutoFit/>
          </a:bodyPr>
          <a:lstStyle/>
          <a:p>
            <a:pPr algn="l"/>
            <a:r>
              <a:rPr sz="1900" b="1">
                <a:solidFill>
                  <a:srgbClr val="F0F6FC"/>
                </a:solidFill>
                <a:latin typeface="Aptos"/>
              </a:rPr>
              <a:t>Three demos</a:t>
            </a:r>
          </a:p>
        </p:txBody>
      </p:sp>
      <p:sp>
        <p:nvSpPr>
          <p:cNvPr id="25" name="TextBox 24"/>
          <p:cNvSpPr txBox="1"/>
          <p:nvPr/>
        </p:nvSpPr>
        <p:spPr>
          <a:xfrm>
            <a:off x="987552" y="5047488"/>
            <a:ext cx="2916936" cy="0"/>
          </a:xfrm>
          <a:prstGeom prst="rect">
            <a:avLst/>
          </a:prstGeom>
          <a:noFill/>
        </p:spPr>
        <p:txBody>
          <a:bodyPr wrap="square" lIns="18288" tIns="18288" rIns="18288" bIns="18288" anchor="t">
            <a:spAutoFit/>
          </a:bodyPr>
          <a:lstStyle/>
          <a:p>
            <a:pPr algn="l"/>
            <a:r>
              <a:rPr sz="1300" b="0">
                <a:solidFill>
                  <a:srgbClr val="8B949E"/>
                </a:solidFill>
                <a:latin typeface="Aptos"/>
              </a:rPr>
              <a:t>Small YAML, visible result</a:t>
            </a:r>
          </a:p>
        </p:txBody>
      </p:sp>
      <p:sp>
        <p:nvSpPr>
          <p:cNvPr id="26" name="Rounded Rectangle 25"/>
          <p:cNvSpPr/>
          <p:nvPr/>
        </p:nvSpPr>
        <p:spPr>
          <a:xfrm>
            <a:off x="4526280" y="3749039"/>
            <a:ext cx="3429000" cy="150876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526280" y="3749039"/>
            <a:ext cx="64008" cy="1508760"/>
          </a:xfrm>
          <a:prstGeom prst="rect">
            <a:avLst/>
          </a:prstGeom>
          <a:solidFill>
            <a:srgbClr val="BC8CFF"/>
          </a:solidFill>
          <a:ln>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782312" y="3977639"/>
            <a:ext cx="2971800" cy="274320"/>
          </a:xfrm>
          <a:prstGeom prst="rect">
            <a:avLst/>
          </a:prstGeom>
          <a:noFill/>
        </p:spPr>
        <p:txBody>
          <a:bodyPr wrap="square" lIns="36576" tIns="36576" rIns="36576" bIns="36576" anchor="t">
            <a:spAutoFit/>
          </a:bodyPr>
          <a:lstStyle/>
          <a:p>
            <a:pPr algn="l"/>
            <a:r>
              <a:rPr sz="1000" b="1">
                <a:solidFill>
                  <a:srgbClr val="BC8CFF"/>
                </a:solidFill>
                <a:latin typeface="Aptos"/>
              </a:rPr>
              <a:t>40–45</a:t>
            </a:r>
          </a:p>
        </p:txBody>
      </p:sp>
      <p:sp>
        <p:nvSpPr>
          <p:cNvPr id="29" name="TextBox 28"/>
          <p:cNvSpPr txBox="1"/>
          <p:nvPr/>
        </p:nvSpPr>
        <p:spPr>
          <a:xfrm>
            <a:off x="4782312" y="4343400"/>
            <a:ext cx="2916936" cy="658368"/>
          </a:xfrm>
          <a:prstGeom prst="rect">
            <a:avLst/>
          </a:prstGeom>
          <a:noFill/>
        </p:spPr>
        <p:txBody>
          <a:bodyPr wrap="square" lIns="36576" tIns="36576" rIns="36576" bIns="36576" anchor="t">
            <a:spAutoFit/>
          </a:bodyPr>
          <a:lstStyle/>
          <a:p>
            <a:pPr algn="l"/>
            <a:r>
              <a:rPr sz="1900" b="1">
                <a:solidFill>
                  <a:srgbClr val="F0F6FC"/>
                </a:solidFill>
                <a:latin typeface="Aptos"/>
              </a:rPr>
              <a:t>Performance tips</a:t>
            </a:r>
          </a:p>
        </p:txBody>
      </p:sp>
      <p:sp>
        <p:nvSpPr>
          <p:cNvPr id="30" name="TextBox 29"/>
          <p:cNvSpPr txBox="1"/>
          <p:nvPr/>
        </p:nvSpPr>
        <p:spPr>
          <a:xfrm>
            <a:off x="4782312" y="5047488"/>
            <a:ext cx="2916936" cy="0"/>
          </a:xfrm>
          <a:prstGeom prst="rect">
            <a:avLst/>
          </a:prstGeom>
          <a:noFill/>
        </p:spPr>
        <p:txBody>
          <a:bodyPr wrap="square" lIns="18288" tIns="18288" rIns="18288" bIns="18288" anchor="t">
            <a:spAutoFit/>
          </a:bodyPr>
          <a:lstStyle/>
          <a:p>
            <a:pPr algn="l"/>
            <a:r>
              <a:rPr sz="1300" b="0">
                <a:solidFill>
                  <a:srgbClr val="8B949E"/>
                </a:solidFill>
                <a:latin typeface="Aptos"/>
              </a:rPr>
              <a:t>Five high-leverage moves</a:t>
            </a:r>
          </a:p>
        </p:txBody>
      </p:sp>
      <p:sp>
        <p:nvSpPr>
          <p:cNvPr id="31" name="Rounded Rectangle 30"/>
          <p:cNvSpPr/>
          <p:nvPr/>
        </p:nvSpPr>
        <p:spPr>
          <a:xfrm>
            <a:off x="8321040" y="3749039"/>
            <a:ext cx="3429000" cy="150876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321040" y="3749039"/>
            <a:ext cx="64008" cy="1508760"/>
          </a:xfrm>
          <a:prstGeom prst="rect">
            <a:avLst/>
          </a:prstGeom>
          <a:solidFill>
            <a:srgbClr val="3FB950"/>
          </a:solidFill>
          <a:ln>
            <a:solidFill>
              <a:srgbClr val="3FB9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577072" y="3977639"/>
            <a:ext cx="2971800" cy="274320"/>
          </a:xfrm>
          <a:prstGeom prst="rect">
            <a:avLst/>
          </a:prstGeom>
          <a:noFill/>
        </p:spPr>
        <p:txBody>
          <a:bodyPr wrap="square" lIns="36576" tIns="36576" rIns="36576" bIns="36576" anchor="t">
            <a:spAutoFit/>
          </a:bodyPr>
          <a:lstStyle/>
          <a:p>
            <a:pPr algn="l"/>
            <a:r>
              <a:rPr sz="1000" b="1">
                <a:solidFill>
                  <a:srgbClr val="3FB950"/>
                </a:solidFill>
                <a:latin typeface="Aptos"/>
              </a:rPr>
              <a:t>45–60</a:t>
            </a:r>
          </a:p>
        </p:txBody>
      </p:sp>
      <p:sp>
        <p:nvSpPr>
          <p:cNvPr id="34" name="TextBox 33"/>
          <p:cNvSpPr txBox="1"/>
          <p:nvPr/>
        </p:nvSpPr>
        <p:spPr>
          <a:xfrm>
            <a:off x="8577072" y="4343400"/>
            <a:ext cx="2916936" cy="658368"/>
          </a:xfrm>
          <a:prstGeom prst="rect">
            <a:avLst/>
          </a:prstGeom>
          <a:noFill/>
        </p:spPr>
        <p:txBody>
          <a:bodyPr wrap="square" lIns="36576" tIns="36576" rIns="36576" bIns="36576" anchor="t">
            <a:spAutoFit/>
          </a:bodyPr>
          <a:lstStyle/>
          <a:p>
            <a:pPr algn="l"/>
            <a:r>
              <a:rPr sz="1900" b="1">
                <a:solidFill>
                  <a:srgbClr val="F0F6FC"/>
                </a:solidFill>
                <a:latin typeface="Aptos"/>
              </a:rPr>
              <a:t>Q&amp;A</a:t>
            </a:r>
          </a:p>
        </p:txBody>
      </p:sp>
      <p:sp>
        <p:nvSpPr>
          <p:cNvPr id="35" name="TextBox 34"/>
          <p:cNvSpPr txBox="1"/>
          <p:nvPr/>
        </p:nvSpPr>
        <p:spPr>
          <a:xfrm>
            <a:off x="8577072" y="5047488"/>
            <a:ext cx="2916936" cy="0"/>
          </a:xfrm>
          <a:prstGeom prst="rect">
            <a:avLst/>
          </a:prstGeom>
          <a:noFill/>
        </p:spPr>
        <p:txBody>
          <a:bodyPr wrap="square" lIns="18288" tIns="18288" rIns="18288" bIns="18288" anchor="t">
            <a:spAutoFit/>
          </a:bodyPr>
          <a:lstStyle/>
          <a:p>
            <a:pPr algn="l"/>
            <a:r>
              <a:rPr sz="1300" b="0">
                <a:solidFill>
                  <a:srgbClr val="8B949E"/>
                </a:solidFill>
                <a:latin typeface="Aptos"/>
              </a:rPr>
              <a:t>Your workflows and constraints</a:t>
            </a:r>
          </a:p>
        </p:txBody>
      </p:sp>
      <p:sp>
        <p:nvSpPr>
          <p:cNvPr id="36" name="TextBox 35"/>
          <p:cNvSpPr txBox="1"/>
          <p:nvPr/>
        </p:nvSpPr>
        <p:spPr>
          <a:xfrm>
            <a:off x="640080" y="6519672"/>
            <a:ext cx="5852160" cy="182880"/>
          </a:xfrm>
          <a:prstGeom prst="rect">
            <a:avLst/>
          </a:prstGeom>
          <a:noFill/>
        </p:spPr>
        <p:txBody>
          <a:bodyPr wrap="square" lIns="36576" tIns="36576" rIns="36576" bIns="36576" anchor="t">
            <a:spAutoFit/>
          </a:bodyPr>
          <a:lstStyle/>
          <a:p>
            <a:pPr algn="l"/>
            <a:r>
              <a:rPr sz="900" b="0">
                <a:solidFill>
                  <a:srgbClr val="8B949E"/>
                </a:solidFill>
                <a:latin typeface="Aptos"/>
              </a:rPr>
              <a:t>GitHub Actions Office Hour · Sep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640080" y="292608"/>
            <a:ext cx="6400800" cy="274320"/>
          </a:xfrm>
          <a:prstGeom prst="rect">
            <a:avLst/>
          </a:prstGeom>
          <a:noFill/>
        </p:spPr>
        <p:txBody>
          <a:bodyPr wrap="square" lIns="36576" tIns="36576" rIns="36576" bIns="36576" anchor="t">
            <a:spAutoFit/>
          </a:bodyPr>
          <a:lstStyle/>
          <a:p>
            <a:pPr algn="l"/>
            <a:r>
              <a:rPr sz="1100" b="1">
                <a:solidFill>
                  <a:srgbClr val="58A6FF"/>
                </a:solidFill>
                <a:latin typeface="Aptos"/>
              </a:rPr>
              <a:t>EXECUTIVE SUMMARY</a:t>
            </a:r>
          </a:p>
        </p:txBody>
      </p:sp>
      <p:sp>
        <p:nvSpPr>
          <p:cNvPr id="3" name="TextBox 2"/>
          <p:cNvSpPr txBox="1"/>
          <p:nvPr/>
        </p:nvSpPr>
        <p:spPr>
          <a:xfrm>
            <a:off x="640080" y="667512"/>
            <a:ext cx="10789920" cy="658368"/>
          </a:xfrm>
          <a:prstGeom prst="rect">
            <a:avLst/>
          </a:prstGeom>
          <a:noFill/>
        </p:spPr>
        <p:txBody>
          <a:bodyPr wrap="square" lIns="36576" tIns="36576" rIns="36576" bIns="36576" anchor="t">
            <a:spAutoFit/>
          </a:bodyPr>
          <a:lstStyle/>
          <a:p>
            <a:pPr algn="l"/>
            <a:r>
              <a:rPr sz="3000" b="1">
                <a:solidFill>
                  <a:srgbClr val="F0F6FC"/>
                </a:solidFill>
                <a:latin typeface="Aptos"/>
              </a:rPr>
              <a:t>The release theme: know more, grant less</a:t>
            </a:r>
          </a:p>
        </p:txBody>
      </p:sp>
      <p:sp>
        <p:nvSpPr>
          <p:cNvPr id="4" name="Rectangle 3"/>
          <p:cNvSpPr/>
          <p:nvPr/>
        </p:nvSpPr>
        <p:spPr>
          <a:xfrm>
            <a:off x="640080" y="1417320"/>
            <a:ext cx="914400" cy="45720"/>
          </a:xfrm>
          <a:prstGeom prst="rect">
            <a:avLst/>
          </a:prstGeom>
          <a:solidFill>
            <a:srgbClr val="BC8CFF"/>
          </a:solidFill>
          <a:ln>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310896"/>
            <a:ext cx="457200" cy="274320"/>
          </a:xfrm>
          <a:prstGeom prst="rect">
            <a:avLst/>
          </a:prstGeom>
          <a:noFill/>
        </p:spPr>
        <p:txBody>
          <a:bodyPr wrap="square" lIns="36576" tIns="36576" rIns="36576" bIns="36576" anchor="t">
            <a:spAutoFit/>
          </a:bodyPr>
          <a:lstStyle/>
          <a:p>
            <a:pPr algn="r"/>
            <a:r>
              <a:rPr sz="1100" b="1">
                <a:solidFill>
                  <a:srgbClr val="8B949E"/>
                </a:solidFill>
                <a:latin typeface="Aptos"/>
              </a:rPr>
              <a:t>03</a:t>
            </a:r>
          </a:p>
        </p:txBody>
      </p:sp>
      <p:sp>
        <p:nvSpPr>
          <p:cNvPr id="6" name="Rounded Rectangle 5"/>
          <p:cNvSpPr/>
          <p:nvPr/>
        </p:nvSpPr>
        <p:spPr>
          <a:xfrm>
            <a:off x="731520" y="1783080"/>
            <a:ext cx="3429000" cy="347472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783080"/>
            <a:ext cx="64008" cy="3474720"/>
          </a:xfrm>
          <a:prstGeom prst="rect">
            <a:avLst/>
          </a:prstGeom>
          <a:solidFill>
            <a:srgbClr val="58A6FF"/>
          </a:solidFill>
          <a:ln>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2011680"/>
            <a:ext cx="2971800" cy="274320"/>
          </a:xfrm>
          <a:prstGeom prst="rect">
            <a:avLst/>
          </a:prstGeom>
          <a:noFill/>
        </p:spPr>
        <p:txBody>
          <a:bodyPr wrap="square" lIns="36576" tIns="36576" rIns="36576" bIns="36576" anchor="t">
            <a:spAutoFit/>
          </a:bodyPr>
          <a:lstStyle/>
          <a:p>
            <a:pPr algn="l"/>
            <a:r>
              <a:rPr sz="1000" b="1">
                <a:solidFill>
                  <a:srgbClr val="58A6FF"/>
                </a:solidFill>
                <a:latin typeface="Aptos"/>
              </a:rPr>
              <a:t>OBSERVE</a:t>
            </a:r>
          </a:p>
        </p:txBody>
      </p:sp>
      <p:sp>
        <p:nvSpPr>
          <p:cNvPr id="9" name="TextBox 8"/>
          <p:cNvSpPr txBox="1"/>
          <p:nvPr/>
        </p:nvSpPr>
        <p:spPr>
          <a:xfrm>
            <a:off x="987552" y="2377440"/>
            <a:ext cx="2916936" cy="658368"/>
          </a:xfrm>
          <a:prstGeom prst="rect">
            <a:avLst/>
          </a:prstGeom>
          <a:noFill/>
        </p:spPr>
        <p:txBody>
          <a:bodyPr wrap="square" lIns="36576" tIns="36576" rIns="36576" bIns="36576" anchor="t">
            <a:spAutoFit/>
          </a:bodyPr>
          <a:lstStyle/>
          <a:p>
            <a:pPr algn="l"/>
            <a:r>
              <a:rPr sz="1900" b="1">
                <a:solidFill>
                  <a:srgbClr val="F0F6FC"/>
                </a:solidFill>
                <a:latin typeface="Aptos"/>
              </a:rPr>
              <a:t>More identity</a:t>
            </a:r>
          </a:p>
        </p:txBody>
      </p:sp>
      <p:sp>
        <p:nvSpPr>
          <p:cNvPr id="10" name="TextBox 9"/>
          <p:cNvSpPr txBox="1"/>
          <p:nvPr/>
        </p:nvSpPr>
        <p:spPr>
          <a:xfrm>
            <a:off x="987552" y="3081528"/>
            <a:ext cx="2916936" cy="1956815"/>
          </a:xfrm>
          <a:prstGeom prst="rect">
            <a:avLst/>
          </a:prstGeom>
          <a:noFill/>
        </p:spPr>
        <p:txBody>
          <a:bodyPr wrap="square" lIns="18288" tIns="18288" rIns="18288" bIns="18288" anchor="t">
            <a:spAutoFit/>
          </a:bodyPr>
          <a:lstStyle/>
          <a:p>
            <a:pPr algn="l"/>
            <a:r>
              <a:rPr sz="1300" b="0">
                <a:solidFill>
                  <a:srgbClr val="8B949E"/>
                </a:solidFill>
                <a:latin typeface="Aptos"/>
              </a:rPr>
              <a:t>Reusable jobs can identify the exact workflow file, repository, ref, and SHA that defined them.</a:t>
            </a:r>
          </a:p>
        </p:txBody>
      </p:sp>
      <p:sp>
        <p:nvSpPr>
          <p:cNvPr id="11" name="Rounded Rectangle 10"/>
          <p:cNvSpPr/>
          <p:nvPr/>
        </p:nvSpPr>
        <p:spPr>
          <a:xfrm>
            <a:off x="4389120" y="1783080"/>
            <a:ext cx="3429000" cy="347472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1783080"/>
            <a:ext cx="64008" cy="3474720"/>
          </a:xfrm>
          <a:prstGeom prst="rect">
            <a:avLst/>
          </a:prstGeom>
          <a:solidFill>
            <a:srgbClr val="BC8CFF"/>
          </a:solidFill>
          <a:ln>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45152" y="2011680"/>
            <a:ext cx="2971800" cy="274320"/>
          </a:xfrm>
          <a:prstGeom prst="rect">
            <a:avLst/>
          </a:prstGeom>
          <a:noFill/>
        </p:spPr>
        <p:txBody>
          <a:bodyPr wrap="square" lIns="36576" tIns="36576" rIns="36576" bIns="36576" anchor="t">
            <a:spAutoFit/>
          </a:bodyPr>
          <a:lstStyle/>
          <a:p>
            <a:pPr algn="l"/>
            <a:r>
              <a:rPr sz="1000" b="1">
                <a:solidFill>
                  <a:srgbClr val="BC8CFF"/>
                </a:solidFill>
                <a:latin typeface="Aptos"/>
              </a:rPr>
              <a:t>CONTROL</a:t>
            </a:r>
          </a:p>
        </p:txBody>
      </p:sp>
      <p:sp>
        <p:nvSpPr>
          <p:cNvPr id="14" name="TextBox 13"/>
          <p:cNvSpPr txBox="1"/>
          <p:nvPr/>
        </p:nvSpPr>
        <p:spPr>
          <a:xfrm>
            <a:off x="4645152" y="2377440"/>
            <a:ext cx="2916936" cy="658368"/>
          </a:xfrm>
          <a:prstGeom prst="rect">
            <a:avLst/>
          </a:prstGeom>
          <a:noFill/>
        </p:spPr>
        <p:txBody>
          <a:bodyPr wrap="square" lIns="36576" tIns="36576" rIns="36576" bIns="36576" anchor="t">
            <a:spAutoFit/>
          </a:bodyPr>
          <a:lstStyle/>
          <a:p>
            <a:pPr algn="l"/>
            <a:r>
              <a:rPr sz="1900" b="1">
                <a:solidFill>
                  <a:srgbClr val="F0F6FC"/>
                </a:solidFill>
                <a:latin typeface="Aptos"/>
              </a:rPr>
              <a:t>Less privilege</a:t>
            </a:r>
          </a:p>
        </p:txBody>
      </p:sp>
      <p:sp>
        <p:nvSpPr>
          <p:cNvPr id="15" name="TextBox 14"/>
          <p:cNvSpPr txBox="1"/>
          <p:nvPr/>
        </p:nvSpPr>
        <p:spPr>
          <a:xfrm>
            <a:off x="4645152" y="3081528"/>
            <a:ext cx="2916936" cy="1956815"/>
          </a:xfrm>
          <a:prstGeom prst="rect">
            <a:avLst/>
          </a:prstGeom>
          <a:noFill/>
        </p:spPr>
        <p:txBody>
          <a:bodyPr wrap="square" lIns="18288" tIns="18288" rIns="18288" bIns="18288" anchor="t">
            <a:spAutoFit/>
          </a:bodyPr>
          <a:lstStyle/>
          <a:p>
            <a:pPr algn="l"/>
            <a:r>
              <a:rPr sz="1300" b="0">
                <a:solidFill>
                  <a:srgbClr val="8B949E"/>
                </a:solidFill>
                <a:latin typeface="Aptos"/>
              </a:rPr>
              <a:t>GITHUB_TOKEN can read Dependabot alerts through a narrow, purpose-built permission.</a:t>
            </a:r>
          </a:p>
        </p:txBody>
      </p:sp>
      <p:sp>
        <p:nvSpPr>
          <p:cNvPr id="16" name="Rounded Rectangle 15"/>
          <p:cNvSpPr/>
          <p:nvPr/>
        </p:nvSpPr>
        <p:spPr>
          <a:xfrm>
            <a:off x="8046720" y="1783080"/>
            <a:ext cx="3429000" cy="347472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46720" y="1783080"/>
            <a:ext cx="64008" cy="3474720"/>
          </a:xfrm>
          <a:prstGeom prst="rect">
            <a:avLst/>
          </a:prstGeom>
          <a:solidFill>
            <a:srgbClr val="3FB950"/>
          </a:solidFill>
          <a:ln>
            <a:solidFill>
              <a:srgbClr val="3FB9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02752" y="2011680"/>
            <a:ext cx="2971800" cy="274320"/>
          </a:xfrm>
          <a:prstGeom prst="rect">
            <a:avLst/>
          </a:prstGeom>
          <a:noFill/>
        </p:spPr>
        <p:txBody>
          <a:bodyPr wrap="square" lIns="36576" tIns="36576" rIns="36576" bIns="36576" anchor="t">
            <a:spAutoFit/>
          </a:bodyPr>
          <a:lstStyle/>
          <a:p>
            <a:pPr algn="l"/>
            <a:r>
              <a:rPr sz="1000" b="1">
                <a:solidFill>
                  <a:srgbClr val="3FB950"/>
                </a:solidFill>
                <a:latin typeface="Aptos"/>
              </a:rPr>
              <a:t>OPERATE</a:t>
            </a:r>
          </a:p>
        </p:txBody>
      </p:sp>
      <p:sp>
        <p:nvSpPr>
          <p:cNvPr id="19" name="TextBox 18"/>
          <p:cNvSpPr txBox="1"/>
          <p:nvPr/>
        </p:nvSpPr>
        <p:spPr>
          <a:xfrm>
            <a:off x="8302752" y="2377440"/>
            <a:ext cx="2916936" cy="658368"/>
          </a:xfrm>
          <a:prstGeom prst="rect">
            <a:avLst/>
          </a:prstGeom>
          <a:noFill/>
        </p:spPr>
        <p:txBody>
          <a:bodyPr wrap="square" lIns="36576" tIns="36576" rIns="36576" bIns="36576" anchor="t">
            <a:spAutoFit/>
          </a:bodyPr>
          <a:lstStyle/>
          <a:p>
            <a:pPr algn="l"/>
            <a:r>
              <a:rPr sz="1900" b="1">
                <a:solidFill>
                  <a:srgbClr val="F0F6FC"/>
                </a:solidFill>
                <a:latin typeface="Aptos"/>
              </a:rPr>
              <a:t>Clearer lifecycle</a:t>
            </a:r>
          </a:p>
        </p:txBody>
      </p:sp>
      <p:sp>
        <p:nvSpPr>
          <p:cNvPr id="20" name="TextBox 19"/>
          <p:cNvSpPr txBox="1"/>
          <p:nvPr/>
        </p:nvSpPr>
        <p:spPr>
          <a:xfrm>
            <a:off x="8302752" y="3081528"/>
            <a:ext cx="2916936" cy="1956815"/>
          </a:xfrm>
          <a:prstGeom prst="rect">
            <a:avLst/>
          </a:prstGeom>
          <a:noFill/>
        </p:spPr>
        <p:txBody>
          <a:bodyPr wrap="square" lIns="18288" tIns="18288" rIns="18288" bIns="18288" anchor="t">
            <a:spAutoFit/>
          </a:bodyPr>
          <a:lstStyle/>
          <a:p>
            <a:pPr algn="l"/>
            <a:r>
              <a:rPr sz="1300" b="0">
                <a:solidFill>
                  <a:srgbClr val="8B949E"/>
                </a:solidFill>
                <a:latin typeface="Aptos"/>
              </a:rPr>
              <a:t>Runner deprecation dates, broader retention rules, and cleaner Code Quality attribution reduce surprises.</a:t>
            </a:r>
          </a:p>
        </p:txBody>
      </p:sp>
      <p:sp>
        <p:nvSpPr>
          <p:cNvPr id="21" name="TextBox 20"/>
          <p:cNvSpPr txBox="1"/>
          <p:nvPr/>
        </p:nvSpPr>
        <p:spPr>
          <a:xfrm>
            <a:off x="1005840" y="5806440"/>
            <a:ext cx="10149840" cy="411480"/>
          </a:xfrm>
          <a:prstGeom prst="rect">
            <a:avLst/>
          </a:prstGeom>
          <a:noFill/>
        </p:spPr>
        <p:txBody>
          <a:bodyPr wrap="square" lIns="36576" tIns="36576" rIns="36576" bIns="36576" anchor="t">
            <a:spAutoFit/>
          </a:bodyPr>
          <a:lstStyle/>
          <a:p>
            <a:pPr algn="ctr"/>
            <a:r>
              <a:rPr sz="2000" b="1">
                <a:solidFill>
                  <a:srgbClr val="F0F6FC"/>
                </a:solidFill>
                <a:latin typeface="Aptos"/>
              </a:rPr>
              <a:t>The practical outcome: safer reusable automation with better operational signals.</a:t>
            </a:r>
          </a:p>
        </p:txBody>
      </p:sp>
      <p:sp>
        <p:nvSpPr>
          <p:cNvPr id="22" name="TextBox 21"/>
          <p:cNvSpPr txBox="1"/>
          <p:nvPr/>
        </p:nvSpPr>
        <p:spPr>
          <a:xfrm>
            <a:off x="640080" y="6519672"/>
            <a:ext cx="5852160" cy="182880"/>
          </a:xfrm>
          <a:prstGeom prst="rect">
            <a:avLst/>
          </a:prstGeom>
          <a:noFill/>
        </p:spPr>
        <p:txBody>
          <a:bodyPr wrap="square" lIns="36576" tIns="36576" rIns="36576" bIns="36576" anchor="t">
            <a:spAutoFit/>
          </a:bodyPr>
          <a:lstStyle/>
          <a:p>
            <a:pPr algn="l"/>
            <a:r>
              <a:rPr sz="900" b="0">
                <a:solidFill>
                  <a:srgbClr val="8B949E"/>
                </a:solidFill>
                <a:latin typeface="Aptos"/>
              </a:rPr>
              <a:t>GitHub Actions Office Hour · Sep 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640080" y="292608"/>
            <a:ext cx="6400800" cy="274320"/>
          </a:xfrm>
          <a:prstGeom prst="rect">
            <a:avLst/>
          </a:prstGeom>
          <a:noFill/>
        </p:spPr>
        <p:txBody>
          <a:bodyPr wrap="square" lIns="36576" tIns="36576" rIns="36576" bIns="36576" anchor="t">
            <a:spAutoFit/>
          </a:bodyPr>
          <a:lstStyle/>
          <a:p>
            <a:pPr algn="l"/>
            <a:r>
              <a:rPr sz="1100" b="1">
                <a:solidFill>
                  <a:srgbClr val="58A6FF"/>
                </a:solidFill>
                <a:latin typeface="Aptos"/>
              </a:rPr>
              <a:t>RELEASE TIMELINE</a:t>
            </a:r>
          </a:p>
        </p:txBody>
      </p:sp>
      <p:sp>
        <p:nvSpPr>
          <p:cNvPr id="3" name="TextBox 2"/>
          <p:cNvSpPr txBox="1"/>
          <p:nvPr/>
        </p:nvSpPr>
        <p:spPr>
          <a:xfrm>
            <a:off x="640080" y="667512"/>
            <a:ext cx="10789920" cy="658368"/>
          </a:xfrm>
          <a:prstGeom prst="rect">
            <a:avLst/>
          </a:prstGeom>
          <a:noFill/>
        </p:spPr>
        <p:txBody>
          <a:bodyPr wrap="square" lIns="36576" tIns="36576" rIns="36576" bIns="36576" anchor="t">
            <a:spAutoFit/>
          </a:bodyPr>
          <a:lstStyle/>
          <a:p>
            <a:pPr algn="l"/>
            <a:r>
              <a:rPr sz="3000" b="1">
                <a:solidFill>
                  <a:srgbClr val="F0F6FC"/>
                </a:solidFill>
                <a:latin typeface="Aptos"/>
              </a:rPr>
              <a:t>August: three operational changes</a:t>
            </a:r>
          </a:p>
        </p:txBody>
      </p:sp>
      <p:sp>
        <p:nvSpPr>
          <p:cNvPr id="4" name="Rectangle 3"/>
          <p:cNvSpPr/>
          <p:nvPr/>
        </p:nvSpPr>
        <p:spPr>
          <a:xfrm>
            <a:off x="640080" y="1417320"/>
            <a:ext cx="914400" cy="45720"/>
          </a:xfrm>
          <a:prstGeom prst="rect">
            <a:avLst/>
          </a:prstGeom>
          <a:solidFill>
            <a:srgbClr val="BC8CFF"/>
          </a:solidFill>
          <a:ln>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310896"/>
            <a:ext cx="457200" cy="274320"/>
          </a:xfrm>
          <a:prstGeom prst="rect">
            <a:avLst/>
          </a:prstGeom>
          <a:noFill/>
        </p:spPr>
        <p:txBody>
          <a:bodyPr wrap="square" lIns="36576" tIns="36576" rIns="36576" bIns="36576" anchor="t">
            <a:spAutoFit/>
          </a:bodyPr>
          <a:lstStyle/>
          <a:p>
            <a:pPr algn="r"/>
            <a:r>
              <a:rPr sz="1100" b="1">
                <a:solidFill>
                  <a:srgbClr val="8B949E"/>
                </a:solidFill>
                <a:latin typeface="Aptos"/>
              </a:rPr>
              <a:t>04</a:t>
            </a:r>
          </a:p>
        </p:txBody>
      </p:sp>
      <p:sp>
        <p:nvSpPr>
          <p:cNvPr id="6" name="Rounded Rectangle 5"/>
          <p:cNvSpPr/>
          <p:nvPr/>
        </p:nvSpPr>
        <p:spPr>
          <a:xfrm>
            <a:off x="822960" y="1783080"/>
            <a:ext cx="1188720" cy="502920"/>
          </a:xfrm>
          <a:prstGeom prst="roundRect">
            <a:avLst/>
          </a:prstGeom>
          <a:solidFill>
            <a:srgbClr val="3FB950"/>
          </a:solidFill>
          <a:ln>
            <a:solidFill>
              <a:srgbClr val="3FB9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892807"/>
            <a:ext cx="1188720" cy="256032"/>
          </a:xfrm>
          <a:prstGeom prst="rect">
            <a:avLst/>
          </a:prstGeom>
          <a:noFill/>
        </p:spPr>
        <p:txBody>
          <a:bodyPr wrap="square" lIns="36576" tIns="36576" rIns="36576" bIns="36576" anchor="t">
            <a:spAutoFit/>
          </a:bodyPr>
          <a:lstStyle/>
          <a:p>
            <a:pPr algn="ctr"/>
            <a:r>
              <a:rPr sz="1200" b="1">
                <a:solidFill>
                  <a:srgbClr val="0D1117"/>
                </a:solidFill>
                <a:latin typeface="Aptos"/>
              </a:rPr>
              <a:t>AUG 20</a:t>
            </a:r>
          </a:p>
        </p:txBody>
      </p:sp>
      <p:sp>
        <p:nvSpPr>
          <p:cNvPr id="8" name="Rectangle 7"/>
          <p:cNvSpPr/>
          <p:nvPr/>
        </p:nvSpPr>
        <p:spPr>
          <a:xfrm>
            <a:off x="2331720" y="2011680"/>
            <a:ext cx="457200" cy="45720"/>
          </a:xfrm>
          <a:prstGeom prst="rect">
            <a:avLst/>
          </a:prstGeom>
          <a:solidFill>
            <a:srgbClr val="21262D"/>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71800" y="1764792"/>
            <a:ext cx="4389120" cy="384048"/>
          </a:xfrm>
          <a:prstGeom prst="rect">
            <a:avLst/>
          </a:prstGeom>
          <a:noFill/>
        </p:spPr>
        <p:txBody>
          <a:bodyPr wrap="square" lIns="36576" tIns="36576" rIns="36576" bIns="36576" anchor="t">
            <a:spAutoFit/>
          </a:bodyPr>
          <a:lstStyle/>
          <a:p>
            <a:pPr algn="l"/>
            <a:r>
              <a:rPr sz="2100" b="1">
                <a:solidFill>
                  <a:srgbClr val="F0F6FC"/>
                </a:solidFill>
                <a:latin typeface="Aptos"/>
              </a:rPr>
              <a:t>Windows 11 Arm64 + VS 2026</a:t>
            </a:r>
          </a:p>
        </p:txBody>
      </p:sp>
      <p:sp>
        <p:nvSpPr>
          <p:cNvPr id="10" name="TextBox 9"/>
          <p:cNvSpPr txBox="1"/>
          <p:nvPr/>
        </p:nvSpPr>
        <p:spPr>
          <a:xfrm>
            <a:off x="2971800" y="2212848"/>
            <a:ext cx="7040880" cy="320040"/>
          </a:xfrm>
          <a:prstGeom prst="rect">
            <a:avLst/>
          </a:prstGeom>
          <a:noFill/>
        </p:spPr>
        <p:txBody>
          <a:bodyPr wrap="square" lIns="36576" tIns="36576" rIns="36576" bIns="36576" anchor="t">
            <a:spAutoFit/>
          </a:bodyPr>
          <a:lstStyle/>
          <a:p>
            <a:pPr algn="l"/>
            <a:r>
              <a:rPr sz="1500" b="0">
                <a:solidFill>
                  <a:srgbClr val="8B949E"/>
                </a:solidFill>
                <a:latin typeface="Aptos"/>
              </a:rPr>
              <a:t>GA image and migration path</a:t>
            </a:r>
          </a:p>
        </p:txBody>
      </p:sp>
      <p:sp>
        <p:nvSpPr>
          <p:cNvPr id="11" name="Rounded Rectangle 10"/>
          <p:cNvSpPr/>
          <p:nvPr/>
        </p:nvSpPr>
        <p:spPr>
          <a:xfrm>
            <a:off x="822960" y="3108960"/>
            <a:ext cx="1188720" cy="502920"/>
          </a:xfrm>
          <a:prstGeom prst="roundRect">
            <a:avLst/>
          </a:prstGeom>
          <a:solidFill>
            <a:srgbClr val="58A6FF"/>
          </a:solidFill>
          <a:ln>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3218688"/>
            <a:ext cx="1188720" cy="256032"/>
          </a:xfrm>
          <a:prstGeom prst="rect">
            <a:avLst/>
          </a:prstGeom>
          <a:noFill/>
        </p:spPr>
        <p:txBody>
          <a:bodyPr wrap="square" lIns="36576" tIns="36576" rIns="36576" bIns="36576" anchor="t">
            <a:spAutoFit/>
          </a:bodyPr>
          <a:lstStyle/>
          <a:p>
            <a:pPr algn="ctr"/>
            <a:r>
              <a:rPr sz="1200" b="1">
                <a:solidFill>
                  <a:srgbClr val="0D1117"/>
                </a:solidFill>
                <a:latin typeface="Aptos"/>
              </a:rPr>
              <a:t>AUG 20</a:t>
            </a:r>
          </a:p>
        </p:txBody>
      </p:sp>
      <p:sp>
        <p:nvSpPr>
          <p:cNvPr id="13" name="Rectangle 12"/>
          <p:cNvSpPr/>
          <p:nvPr/>
        </p:nvSpPr>
        <p:spPr>
          <a:xfrm>
            <a:off x="2331720" y="3337560"/>
            <a:ext cx="457200" cy="45720"/>
          </a:xfrm>
          <a:prstGeom prst="rect">
            <a:avLst/>
          </a:prstGeom>
          <a:solidFill>
            <a:srgbClr val="21262D"/>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71800" y="3090672"/>
            <a:ext cx="4389120" cy="384048"/>
          </a:xfrm>
          <a:prstGeom prst="rect">
            <a:avLst/>
          </a:prstGeom>
          <a:noFill/>
        </p:spPr>
        <p:txBody>
          <a:bodyPr wrap="square" lIns="36576" tIns="36576" rIns="36576" bIns="36576" anchor="t">
            <a:spAutoFit/>
          </a:bodyPr>
          <a:lstStyle/>
          <a:p>
            <a:pPr algn="l"/>
            <a:r>
              <a:rPr sz="2100" b="1">
                <a:solidFill>
                  <a:srgbClr val="F0F6FC"/>
                </a:solidFill>
                <a:latin typeface="Aptos"/>
              </a:rPr>
              <a:t>Code Quality workflow identity</a:t>
            </a:r>
          </a:p>
        </p:txBody>
      </p:sp>
      <p:sp>
        <p:nvSpPr>
          <p:cNvPr id="15" name="TextBox 14"/>
          <p:cNvSpPr txBox="1"/>
          <p:nvPr/>
        </p:nvSpPr>
        <p:spPr>
          <a:xfrm>
            <a:off x="2971800" y="3538728"/>
            <a:ext cx="7040880" cy="320040"/>
          </a:xfrm>
          <a:prstGeom prst="rect">
            <a:avLst/>
          </a:prstGeom>
          <a:noFill/>
        </p:spPr>
        <p:txBody>
          <a:bodyPr wrap="square" lIns="36576" tIns="36576" rIns="36576" bIns="36576" anchor="t">
            <a:spAutoFit/>
          </a:bodyPr>
          <a:lstStyle/>
          <a:p>
            <a:pPr algn="l"/>
            <a:r>
              <a:rPr sz="1500" b="0">
                <a:solidFill>
                  <a:srgbClr val="8B949E"/>
                </a:solidFill>
                <a:latin typeface="Aptos"/>
              </a:rPr>
              <a:t>Dedicated path and actor</a:t>
            </a:r>
          </a:p>
        </p:txBody>
      </p:sp>
      <p:sp>
        <p:nvSpPr>
          <p:cNvPr id="16" name="Rounded Rectangle 15"/>
          <p:cNvSpPr/>
          <p:nvPr/>
        </p:nvSpPr>
        <p:spPr>
          <a:xfrm>
            <a:off x="822960" y="4434840"/>
            <a:ext cx="1188720" cy="502920"/>
          </a:xfrm>
          <a:prstGeom prst="roundRect">
            <a:avLst/>
          </a:prstGeom>
          <a:solidFill>
            <a:srgbClr val="D29922"/>
          </a:solidFill>
          <a:ln>
            <a:solidFill>
              <a:srgbClr val="D299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4544568"/>
            <a:ext cx="1188720" cy="256032"/>
          </a:xfrm>
          <a:prstGeom prst="rect">
            <a:avLst/>
          </a:prstGeom>
          <a:noFill/>
        </p:spPr>
        <p:txBody>
          <a:bodyPr wrap="square" lIns="36576" tIns="36576" rIns="36576" bIns="36576" anchor="t">
            <a:spAutoFit/>
          </a:bodyPr>
          <a:lstStyle/>
          <a:p>
            <a:pPr algn="ctr"/>
            <a:r>
              <a:rPr sz="1200" b="1">
                <a:solidFill>
                  <a:srgbClr val="0D1117"/>
                </a:solidFill>
                <a:latin typeface="Aptos"/>
              </a:rPr>
              <a:t>AUG 27</a:t>
            </a:r>
          </a:p>
        </p:txBody>
      </p:sp>
      <p:sp>
        <p:nvSpPr>
          <p:cNvPr id="18" name="Rectangle 17"/>
          <p:cNvSpPr/>
          <p:nvPr/>
        </p:nvSpPr>
        <p:spPr>
          <a:xfrm>
            <a:off x="2331720" y="4663440"/>
            <a:ext cx="457200" cy="45720"/>
          </a:xfrm>
          <a:prstGeom prst="rect">
            <a:avLst/>
          </a:prstGeom>
          <a:solidFill>
            <a:srgbClr val="21262D"/>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971800" y="4416552"/>
            <a:ext cx="4389120" cy="384048"/>
          </a:xfrm>
          <a:prstGeom prst="rect">
            <a:avLst/>
          </a:prstGeom>
          <a:noFill/>
        </p:spPr>
        <p:txBody>
          <a:bodyPr wrap="square" lIns="36576" tIns="36576" rIns="36576" bIns="36576" anchor="t">
            <a:spAutoFit/>
          </a:bodyPr>
          <a:lstStyle/>
          <a:p>
            <a:pPr algn="l"/>
            <a:r>
              <a:rPr sz="2100" b="1">
                <a:solidFill>
                  <a:srgbClr val="F0F6FC"/>
                </a:solidFill>
                <a:latin typeface="Aptos"/>
              </a:rPr>
              <a:t>Retention scope expands</a:t>
            </a:r>
          </a:p>
        </p:txBody>
      </p:sp>
      <p:sp>
        <p:nvSpPr>
          <p:cNvPr id="20" name="TextBox 19"/>
          <p:cNvSpPr txBox="1"/>
          <p:nvPr/>
        </p:nvSpPr>
        <p:spPr>
          <a:xfrm>
            <a:off x="2971800" y="4864607"/>
            <a:ext cx="7040880" cy="320040"/>
          </a:xfrm>
          <a:prstGeom prst="rect">
            <a:avLst/>
          </a:prstGeom>
          <a:noFill/>
        </p:spPr>
        <p:txBody>
          <a:bodyPr wrap="square" lIns="36576" tIns="36576" rIns="36576" bIns="36576" anchor="t">
            <a:spAutoFit/>
          </a:bodyPr>
          <a:lstStyle/>
          <a:p>
            <a:pPr algn="l"/>
            <a:r>
              <a:rPr sz="1500" b="0">
                <a:solidFill>
                  <a:srgbClr val="8B949E"/>
                </a:solidFill>
                <a:latin typeface="Aptos"/>
              </a:rPr>
              <a:t>Checks, runs, statuses join logs and artifacts</a:t>
            </a:r>
          </a:p>
        </p:txBody>
      </p:sp>
      <p:sp>
        <p:nvSpPr>
          <p:cNvPr id="21" name="TextBox 20"/>
          <p:cNvSpPr txBox="1"/>
          <p:nvPr/>
        </p:nvSpPr>
        <p:spPr>
          <a:xfrm>
            <a:off x="640080" y="6519672"/>
            <a:ext cx="5852160" cy="182880"/>
          </a:xfrm>
          <a:prstGeom prst="rect">
            <a:avLst/>
          </a:prstGeom>
          <a:noFill/>
        </p:spPr>
        <p:txBody>
          <a:bodyPr wrap="square" lIns="36576" tIns="36576" rIns="36576" bIns="36576" anchor="t">
            <a:spAutoFit/>
          </a:bodyPr>
          <a:lstStyle/>
          <a:p>
            <a:pPr algn="l"/>
            <a:r>
              <a:rPr sz="900" b="0">
                <a:solidFill>
                  <a:srgbClr val="8B949E"/>
                </a:solidFill>
                <a:latin typeface="Aptos"/>
              </a:rPr>
              <a:t>GitHub Actions Office Hour · Sep 2026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640080" y="292608"/>
            <a:ext cx="6400800" cy="274320"/>
          </a:xfrm>
          <a:prstGeom prst="rect">
            <a:avLst/>
          </a:prstGeom>
          <a:noFill/>
        </p:spPr>
        <p:txBody>
          <a:bodyPr wrap="square" lIns="36576" tIns="36576" rIns="36576" bIns="36576" anchor="t">
            <a:spAutoFit/>
          </a:bodyPr>
          <a:lstStyle/>
          <a:p>
            <a:pPr algn="l"/>
            <a:r>
              <a:rPr sz="1100" b="1">
                <a:solidFill>
                  <a:srgbClr val="58A6FF"/>
                </a:solidFill>
                <a:latin typeface="Aptos"/>
              </a:rPr>
              <a:t>AUGUST · HOSTED RUNNERS</a:t>
            </a:r>
          </a:p>
        </p:txBody>
      </p:sp>
      <p:sp>
        <p:nvSpPr>
          <p:cNvPr id="3" name="TextBox 2"/>
          <p:cNvSpPr txBox="1"/>
          <p:nvPr/>
        </p:nvSpPr>
        <p:spPr>
          <a:xfrm>
            <a:off x="640080" y="667512"/>
            <a:ext cx="10789920" cy="658368"/>
          </a:xfrm>
          <a:prstGeom prst="rect">
            <a:avLst/>
          </a:prstGeom>
          <a:noFill/>
        </p:spPr>
        <p:txBody>
          <a:bodyPr wrap="square" lIns="36576" tIns="36576" rIns="36576" bIns="36576" anchor="t">
            <a:spAutoFit/>
          </a:bodyPr>
          <a:lstStyle/>
          <a:p>
            <a:pPr algn="l"/>
            <a:r>
              <a:rPr sz="3000" b="1">
                <a:solidFill>
                  <a:srgbClr val="F0F6FC"/>
                </a:solidFill>
                <a:latin typeface="Aptos"/>
              </a:rPr>
              <a:t>Windows 11 Arm64 moves to Visual Studio 2026</a:t>
            </a:r>
          </a:p>
        </p:txBody>
      </p:sp>
      <p:sp>
        <p:nvSpPr>
          <p:cNvPr id="4" name="Rectangle 3"/>
          <p:cNvSpPr/>
          <p:nvPr/>
        </p:nvSpPr>
        <p:spPr>
          <a:xfrm>
            <a:off x="640080" y="1417320"/>
            <a:ext cx="914400" cy="45720"/>
          </a:xfrm>
          <a:prstGeom prst="rect">
            <a:avLst/>
          </a:prstGeom>
          <a:solidFill>
            <a:srgbClr val="BC8CFF"/>
          </a:solidFill>
          <a:ln>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310896"/>
            <a:ext cx="457200" cy="274320"/>
          </a:xfrm>
          <a:prstGeom prst="rect">
            <a:avLst/>
          </a:prstGeom>
          <a:noFill/>
        </p:spPr>
        <p:txBody>
          <a:bodyPr wrap="square" lIns="36576" tIns="36576" rIns="36576" bIns="36576" anchor="t">
            <a:spAutoFit/>
          </a:bodyPr>
          <a:lstStyle/>
          <a:p>
            <a:pPr algn="r"/>
            <a:r>
              <a:rPr sz="1100" b="1">
                <a:solidFill>
                  <a:srgbClr val="8B949E"/>
                </a:solidFill>
                <a:latin typeface="Aptos"/>
              </a:rPr>
              <a:t>05</a:t>
            </a:r>
          </a:p>
        </p:txBody>
      </p:sp>
      <p:sp>
        <p:nvSpPr>
          <p:cNvPr id="6" name="Rounded Rectangle 5"/>
          <p:cNvSpPr/>
          <p:nvPr/>
        </p:nvSpPr>
        <p:spPr>
          <a:xfrm>
            <a:off x="777240" y="1764792"/>
            <a:ext cx="640080" cy="310896"/>
          </a:xfrm>
          <a:prstGeom prst="roundRect">
            <a:avLst/>
          </a:prstGeom>
          <a:solidFill>
            <a:srgbClr val="3FB950"/>
          </a:solidFill>
          <a:ln>
            <a:solidFill>
              <a:srgbClr val="3FB9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73936"/>
            <a:ext cx="640080" cy="256032"/>
          </a:xfrm>
          <a:prstGeom prst="rect">
            <a:avLst/>
          </a:prstGeom>
          <a:noFill/>
        </p:spPr>
        <p:txBody>
          <a:bodyPr wrap="square" lIns="36576" tIns="36576" rIns="36576" bIns="36576" anchor="t">
            <a:spAutoFit/>
          </a:bodyPr>
          <a:lstStyle/>
          <a:p>
            <a:pPr algn="ctr"/>
            <a:r>
              <a:rPr sz="1100" b="1">
                <a:solidFill>
                  <a:srgbClr val="0D1117"/>
                </a:solidFill>
                <a:latin typeface="Aptos"/>
              </a:rPr>
              <a:t>GA</a:t>
            </a:r>
          </a:p>
        </p:txBody>
      </p:sp>
      <p:sp>
        <p:nvSpPr>
          <p:cNvPr id="8" name="Rounded Rectangle 7"/>
          <p:cNvSpPr/>
          <p:nvPr/>
        </p:nvSpPr>
        <p:spPr>
          <a:xfrm>
            <a:off x="777240" y="2240280"/>
            <a:ext cx="4754880" cy="292608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2441448"/>
            <a:ext cx="4297680" cy="2560320"/>
          </a:xfrm>
          <a:prstGeom prst="rect">
            <a:avLst/>
          </a:prstGeom>
          <a:noFill/>
        </p:spPr>
        <p:txBody>
          <a:bodyPr wrap="square" lIns="36576" tIns="36576" rIns="36576" bIns="36576" anchor="t">
            <a:spAutoFit/>
          </a:bodyPr>
          <a:lstStyle/>
          <a:p>
            <a:pPr algn="l"/>
            <a:r>
              <a:rPr sz="1600" b="0">
                <a:solidFill>
                  <a:srgbClr val="F0F6FC"/>
                </a:solidFill>
                <a:latin typeface="Cascadia Mono"/>
              </a:rPr>
              <a:t>jobs:
  build-arm:
    runs-on: windows-11-vs2026-arm
    steps:
      - uses: actions/checkout@v4
      - run: dotnet build</a:t>
            </a:r>
          </a:p>
        </p:txBody>
      </p:sp>
      <p:sp>
        <p:nvSpPr>
          <p:cNvPr id="10" name="TextBox 9"/>
          <p:cNvSpPr txBox="1"/>
          <p:nvPr/>
        </p:nvSpPr>
        <p:spPr>
          <a:xfrm>
            <a:off x="5989320" y="1874519"/>
            <a:ext cx="5303520" cy="3383280"/>
          </a:xfrm>
          <a:prstGeom prst="rect">
            <a:avLst/>
          </a:prstGeom>
          <a:noFill/>
        </p:spPr>
        <p:txBody>
          <a:bodyPr wrap="square" lIns="45720" rIns="36576">
            <a:spAutoFit/>
          </a:bodyPr>
          <a:lstStyle/>
          <a:p>
            <a:pPr>
              <a:spcAft>
                <a:spcPts val="1300"/>
              </a:spcAft>
              <a:defRPr sz="1900">
                <a:solidFill>
                  <a:srgbClr val="F0F6FC"/>
                </a:solidFill>
                <a:latin typeface="Aptos"/>
              </a:defRPr>
            </a:pPr>
            <a:r>
              <a:t>•  Available on standard and larger hosted runners</a:t>
            </a:r>
          </a:p>
          <a:p>
            <a:pPr>
              <a:spcAft>
                <a:spcPts val="1300"/>
              </a:spcAft>
              <a:defRPr sz="1900">
                <a:solidFill>
                  <a:srgbClr val="F0F6FC"/>
                </a:solidFill>
                <a:latin typeface="Aptos"/>
              </a:defRPr>
            </a:pPr>
            <a:r>
              <a:t>•  windows-11-arm migrates September 21–30</a:t>
            </a:r>
          </a:p>
          <a:p>
            <a:pPr>
              <a:spcAft>
                <a:spcPts val="1300"/>
              </a:spcAft>
              <a:defRPr sz="1900">
                <a:solidFill>
                  <a:srgbClr val="F0F6FC"/>
                </a:solidFill>
                <a:latin typeface="Aptos"/>
              </a:defRPr>
            </a:pPr>
            <a:r>
              <a:t>•  VS 2022 dependencies are the breaking-change risk</a:t>
            </a:r>
          </a:p>
          <a:p>
            <a:pPr>
              <a:spcAft>
                <a:spcPts val="1300"/>
              </a:spcAft>
              <a:defRPr sz="1900">
                <a:solidFill>
                  <a:srgbClr val="F0F6FC"/>
                </a:solidFill>
                <a:latin typeface="Aptos"/>
              </a:defRPr>
            </a:pPr>
            <a:r>
              <a:t>•  Pin the preview label now to test before migration</a:t>
            </a:r>
          </a:p>
        </p:txBody>
      </p:sp>
      <p:sp>
        <p:nvSpPr>
          <p:cNvPr id="11" name="Rounded Rectangle 10"/>
          <p:cNvSpPr/>
          <p:nvPr/>
        </p:nvSpPr>
        <p:spPr>
          <a:xfrm>
            <a:off x="5989320" y="5376672"/>
            <a:ext cx="5212080" cy="658368"/>
          </a:xfrm>
          <a:prstGeom prst="roundRect">
            <a:avLst/>
          </a:prstGeom>
          <a:solidFill>
            <a:srgbClr val="21262D"/>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36208" y="5559552"/>
            <a:ext cx="4663440" cy="274320"/>
          </a:xfrm>
          <a:prstGeom prst="rect">
            <a:avLst/>
          </a:prstGeom>
          <a:noFill/>
        </p:spPr>
        <p:txBody>
          <a:bodyPr wrap="none" lIns="36576" rIns="36576">
            <a:spAutoFit/>
          </a:bodyPr>
          <a:lstStyle/>
          <a:p>
            <a:pPr algn="l"/>
            <a:r>
              <a:rPr sz="1500" b="1">
                <a:solidFill>
                  <a:srgbClr val="D29922"/>
                </a:solidFill>
                <a:latin typeface="Aptos"/>
              </a:rPr>
              <a:t>ACTION: </a:t>
            </a:r>
            <a:r>
              <a:rPr sz="1500" b="0">
                <a:solidFill>
                  <a:srgbClr val="F0F6FC"/>
                </a:solidFill>
                <a:latin typeface="Aptos"/>
              </a:rPr>
              <a:t>test native toolchains and installed workloads.</a:t>
            </a:r>
          </a:p>
        </p:txBody>
      </p:sp>
      <p:sp>
        <p:nvSpPr>
          <p:cNvPr id="13" name="TextBox 12"/>
          <p:cNvSpPr txBox="1"/>
          <p:nvPr/>
        </p:nvSpPr>
        <p:spPr>
          <a:xfrm>
            <a:off x="640080" y="6519672"/>
            <a:ext cx="5852160" cy="182880"/>
          </a:xfrm>
          <a:prstGeom prst="rect">
            <a:avLst/>
          </a:prstGeom>
          <a:noFill/>
        </p:spPr>
        <p:txBody>
          <a:bodyPr wrap="square" lIns="36576" tIns="36576" rIns="36576" bIns="36576" anchor="t">
            <a:spAutoFit/>
          </a:bodyPr>
          <a:lstStyle/>
          <a:p>
            <a:pPr algn="l"/>
            <a:r>
              <a:rPr sz="900" b="0">
                <a:solidFill>
                  <a:srgbClr val="8B949E"/>
                </a:solidFill>
                <a:latin typeface="Aptos"/>
              </a:rPr>
              <a:t>GitHub Actions Office Hour · Sep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640080" y="292608"/>
            <a:ext cx="6400800" cy="274320"/>
          </a:xfrm>
          <a:prstGeom prst="rect">
            <a:avLst/>
          </a:prstGeom>
          <a:noFill/>
        </p:spPr>
        <p:txBody>
          <a:bodyPr wrap="square" lIns="36576" tIns="36576" rIns="36576" bIns="36576" anchor="t">
            <a:spAutoFit/>
          </a:bodyPr>
          <a:lstStyle/>
          <a:p>
            <a:pPr algn="l"/>
            <a:r>
              <a:rPr sz="1100" b="1">
                <a:solidFill>
                  <a:srgbClr val="58A6FF"/>
                </a:solidFill>
                <a:latin typeface="Aptos"/>
              </a:rPr>
              <a:t>AUGUST · RETENTION</a:t>
            </a:r>
          </a:p>
        </p:txBody>
      </p:sp>
      <p:sp>
        <p:nvSpPr>
          <p:cNvPr id="3" name="TextBox 2"/>
          <p:cNvSpPr txBox="1"/>
          <p:nvPr/>
        </p:nvSpPr>
        <p:spPr>
          <a:xfrm>
            <a:off x="640080" y="667512"/>
            <a:ext cx="10789920" cy="658368"/>
          </a:xfrm>
          <a:prstGeom prst="rect">
            <a:avLst/>
          </a:prstGeom>
          <a:noFill/>
        </p:spPr>
        <p:txBody>
          <a:bodyPr wrap="square" lIns="36576" tIns="36576" rIns="36576" bIns="36576" anchor="t">
            <a:spAutoFit/>
          </a:bodyPr>
          <a:lstStyle/>
          <a:p>
            <a:pPr algn="l"/>
            <a:r>
              <a:rPr sz="3000" b="1">
                <a:solidFill>
                  <a:srgbClr val="F0F6FC"/>
                </a:solidFill>
                <a:latin typeface="Aptos"/>
              </a:rPr>
              <a:t>One retention dial will govern five data types</a:t>
            </a:r>
          </a:p>
        </p:txBody>
      </p:sp>
      <p:sp>
        <p:nvSpPr>
          <p:cNvPr id="4" name="Rectangle 3"/>
          <p:cNvSpPr/>
          <p:nvPr/>
        </p:nvSpPr>
        <p:spPr>
          <a:xfrm>
            <a:off x="640080" y="1417320"/>
            <a:ext cx="914400" cy="45720"/>
          </a:xfrm>
          <a:prstGeom prst="rect">
            <a:avLst/>
          </a:prstGeom>
          <a:solidFill>
            <a:srgbClr val="BC8CFF"/>
          </a:solidFill>
          <a:ln>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310896"/>
            <a:ext cx="457200" cy="274320"/>
          </a:xfrm>
          <a:prstGeom prst="rect">
            <a:avLst/>
          </a:prstGeom>
          <a:noFill/>
        </p:spPr>
        <p:txBody>
          <a:bodyPr wrap="square" lIns="36576" tIns="36576" rIns="36576" bIns="36576" anchor="t">
            <a:spAutoFit/>
          </a:bodyPr>
          <a:lstStyle/>
          <a:p>
            <a:pPr algn="r"/>
            <a:r>
              <a:rPr sz="1100" b="1">
                <a:solidFill>
                  <a:srgbClr val="8B949E"/>
                </a:solidFill>
                <a:latin typeface="Aptos"/>
              </a:rPr>
              <a:t>06</a:t>
            </a:r>
          </a:p>
        </p:txBody>
      </p:sp>
      <p:sp>
        <p:nvSpPr>
          <p:cNvPr id="6" name="Rounded Rectangle 5"/>
          <p:cNvSpPr/>
          <p:nvPr/>
        </p:nvSpPr>
        <p:spPr>
          <a:xfrm>
            <a:off x="777240" y="1828800"/>
            <a:ext cx="1920240" cy="777240"/>
          </a:xfrm>
          <a:prstGeom prst="roundRect">
            <a:avLst/>
          </a:prstGeom>
          <a:solidFill>
            <a:srgbClr val="161B22"/>
          </a:solidFill>
          <a:ln>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66543"/>
            <a:ext cx="1920240" cy="274320"/>
          </a:xfrm>
          <a:prstGeom prst="rect">
            <a:avLst/>
          </a:prstGeom>
          <a:noFill/>
        </p:spPr>
        <p:txBody>
          <a:bodyPr wrap="square" lIns="36576" tIns="36576" rIns="36576" bIns="36576" anchor="t">
            <a:spAutoFit/>
          </a:bodyPr>
          <a:lstStyle/>
          <a:p>
            <a:pPr algn="ctr"/>
            <a:r>
              <a:rPr sz="1600" b="1">
                <a:solidFill>
                  <a:srgbClr val="F0F6FC"/>
                </a:solidFill>
                <a:latin typeface="Aptos"/>
              </a:rPr>
              <a:t>Checks</a:t>
            </a:r>
          </a:p>
        </p:txBody>
      </p:sp>
      <p:sp>
        <p:nvSpPr>
          <p:cNvPr id="8" name="Rounded Rectangle 7"/>
          <p:cNvSpPr/>
          <p:nvPr/>
        </p:nvSpPr>
        <p:spPr>
          <a:xfrm>
            <a:off x="3035808" y="1828800"/>
            <a:ext cx="1920240" cy="777240"/>
          </a:xfrm>
          <a:prstGeom prst="roundRect">
            <a:avLst/>
          </a:prstGeom>
          <a:solidFill>
            <a:srgbClr val="161B22"/>
          </a:solidFill>
          <a:ln>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035808" y="2066543"/>
            <a:ext cx="1920240" cy="274320"/>
          </a:xfrm>
          <a:prstGeom prst="rect">
            <a:avLst/>
          </a:prstGeom>
          <a:noFill/>
        </p:spPr>
        <p:txBody>
          <a:bodyPr wrap="square" lIns="36576" tIns="36576" rIns="36576" bIns="36576" anchor="t">
            <a:spAutoFit/>
          </a:bodyPr>
          <a:lstStyle/>
          <a:p>
            <a:pPr algn="ctr"/>
            <a:r>
              <a:rPr sz="1600" b="1">
                <a:solidFill>
                  <a:srgbClr val="F0F6FC"/>
                </a:solidFill>
                <a:latin typeface="Aptos"/>
              </a:rPr>
              <a:t>Workflow runs</a:t>
            </a:r>
          </a:p>
        </p:txBody>
      </p:sp>
      <p:sp>
        <p:nvSpPr>
          <p:cNvPr id="10" name="Rounded Rectangle 9"/>
          <p:cNvSpPr/>
          <p:nvPr/>
        </p:nvSpPr>
        <p:spPr>
          <a:xfrm>
            <a:off x="5294376" y="1828800"/>
            <a:ext cx="1920240" cy="777240"/>
          </a:xfrm>
          <a:prstGeom prst="roundRect">
            <a:avLst/>
          </a:prstGeom>
          <a:solidFill>
            <a:srgbClr val="161B22"/>
          </a:solidFill>
          <a:ln>
            <a:solidFill>
              <a:srgbClr val="3FB9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294376" y="2066543"/>
            <a:ext cx="1920240" cy="274320"/>
          </a:xfrm>
          <a:prstGeom prst="rect">
            <a:avLst/>
          </a:prstGeom>
          <a:noFill/>
        </p:spPr>
        <p:txBody>
          <a:bodyPr wrap="square" lIns="36576" tIns="36576" rIns="36576" bIns="36576" anchor="t">
            <a:spAutoFit/>
          </a:bodyPr>
          <a:lstStyle/>
          <a:p>
            <a:pPr algn="ctr"/>
            <a:r>
              <a:rPr sz="1600" b="1">
                <a:solidFill>
                  <a:srgbClr val="F0F6FC"/>
                </a:solidFill>
                <a:latin typeface="Aptos"/>
              </a:rPr>
              <a:t>Statuses</a:t>
            </a:r>
          </a:p>
        </p:txBody>
      </p:sp>
      <p:sp>
        <p:nvSpPr>
          <p:cNvPr id="12" name="Rounded Rectangle 11"/>
          <p:cNvSpPr/>
          <p:nvPr/>
        </p:nvSpPr>
        <p:spPr>
          <a:xfrm>
            <a:off x="7552944" y="1828800"/>
            <a:ext cx="1920240" cy="777240"/>
          </a:xfrm>
          <a:prstGeom prst="roundRect">
            <a:avLst/>
          </a:prstGeom>
          <a:solidFill>
            <a:srgbClr val="161B22"/>
          </a:solidFill>
          <a:ln>
            <a:solidFill>
              <a:srgbClr val="D299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52944" y="2066543"/>
            <a:ext cx="1920240" cy="274320"/>
          </a:xfrm>
          <a:prstGeom prst="rect">
            <a:avLst/>
          </a:prstGeom>
          <a:noFill/>
        </p:spPr>
        <p:txBody>
          <a:bodyPr wrap="square" lIns="36576" tIns="36576" rIns="36576" bIns="36576" anchor="t">
            <a:spAutoFit/>
          </a:bodyPr>
          <a:lstStyle/>
          <a:p>
            <a:pPr algn="ctr"/>
            <a:r>
              <a:rPr sz="1600" b="1">
                <a:solidFill>
                  <a:srgbClr val="F0F6FC"/>
                </a:solidFill>
                <a:latin typeface="Aptos"/>
              </a:rPr>
              <a:t>Artifacts</a:t>
            </a:r>
          </a:p>
        </p:txBody>
      </p:sp>
      <p:sp>
        <p:nvSpPr>
          <p:cNvPr id="14" name="Rounded Rectangle 13"/>
          <p:cNvSpPr/>
          <p:nvPr/>
        </p:nvSpPr>
        <p:spPr>
          <a:xfrm>
            <a:off x="9811512" y="1828800"/>
            <a:ext cx="1920240" cy="777240"/>
          </a:xfrm>
          <a:prstGeom prst="roundRect">
            <a:avLst/>
          </a:prstGeom>
          <a:solidFill>
            <a:srgbClr val="161B22"/>
          </a:solidFill>
          <a:ln>
            <a:solidFill>
              <a:srgbClr val="F851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811512" y="2066543"/>
            <a:ext cx="1920240" cy="274320"/>
          </a:xfrm>
          <a:prstGeom prst="rect">
            <a:avLst/>
          </a:prstGeom>
          <a:noFill/>
        </p:spPr>
        <p:txBody>
          <a:bodyPr wrap="square" lIns="36576" tIns="36576" rIns="36576" bIns="36576" anchor="t">
            <a:spAutoFit/>
          </a:bodyPr>
          <a:lstStyle/>
          <a:p>
            <a:pPr algn="ctr"/>
            <a:r>
              <a:rPr sz="1600" b="1">
                <a:solidFill>
                  <a:srgbClr val="F0F6FC"/>
                </a:solidFill>
                <a:latin typeface="Aptos"/>
              </a:rPr>
              <a:t>Logs</a:t>
            </a:r>
          </a:p>
        </p:txBody>
      </p:sp>
      <p:sp>
        <p:nvSpPr>
          <p:cNvPr id="16" name="TextBox 15"/>
          <p:cNvSpPr txBox="1"/>
          <p:nvPr/>
        </p:nvSpPr>
        <p:spPr>
          <a:xfrm>
            <a:off x="2103120" y="3063240"/>
            <a:ext cx="7955279" cy="411480"/>
          </a:xfrm>
          <a:prstGeom prst="rect">
            <a:avLst/>
          </a:prstGeom>
          <a:noFill/>
        </p:spPr>
        <p:txBody>
          <a:bodyPr wrap="square" lIns="36576" tIns="36576" rIns="36576" bIns="36576" anchor="t">
            <a:spAutoFit/>
          </a:bodyPr>
          <a:lstStyle/>
          <a:p>
            <a:pPr algn="ctr"/>
            <a:r>
              <a:rPr sz="2600" b="1">
                <a:solidFill>
                  <a:srgbClr val="F0F6FC"/>
                </a:solidFill>
                <a:latin typeface="Aptos"/>
              </a:rPr>
              <a:t>Your configured Actions retention period</a:t>
            </a:r>
          </a:p>
        </p:txBody>
      </p:sp>
      <p:sp>
        <p:nvSpPr>
          <p:cNvPr id="17" name="TextBox 16"/>
          <p:cNvSpPr txBox="1"/>
          <p:nvPr/>
        </p:nvSpPr>
        <p:spPr>
          <a:xfrm>
            <a:off x="5669280" y="3520440"/>
            <a:ext cx="731520" cy="548640"/>
          </a:xfrm>
          <a:prstGeom prst="rect">
            <a:avLst/>
          </a:prstGeom>
          <a:noFill/>
        </p:spPr>
        <p:txBody>
          <a:bodyPr wrap="square" lIns="36576" tIns="36576" rIns="36576" bIns="36576" anchor="t">
            <a:spAutoFit/>
          </a:bodyPr>
          <a:lstStyle/>
          <a:p>
            <a:pPr algn="ctr"/>
            <a:r>
              <a:rPr sz="3400" b="1">
                <a:solidFill>
                  <a:srgbClr val="BC8CFF"/>
                </a:solidFill>
                <a:latin typeface="Aptos"/>
              </a:rPr>
              <a:t>↓</a:t>
            </a:r>
          </a:p>
        </p:txBody>
      </p:sp>
      <p:sp>
        <p:nvSpPr>
          <p:cNvPr id="18" name="Rounded Rectangle 17"/>
          <p:cNvSpPr/>
          <p:nvPr/>
        </p:nvSpPr>
        <p:spPr>
          <a:xfrm>
            <a:off x="2926080" y="4160520"/>
            <a:ext cx="6309360" cy="1051560"/>
          </a:xfrm>
          <a:prstGeom prst="roundRect">
            <a:avLst/>
          </a:prstGeom>
          <a:solidFill>
            <a:srgbClr val="21262D"/>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108960" y="4389120"/>
            <a:ext cx="2743200" cy="347472"/>
          </a:xfrm>
          <a:prstGeom prst="rect">
            <a:avLst/>
          </a:prstGeom>
          <a:noFill/>
        </p:spPr>
        <p:txBody>
          <a:bodyPr wrap="square" lIns="36576" tIns="36576" rIns="36576" bIns="36576" anchor="t">
            <a:spAutoFit/>
          </a:bodyPr>
          <a:lstStyle/>
          <a:p>
            <a:pPr algn="l"/>
            <a:r>
              <a:rPr sz="2200" b="1">
                <a:solidFill>
                  <a:srgbClr val="3FB950"/>
                </a:solidFill>
                <a:latin typeface="Aptos"/>
              </a:rPr>
              <a:t>Default: 90 days</a:t>
            </a:r>
          </a:p>
        </p:txBody>
      </p:sp>
      <p:sp>
        <p:nvSpPr>
          <p:cNvPr id="20" name="TextBox 19"/>
          <p:cNvSpPr txBox="1"/>
          <p:nvPr/>
        </p:nvSpPr>
        <p:spPr>
          <a:xfrm>
            <a:off x="5897880" y="4443984"/>
            <a:ext cx="3063240" cy="274320"/>
          </a:xfrm>
          <a:prstGeom prst="rect">
            <a:avLst/>
          </a:prstGeom>
          <a:noFill/>
        </p:spPr>
        <p:txBody>
          <a:bodyPr wrap="square" lIns="36576" tIns="36576" rIns="36576" bIns="36576" anchor="t">
            <a:spAutoFit/>
          </a:bodyPr>
          <a:lstStyle/>
          <a:p>
            <a:pPr algn="l"/>
            <a:r>
              <a:rPr sz="1600" b="0">
                <a:solidFill>
                  <a:srgbClr val="F0F6FC"/>
                </a:solidFill>
                <a:latin typeface="Aptos"/>
              </a:rPr>
              <a:t>Effective October 1, 2026</a:t>
            </a:r>
          </a:p>
        </p:txBody>
      </p:sp>
      <p:sp>
        <p:nvSpPr>
          <p:cNvPr id="21" name="TextBox 20"/>
          <p:cNvSpPr txBox="1"/>
          <p:nvPr/>
        </p:nvSpPr>
        <p:spPr>
          <a:xfrm>
            <a:off x="1097280" y="5623560"/>
            <a:ext cx="9966960" cy="365760"/>
          </a:xfrm>
          <a:prstGeom prst="rect">
            <a:avLst/>
          </a:prstGeom>
          <a:noFill/>
        </p:spPr>
        <p:txBody>
          <a:bodyPr wrap="square" lIns="36576" tIns="36576" rIns="36576" bIns="36576" anchor="t">
            <a:spAutoFit/>
          </a:bodyPr>
          <a:lstStyle/>
          <a:p>
            <a:pPr algn="ctr"/>
            <a:r>
              <a:rPr sz="1500" b="0" dirty="0">
                <a:solidFill>
                  <a:srgbClr val="8B949E"/>
                </a:solidFill>
                <a:latin typeface="Aptos"/>
              </a:rPr>
              <a:t>Public repositories: 90-day maximum · Deleted history is not restored by later increases</a:t>
            </a:r>
          </a:p>
        </p:txBody>
      </p:sp>
      <p:sp>
        <p:nvSpPr>
          <p:cNvPr id="22" name="TextBox 21"/>
          <p:cNvSpPr txBox="1"/>
          <p:nvPr/>
        </p:nvSpPr>
        <p:spPr>
          <a:xfrm>
            <a:off x="640080" y="6519672"/>
            <a:ext cx="5852160" cy="182880"/>
          </a:xfrm>
          <a:prstGeom prst="rect">
            <a:avLst/>
          </a:prstGeom>
          <a:noFill/>
        </p:spPr>
        <p:txBody>
          <a:bodyPr wrap="square" lIns="36576" tIns="36576" rIns="36576" bIns="36576" anchor="t">
            <a:spAutoFit/>
          </a:bodyPr>
          <a:lstStyle/>
          <a:p>
            <a:pPr algn="l"/>
            <a:r>
              <a:rPr sz="900" b="0">
                <a:solidFill>
                  <a:srgbClr val="8B949E"/>
                </a:solidFill>
                <a:latin typeface="Aptos"/>
              </a:rPr>
              <a:t>GitHub Actions Office Hour · Sep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640080" y="292608"/>
            <a:ext cx="6400800" cy="274320"/>
          </a:xfrm>
          <a:prstGeom prst="rect">
            <a:avLst/>
          </a:prstGeom>
          <a:noFill/>
        </p:spPr>
        <p:txBody>
          <a:bodyPr wrap="square" lIns="36576" tIns="36576" rIns="36576" bIns="36576" anchor="t">
            <a:spAutoFit/>
          </a:bodyPr>
          <a:lstStyle/>
          <a:p>
            <a:pPr algn="l"/>
            <a:r>
              <a:rPr sz="1100" b="1">
                <a:solidFill>
                  <a:srgbClr val="58A6FF"/>
                </a:solidFill>
                <a:latin typeface="Aptos"/>
              </a:rPr>
              <a:t>AUGUST · REPORTING</a:t>
            </a:r>
          </a:p>
        </p:txBody>
      </p:sp>
      <p:sp>
        <p:nvSpPr>
          <p:cNvPr id="3" name="TextBox 2"/>
          <p:cNvSpPr txBox="1"/>
          <p:nvPr/>
        </p:nvSpPr>
        <p:spPr>
          <a:xfrm>
            <a:off x="640080" y="667512"/>
            <a:ext cx="10789920" cy="658368"/>
          </a:xfrm>
          <a:prstGeom prst="rect">
            <a:avLst/>
          </a:prstGeom>
          <a:noFill/>
        </p:spPr>
        <p:txBody>
          <a:bodyPr wrap="square" lIns="36576" tIns="36576" rIns="36576" bIns="36576" anchor="t">
            <a:spAutoFit/>
          </a:bodyPr>
          <a:lstStyle/>
          <a:p>
            <a:pPr algn="l"/>
            <a:r>
              <a:rPr sz="3000" b="1">
                <a:solidFill>
                  <a:srgbClr val="F0F6FC"/>
                </a:solidFill>
                <a:latin typeface="Aptos"/>
              </a:rPr>
              <a:t>Code Quality runs get their own identity</a:t>
            </a:r>
          </a:p>
        </p:txBody>
      </p:sp>
      <p:sp>
        <p:nvSpPr>
          <p:cNvPr id="4" name="Rectangle 3"/>
          <p:cNvSpPr/>
          <p:nvPr/>
        </p:nvSpPr>
        <p:spPr>
          <a:xfrm>
            <a:off x="640080" y="1417320"/>
            <a:ext cx="914400" cy="45720"/>
          </a:xfrm>
          <a:prstGeom prst="rect">
            <a:avLst/>
          </a:prstGeom>
          <a:solidFill>
            <a:srgbClr val="BC8CFF"/>
          </a:solidFill>
          <a:ln>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310896"/>
            <a:ext cx="457200" cy="274320"/>
          </a:xfrm>
          <a:prstGeom prst="rect">
            <a:avLst/>
          </a:prstGeom>
          <a:noFill/>
        </p:spPr>
        <p:txBody>
          <a:bodyPr wrap="square" lIns="36576" tIns="36576" rIns="36576" bIns="36576" anchor="t">
            <a:spAutoFit/>
          </a:bodyPr>
          <a:lstStyle/>
          <a:p>
            <a:pPr algn="r"/>
            <a:r>
              <a:rPr sz="1100" b="1">
                <a:solidFill>
                  <a:srgbClr val="8B949E"/>
                </a:solidFill>
                <a:latin typeface="Aptos"/>
              </a:rPr>
              <a:t>07</a:t>
            </a:r>
          </a:p>
        </p:txBody>
      </p:sp>
      <p:sp>
        <p:nvSpPr>
          <p:cNvPr id="6" name="TextBox 5"/>
          <p:cNvSpPr txBox="1"/>
          <p:nvPr/>
        </p:nvSpPr>
        <p:spPr>
          <a:xfrm>
            <a:off x="822960" y="1783080"/>
            <a:ext cx="4937760" cy="365760"/>
          </a:xfrm>
          <a:prstGeom prst="rect">
            <a:avLst/>
          </a:prstGeom>
          <a:noFill/>
        </p:spPr>
        <p:txBody>
          <a:bodyPr wrap="square" lIns="36576" tIns="36576" rIns="36576" bIns="36576" anchor="t">
            <a:spAutoFit/>
          </a:bodyPr>
          <a:lstStyle/>
          <a:p>
            <a:pPr algn="l"/>
            <a:r>
              <a:rPr sz="1800" b="1">
                <a:solidFill>
                  <a:srgbClr val="8B949E"/>
                </a:solidFill>
                <a:latin typeface="Aptos"/>
              </a:rPr>
              <a:t>Before</a:t>
            </a:r>
          </a:p>
        </p:txBody>
      </p:sp>
      <p:sp>
        <p:nvSpPr>
          <p:cNvPr id="7" name="Rounded Rectangle 6"/>
          <p:cNvSpPr/>
          <p:nvPr/>
        </p:nvSpPr>
        <p:spPr>
          <a:xfrm>
            <a:off x="822960" y="2240280"/>
            <a:ext cx="4892040" cy="123444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2441448"/>
            <a:ext cx="4434840" cy="868680"/>
          </a:xfrm>
          <a:prstGeom prst="rect">
            <a:avLst/>
          </a:prstGeom>
          <a:noFill/>
        </p:spPr>
        <p:txBody>
          <a:bodyPr wrap="square" lIns="36576" tIns="36576" rIns="36576" bIns="36576" anchor="t">
            <a:spAutoFit/>
          </a:bodyPr>
          <a:lstStyle/>
          <a:p>
            <a:pPr algn="l"/>
            <a:r>
              <a:rPr sz="1500" b="0">
                <a:solidFill>
                  <a:srgbClr val="F0F6FC"/>
                </a:solidFill>
                <a:latin typeface="Cascadia Mono"/>
              </a:rPr>
              <a:t>path:  dynamic/github-code-scanning/codeql
actor: github-advanced-security</a:t>
            </a:r>
          </a:p>
        </p:txBody>
      </p:sp>
      <p:sp>
        <p:nvSpPr>
          <p:cNvPr id="9" name="TextBox 8"/>
          <p:cNvSpPr txBox="1"/>
          <p:nvPr/>
        </p:nvSpPr>
        <p:spPr>
          <a:xfrm>
            <a:off x="5760720" y="2514600"/>
            <a:ext cx="640080" cy="457200"/>
          </a:xfrm>
          <a:prstGeom prst="rect">
            <a:avLst/>
          </a:prstGeom>
          <a:noFill/>
        </p:spPr>
        <p:txBody>
          <a:bodyPr wrap="square" lIns="36576" tIns="36576" rIns="36576" bIns="36576" anchor="t">
            <a:spAutoFit/>
          </a:bodyPr>
          <a:lstStyle/>
          <a:p>
            <a:pPr algn="ctr"/>
            <a:r>
              <a:rPr sz="3200" b="1">
                <a:solidFill>
                  <a:srgbClr val="BC8CFF"/>
                </a:solidFill>
                <a:latin typeface="Aptos"/>
              </a:rPr>
              <a:t>→</a:t>
            </a:r>
          </a:p>
        </p:txBody>
      </p:sp>
      <p:sp>
        <p:nvSpPr>
          <p:cNvPr id="10" name="TextBox 9"/>
          <p:cNvSpPr txBox="1"/>
          <p:nvPr/>
        </p:nvSpPr>
        <p:spPr>
          <a:xfrm>
            <a:off x="6492240" y="1783080"/>
            <a:ext cx="4846320" cy="365760"/>
          </a:xfrm>
          <a:prstGeom prst="rect">
            <a:avLst/>
          </a:prstGeom>
          <a:noFill/>
        </p:spPr>
        <p:txBody>
          <a:bodyPr wrap="square" lIns="36576" tIns="36576" rIns="36576" bIns="36576" anchor="t">
            <a:spAutoFit/>
          </a:bodyPr>
          <a:lstStyle/>
          <a:p>
            <a:pPr algn="l"/>
            <a:r>
              <a:rPr sz="1800" b="1">
                <a:solidFill>
                  <a:srgbClr val="3FB950"/>
                </a:solidFill>
                <a:latin typeface="Aptos"/>
              </a:rPr>
              <a:t>Now</a:t>
            </a:r>
          </a:p>
        </p:txBody>
      </p:sp>
      <p:sp>
        <p:nvSpPr>
          <p:cNvPr id="11" name="Rounded Rectangle 10"/>
          <p:cNvSpPr/>
          <p:nvPr/>
        </p:nvSpPr>
        <p:spPr>
          <a:xfrm>
            <a:off x="6492240" y="2240280"/>
            <a:ext cx="4892040" cy="123444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20840" y="2441448"/>
            <a:ext cx="4434840" cy="868680"/>
          </a:xfrm>
          <a:prstGeom prst="rect">
            <a:avLst/>
          </a:prstGeom>
          <a:noFill/>
        </p:spPr>
        <p:txBody>
          <a:bodyPr wrap="square" lIns="36576" tIns="36576" rIns="36576" bIns="36576" anchor="t">
            <a:spAutoFit/>
          </a:bodyPr>
          <a:lstStyle/>
          <a:p>
            <a:pPr algn="l"/>
            <a:r>
              <a:rPr sz="1500" b="0">
                <a:solidFill>
                  <a:srgbClr val="F0F6FC"/>
                </a:solidFill>
                <a:latin typeface="Cascadia Mono"/>
              </a:rPr>
              <a:t>path:  dynamic/github-code-quality/codeql
actor: github-code-quality</a:t>
            </a:r>
          </a:p>
        </p:txBody>
      </p:sp>
      <p:sp>
        <p:nvSpPr>
          <p:cNvPr id="13" name="TextBox 12"/>
          <p:cNvSpPr txBox="1"/>
          <p:nvPr/>
        </p:nvSpPr>
        <p:spPr>
          <a:xfrm>
            <a:off x="1097280" y="3977639"/>
            <a:ext cx="10058400" cy="1600200"/>
          </a:xfrm>
          <a:prstGeom prst="rect">
            <a:avLst/>
          </a:prstGeom>
          <a:noFill/>
        </p:spPr>
        <p:txBody>
          <a:bodyPr wrap="square" lIns="45720" rIns="36576">
            <a:spAutoFit/>
          </a:bodyPr>
          <a:lstStyle/>
          <a:p>
            <a:pPr>
              <a:spcAft>
                <a:spcPts val="1200"/>
              </a:spcAft>
              <a:defRPr sz="1900">
                <a:solidFill>
                  <a:srgbClr val="F0F6FC"/>
                </a:solidFill>
                <a:latin typeface="Aptos"/>
              </a:defRPr>
            </a:pPr>
            <a:r>
              <a:t>•  Run history and usage reports now separate quality from security</a:t>
            </a:r>
          </a:p>
          <a:p>
            <a:pPr>
              <a:spcAft>
                <a:spcPts val="1200"/>
              </a:spcAft>
              <a:defRPr sz="1900">
                <a:solidFill>
                  <a:srgbClr val="F0F6FC"/>
                </a:solidFill>
                <a:latin typeface="Aptos"/>
              </a:defRPr>
            </a:pPr>
            <a:r>
              <a:t>•  Update billing filters, dashboards, and actor-based scripts</a:t>
            </a:r>
          </a:p>
          <a:p>
            <a:pPr>
              <a:spcAft>
                <a:spcPts val="1200"/>
              </a:spcAft>
              <a:defRPr sz="1900">
                <a:solidFill>
                  <a:srgbClr val="F0F6FC"/>
                </a:solidFill>
                <a:latin typeface="Aptos"/>
              </a:defRPr>
            </a:pPr>
            <a:r>
              <a:t>•  No Code Quality repository reconfiguration is required</a:t>
            </a:r>
          </a:p>
        </p:txBody>
      </p:sp>
      <p:sp>
        <p:nvSpPr>
          <p:cNvPr id="14" name="TextBox 13"/>
          <p:cNvSpPr txBox="1"/>
          <p:nvPr/>
        </p:nvSpPr>
        <p:spPr>
          <a:xfrm>
            <a:off x="640080" y="6519672"/>
            <a:ext cx="5852160" cy="182880"/>
          </a:xfrm>
          <a:prstGeom prst="rect">
            <a:avLst/>
          </a:prstGeom>
          <a:noFill/>
        </p:spPr>
        <p:txBody>
          <a:bodyPr wrap="square" lIns="36576" tIns="36576" rIns="36576" bIns="36576" anchor="t">
            <a:spAutoFit/>
          </a:bodyPr>
          <a:lstStyle/>
          <a:p>
            <a:pPr algn="l"/>
            <a:r>
              <a:rPr sz="900" b="0">
                <a:solidFill>
                  <a:srgbClr val="8B949E"/>
                </a:solidFill>
                <a:latin typeface="Aptos"/>
              </a:rPr>
              <a:t>GitHub Actions Office Hour · Sep 2026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640080" y="292608"/>
            <a:ext cx="6400800" cy="274320"/>
          </a:xfrm>
          <a:prstGeom prst="rect">
            <a:avLst/>
          </a:prstGeom>
          <a:noFill/>
        </p:spPr>
        <p:txBody>
          <a:bodyPr wrap="square" lIns="36576" tIns="36576" rIns="36576" bIns="36576" anchor="t">
            <a:spAutoFit/>
          </a:bodyPr>
          <a:lstStyle/>
          <a:p>
            <a:pPr algn="l"/>
            <a:r>
              <a:rPr sz="1100" b="1">
                <a:solidFill>
                  <a:srgbClr val="58A6FF"/>
                </a:solidFill>
                <a:latin typeface="Aptos"/>
              </a:rPr>
              <a:t>MONTH TO DATE · SEP 6</a:t>
            </a:r>
          </a:p>
        </p:txBody>
      </p:sp>
      <p:sp>
        <p:nvSpPr>
          <p:cNvPr id="3" name="TextBox 2"/>
          <p:cNvSpPr txBox="1"/>
          <p:nvPr/>
        </p:nvSpPr>
        <p:spPr>
          <a:xfrm>
            <a:off x="640080" y="667512"/>
            <a:ext cx="10789920" cy="658368"/>
          </a:xfrm>
          <a:prstGeom prst="rect">
            <a:avLst/>
          </a:prstGeom>
          <a:noFill/>
        </p:spPr>
        <p:txBody>
          <a:bodyPr wrap="square" lIns="36576" tIns="36576" rIns="36576" bIns="36576" anchor="t">
            <a:spAutoFit/>
          </a:bodyPr>
          <a:lstStyle/>
          <a:p>
            <a:pPr algn="l"/>
            <a:r>
              <a:rPr sz="3000" b="1">
                <a:solidFill>
                  <a:srgbClr val="F0F6FC"/>
                </a:solidFill>
                <a:latin typeface="Aptos"/>
              </a:rPr>
              <a:t>September: visibility and least privilege</a:t>
            </a:r>
          </a:p>
        </p:txBody>
      </p:sp>
      <p:sp>
        <p:nvSpPr>
          <p:cNvPr id="4" name="Rectangle 3"/>
          <p:cNvSpPr/>
          <p:nvPr/>
        </p:nvSpPr>
        <p:spPr>
          <a:xfrm>
            <a:off x="640080" y="1417320"/>
            <a:ext cx="914400" cy="45720"/>
          </a:xfrm>
          <a:prstGeom prst="rect">
            <a:avLst/>
          </a:prstGeom>
          <a:solidFill>
            <a:srgbClr val="BC8CFF"/>
          </a:solidFill>
          <a:ln>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310896"/>
            <a:ext cx="457200" cy="274320"/>
          </a:xfrm>
          <a:prstGeom prst="rect">
            <a:avLst/>
          </a:prstGeom>
          <a:noFill/>
        </p:spPr>
        <p:txBody>
          <a:bodyPr wrap="square" lIns="36576" tIns="36576" rIns="36576" bIns="36576" anchor="t">
            <a:spAutoFit/>
          </a:bodyPr>
          <a:lstStyle/>
          <a:p>
            <a:pPr algn="r"/>
            <a:r>
              <a:rPr sz="1100" b="1">
                <a:solidFill>
                  <a:srgbClr val="8B949E"/>
                </a:solidFill>
                <a:latin typeface="Aptos"/>
              </a:rPr>
              <a:t>08</a:t>
            </a:r>
          </a:p>
        </p:txBody>
      </p:sp>
      <p:sp>
        <p:nvSpPr>
          <p:cNvPr id="6" name="Rounded Rectangle 5"/>
          <p:cNvSpPr/>
          <p:nvPr/>
        </p:nvSpPr>
        <p:spPr>
          <a:xfrm>
            <a:off x="731520" y="1783080"/>
            <a:ext cx="3429000" cy="333756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783080"/>
            <a:ext cx="64008" cy="3337560"/>
          </a:xfrm>
          <a:prstGeom prst="rect">
            <a:avLst/>
          </a:prstGeom>
          <a:solidFill>
            <a:srgbClr val="58A6FF"/>
          </a:solidFill>
          <a:ln>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2011680"/>
            <a:ext cx="2971800" cy="274320"/>
          </a:xfrm>
          <a:prstGeom prst="rect">
            <a:avLst/>
          </a:prstGeom>
          <a:noFill/>
        </p:spPr>
        <p:txBody>
          <a:bodyPr wrap="square" lIns="36576" tIns="36576" rIns="36576" bIns="36576" anchor="t">
            <a:spAutoFit/>
          </a:bodyPr>
          <a:lstStyle/>
          <a:p>
            <a:pPr algn="l"/>
            <a:r>
              <a:rPr sz="1000" b="1">
                <a:solidFill>
                  <a:srgbClr val="58A6FF"/>
                </a:solidFill>
                <a:latin typeface="Aptos"/>
              </a:rPr>
              <a:t>API</a:t>
            </a:r>
          </a:p>
        </p:txBody>
      </p:sp>
      <p:sp>
        <p:nvSpPr>
          <p:cNvPr id="9" name="TextBox 8"/>
          <p:cNvSpPr txBox="1"/>
          <p:nvPr/>
        </p:nvSpPr>
        <p:spPr>
          <a:xfrm>
            <a:off x="987552" y="2377440"/>
            <a:ext cx="2916936" cy="658368"/>
          </a:xfrm>
          <a:prstGeom prst="rect">
            <a:avLst/>
          </a:prstGeom>
          <a:noFill/>
        </p:spPr>
        <p:txBody>
          <a:bodyPr wrap="square" lIns="36576" tIns="36576" rIns="36576" bIns="36576" anchor="t">
            <a:spAutoFit/>
          </a:bodyPr>
          <a:lstStyle/>
          <a:p>
            <a:pPr algn="l"/>
            <a:r>
              <a:rPr sz="1900" b="1">
                <a:solidFill>
                  <a:srgbClr val="F0F6FC"/>
                </a:solidFill>
                <a:latin typeface="Aptos"/>
              </a:rPr>
              <a:t>Runner EOL dates</a:t>
            </a:r>
          </a:p>
        </p:txBody>
      </p:sp>
      <p:sp>
        <p:nvSpPr>
          <p:cNvPr id="10" name="TextBox 9"/>
          <p:cNvSpPr txBox="1"/>
          <p:nvPr/>
        </p:nvSpPr>
        <p:spPr>
          <a:xfrm>
            <a:off x="987552" y="3081528"/>
            <a:ext cx="2916936" cy="1819656"/>
          </a:xfrm>
          <a:prstGeom prst="rect">
            <a:avLst/>
          </a:prstGeom>
          <a:noFill/>
        </p:spPr>
        <p:txBody>
          <a:bodyPr wrap="square" lIns="18288" tIns="18288" rIns="18288" bIns="18288" anchor="t">
            <a:spAutoFit/>
          </a:bodyPr>
          <a:lstStyle/>
          <a:p>
            <a:pPr algn="l"/>
            <a:r>
              <a:rPr sz="1300" b="0">
                <a:solidFill>
                  <a:srgbClr val="8B949E"/>
                </a:solidFill>
                <a:latin typeface="Aptos"/>
              </a:rPr>
              <a:t>Ask GitHub when a runner version stops registering and running.</a:t>
            </a:r>
          </a:p>
        </p:txBody>
      </p:sp>
      <p:sp>
        <p:nvSpPr>
          <p:cNvPr id="11" name="Rounded Rectangle 10"/>
          <p:cNvSpPr/>
          <p:nvPr/>
        </p:nvSpPr>
        <p:spPr>
          <a:xfrm>
            <a:off x="4389120" y="1783080"/>
            <a:ext cx="3429000" cy="333756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1783080"/>
            <a:ext cx="64008" cy="3337560"/>
          </a:xfrm>
          <a:prstGeom prst="rect">
            <a:avLst/>
          </a:prstGeom>
          <a:solidFill>
            <a:srgbClr val="BC8CFF"/>
          </a:solidFill>
          <a:ln>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45152" y="2011680"/>
            <a:ext cx="2971800" cy="274320"/>
          </a:xfrm>
          <a:prstGeom prst="rect">
            <a:avLst/>
          </a:prstGeom>
          <a:noFill/>
        </p:spPr>
        <p:txBody>
          <a:bodyPr wrap="square" lIns="36576" tIns="36576" rIns="36576" bIns="36576" anchor="t">
            <a:spAutoFit/>
          </a:bodyPr>
          <a:lstStyle/>
          <a:p>
            <a:pPr algn="l"/>
            <a:r>
              <a:rPr sz="1000" b="1">
                <a:solidFill>
                  <a:srgbClr val="BC8CFF"/>
                </a:solidFill>
                <a:latin typeface="Aptos"/>
              </a:rPr>
              <a:t>TOKEN</a:t>
            </a:r>
          </a:p>
        </p:txBody>
      </p:sp>
      <p:sp>
        <p:nvSpPr>
          <p:cNvPr id="14" name="TextBox 13"/>
          <p:cNvSpPr txBox="1"/>
          <p:nvPr/>
        </p:nvSpPr>
        <p:spPr>
          <a:xfrm>
            <a:off x="4645152" y="2377440"/>
            <a:ext cx="2916936" cy="658368"/>
          </a:xfrm>
          <a:prstGeom prst="rect">
            <a:avLst/>
          </a:prstGeom>
          <a:noFill/>
        </p:spPr>
        <p:txBody>
          <a:bodyPr wrap="square" lIns="36576" tIns="36576" rIns="36576" bIns="36576" anchor="t">
            <a:spAutoFit/>
          </a:bodyPr>
          <a:lstStyle/>
          <a:p>
            <a:pPr algn="l"/>
            <a:r>
              <a:rPr sz="1900" b="1">
                <a:solidFill>
                  <a:srgbClr val="F0F6FC"/>
                </a:solidFill>
                <a:latin typeface="Aptos"/>
              </a:rPr>
              <a:t>Dependabot read scope</a:t>
            </a:r>
          </a:p>
        </p:txBody>
      </p:sp>
      <p:sp>
        <p:nvSpPr>
          <p:cNvPr id="15" name="TextBox 14"/>
          <p:cNvSpPr txBox="1"/>
          <p:nvPr/>
        </p:nvSpPr>
        <p:spPr>
          <a:xfrm>
            <a:off x="4645152" y="3081528"/>
            <a:ext cx="2916936" cy="1819656"/>
          </a:xfrm>
          <a:prstGeom prst="rect">
            <a:avLst/>
          </a:prstGeom>
          <a:noFill/>
        </p:spPr>
        <p:txBody>
          <a:bodyPr wrap="square" lIns="18288" tIns="18288" rIns="18288" bIns="18288" anchor="t">
            <a:spAutoFit/>
          </a:bodyPr>
          <a:lstStyle/>
          <a:p>
            <a:pPr algn="l"/>
            <a:r>
              <a:rPr sz="1300" b="0">
                <a:solidFill>
                  <a:srgbClr val="8B949E"/>
                </a:solidFill>
                <a:latin typeface="Aptos"/>
              </a:rPr>
              <a:t>Read vulnerability alerts without granting a broader permission.</a:t>
            </a:r>
          </a:p>
        </p:txBody>
      </p:sp>
      <p:sp>
        <p:nvSpPr>
          <p:cNvPr id="16" name="Rounded Rectangle 15"/>
          <p:cNvSpPr/>
          <p:nvPr/>
        </p:nvSpPr>
        <p:spPr>
          <a:xfrm>
            <a:off x="8046720" y="1783080"/>
            <a:ext cx="3429000" cy="333756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46720" y="1783080"/>
            <a:ext cx="64008" cy="3337560"/>
          </a:xfrm>
          <a:prstGeom prst="rect">
            <a:avLst/>
          </a:prstGeom>
          <a:solidFill>
            <a:srgbClr val="3FB950"/>
          </a:solidFill>
          <a:ln>
            <a:solidFill>
              <a:srgbClr val="3FB9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02752" y="2011680"/>
            <a:ext cx="2971800" cy="274320"/>
          </a:xfrm>
          <a:prstGeom prst="rect">
            <a:avLst/>
          </a:prstGeom>
          <a:noFill/>
        </p:spPr>
        <p:txBody>
          <a:bodyPr wrap="square" lIns="36576" tIns="36576" rIns="36576" bIns="36576" anchor="t">
            <a:spAutoFit/>
          </a:bodyPr>
          <a:lstStyle/>
          <a:p>
            <a:pPr algn="l"/>
            <a:r>
              <a:rPr sz="1000" b="1">
                <a:solidFill>
                  <a:srgbClr val="3FB950"/>
                </a:solidFill>
                <a:latin typeface="Aptos"/>
              </a:rPr>
              <a:t>CONTEXT</a:t>
            </a:r>
          </a:p>
        </p:txBody>
      </p:sp>
      <p:sp>
        <p:nvSpPr>
          <p:cNvPr id="19" name="TextBox 18"/>
          <p:cNvSpPr txBox="1"/>
          <p:nvPr/>
        </p:nvSpPr>
        <p:spPr>
          <a:xfrm>
            <a:off x="8302752" y="2377440"/>
            <a:ext cx="2916936" cy="658368"/>
          </a:xfrm>
          <a:prstGeom prst="rect">
            <a:avLst/>
          </a:prstGeom>
          <a:noFill/>
        </p:spPr>
        <p:txBody>
          <a:bodyPr wrap="square" lIns="36576" tIns="36576" rIns="36576" bIns="36576" anchor="t">
            <a:spAutoFit/>
          </a:bodyPr>
          <a:lstStyle/>
          <a:p>
            <a:pPr algn="l"/>
            <a:r>
              <a:rPr sz="1900" b="1">
                <a:solidFill>
                  <a:srgbClr val="F0F6FC"/>
                </a:solidFill>
                <a:latin typeface="Aptos"/>
              </a:rPr>
              <a:t>Reusable job source</a:t>
            </a:r>
          </a:p>
        </p:txBody>
      </p:sp>
      <p:sp>
        <p:nvSpPr>
          <p:cNvPr id="20" name="TextBox 19"/>
          <p:cNvSpPr txBox="1"/>
          <p:nvPr/>
        </p:nvSpPr>
        <p:spPr>
          <a:xfrm>
            <a:off x="8302752" y="3081528"/>
            <a:ext cx="2916936" cy="1819656"/>
          </a:xfrm>
          <a:prstGeom prst="rect">
            <a:avLst/>
          </a:prstGeom>
          <a:noFill/>
        </p:spPr>
        <p:txBody>
          <a:bodyPr wrap="square" lIns="18288" tIns="18288" rIns="18288" bIns="18288" anchor="t">
            <a:spAutoFit/>
          </a:bodyPr>
          <a:lstStyle/>
          <a:p>
            <a:pPr algn="l"/>
            <a:r>
              <a:rPr sz="1300" b="0">
                <a:solidFill>
                  <a:srgbClr val="8B949E"/>
                </a:solidFill>
                <a:latin typeface="Aptos"/>
              </a:rPr>
              <a:t>Identify the reusable workflow that actually defines the job.</a:t>
            </a:r>
          </a:p>
        </p:txBody>
      </p:sp>
      <p:sp>
        <p:nvSpPr>
          <p:cNvPr id="21" name="TextBox 20"/>
          <p:cNvSpPr txBox="1"/>
          <p:nvPr/>
        </p:nvSpPr>
        <p:spPr>
          <a:xfrm>
            <a:off x="1188720" y="5715000"/>
            <a:ext cx="9784080" cy="411480"/>
          </a:xfrm>
          <a:prstGeom prst="rect">
            <a:avLst/>
          </a:prstGeom>
          <a:noFill/>
        </p:spPr>
        <p:txBody>
          <a:bodyPr wrap="square" lIns="36576" tIns="36576" rIns="36576" bIns="36576" anchor="t">
            <a:spAutoFit/>
          </a:bodyPr>
          <a:lstStyle/>
          <a:p>
            <a:pPr algn="ctr"/>
            <a:r>
              <a:rPr sz="2100" b="1">
                <a:solidFill>
                  <a:srgbClr val="F0F6FC"/>
                </a:solidFill>
                <a:latin typeface="Aptos"/>
              </a:rPr>
              <a:t>All three reduce hidden assumptions in shared automation.</a:t>
            </a:r>
          </a:p>
        </p:txBody>
      </p:sp>
      <p:sp>
        <p:nvSpPr>
          <p:cNvPr id="22" name="TextBox 21"/>
          <p:cNvSpPr txBox="1"/>
          <p:nvPr/>
        </p:nvSpPr>
        <p:spPr>
          <a:xfrm>
            <a:off x="640080" y="6519672"/>
            <a:ext cx="5852160" cy="182880"/>
          </a:xfrm>
          <a:prstGeom prst="rect">
            <a:avLst/>
          </a:prstGeom>
          <a:noFill/>
        </p:spPr>
        <p:txBody>
          <a:bodyPr wrap="square" lIns="36576" tIns="36576" rIns="36576" bIns="36576" anchor="t">
            <a:spAutoFit/>
          </a:bodyPr>
          <a:lstStyle/>
          <a:p>
            <a:pPr algn="l"/>
            <a:r>
              <a:rPr sz="900" b="0">
                <a:solidFill>
                  <a:srgbClr val="8B949E"/>
                </a:solidFill>
                <a:latin typeface="Aptos"/>
              </a:rPr>
              <a:t>GitHub Actions Office Hour · Sep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640080" y="292608"/>
            <a:ext cx="6400800" cy="274320"/>
          </a:xfrm>
          <a:prstGeom prst="rect">
            <a:avLst/>
          </a:prstGeom>
          <a:noFill/>
        </p:spPr>
        <p:txBody>
          <a:bodyPr wrap="square" lIns="36576" tIns="36576" rIns="36576" bIns="36576" anchor="t">
            <a:spAutoFit/>
          </a:bodyPr>
          <a:lstStyle/>
          <a:p>
            <a:pPr algn="l"/>
            <a:r>
              <a:rPr sz="1100" b="1">
                <a:solidFill>
                  <a:srgbClr val="58A6FF"/>
                </a:solidFill>
                <a:latin typeface="Aptos"/>
              </a:rPr>
              <a:t>SEPTEMBER · REST API</a:t>
            </a:r>
          </a:p>
        </p:txBody>
      </p:sp>
      <p:sp>
        <p:nvSpPr>
          <p:cNvPr id="3" name="TextBox 2"/>
          <p:cNvSpPr txBox="1"/>
          <p:nvPr/>
        </p:nvSpPr>
        <p:spPr>
          <a:xfrm>
            <a:off x="640080" y="667512"/>
            <a:ext cx="10789920" cy="658368"/>
          </a:xfrm>
          <a:prstGeom prst="rect">
            <a:avLst/>
          </a:prstGeom>
          <a:noFill/>
        </p:spPr>
        <p:txBody>
          <a:bodyPr wrap="square" lIns="36576" tIns="36576" rIns="36576" bIns="36576" anchor="t">
            <a:spAutoFit/>
          </a:bodyPr>
          <a:lstStyle/>
          <a:p>
            <a:pPr algn="l"/>
            <a:r>
              <a:rPr sz="3000" b="1">
                <a:solidFill>
                  <a:srgbClr val="F0F6FC"/>
                </a:solidFill>
                <a:latin typeface="Aptos"/>
              </a:rPr>
              <a:t>Automate runner upgrade planning</a:t>
            </a:r>
          </a:p>
        </p:txBody>
      </p:sp>
      <p:sp>
        <p:nvSpPr>
          <p:cNvPr id="4" name="Rectangle 3"/>
          <p:cNvSpPr/>
          <p:nvPr/>
        </p:nvSpPr>
        <p:spPr>
          <a:xfrm>
            <a:off x="640080" y="1417320"/>
            <a:ext cx="914400" cy="45720"/>
          </a:xfrm>
          <a:prstGeom prst="rect">
            <a:avLst/>
          </a:prstGeom>
          <a:solidFill>
            <a:srgbClr val="BC8CFF"/>
          </a:solidFill>
          <a:ln>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310896"/>
            <a:ext cx="457200" cy="274320"/>
          </a:xfrm>
          <a:prstGeom prst="rect">
            <a:avLst/>
          </a:prstGeom>
          <a:noFill/>
        </p:spPr>
        <p:txBody>
          <a:bodyPr wrap="square" lIns="36576" tIns="36576" rIns="36576" bIns="36576" anchor="t">
            <a:spAutoFit/>
          </a:bodyPr>
          <a:lstStyle/>
          <a:p>
            <a:pPr algn="r"/>
            <a:r>
              <a:rPr sz="1100" b="1">
                <a:solidFill>
                  <a:srgbClr val="8B949E"/>
                </a:solidFill>
                <a:latin typeface="Aptos"/>
              </a:rPr>
              <a:t>09</a:t>
            </a:r>
          </a:p>
        </p:txBody>
      </p:sp>
      <p:sp>
        <p:nvSpPr>
          <p:cNvPr id="6" name="Rounded Rectangle 5"/>
          <p:cNvSpPr/>
          <p:nvPr/>
        </p:nvSpPr>
        <p:spPr>
          <a:xfrm>
            <a:off x="777240" y="1828800"/>
            <a:ext cx="4572000" cy="132588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2029968"/>
            <a:ext cx="4114800" cy="960119"/>
          </a:xfrm>
          <a:prstGeom prst="rect">
            <a:avLst/>
          </a:prstGeom>
          <a:noFill/>
        </p:spPr>
        <p:txBody>
          <a:bodyPr wrap="square" lIns="36576" tIns="36576" rIns="36576" bIns="36576" anchor="t">
            <a:spAutoFit/>
          </a:bodyPr>
          <a:lstStyle/>
          <a:p>
            <a:pPr algn="l"/>
            <a:r>
              <a:rPr sz="1800" b="0">
                <a:solidFill>
                  <a:srgbClr val="F0F6FC"/>
                </a:solidFill>
                <a:latin typeface="Cascadia Mono"/>
              </a:rPr>
              <a:t>GET /orgs/{org}/actions/runners/
    deprecations/{version}</a:t>
            </a:r>
          </a:p>
        </p:txBody>
      </p:sp>
      <p:sp>
        <p:nvSpPr>
          <p:cNvPr id="8" name="Rounded Rectangle 7"/>
          <p:cNvSpPr/>
          <p:nvPr/>
        </p:nvSpPr>
        <p:spPr>
          <a:xfrm>
            <a:off x="777240" y="3429000"/>
            <a:ext cx="4572000" cy="1874519"/>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3630168"/>
            <a:ext cx="4114800" cy="1508760"/>
          </a:xfrm>
          <a:prstGeom prst="rect">
            <a:avLst/>
          </a:prstGeom>
          <a:noFill/>
        </p:spPr>
        <p:txBody>
          <a:bodyPr wrap="square" lIns="36576" tIns="36576" rIns="36576" bIns="36576" anchor="t">
            <a:spAutoFit/>
          </a:bodyPr>
          <a:lstStyle/>
          <a:p>
            <a:pPr algn="l"/>
            <a:r>
              <a:rPr sz="1500" b="0">
                <a:solidFill>
                  <a:srgbClr val="F0F6FC"/>
                </a:solidFill>
                <a:latin typeface="Cascadia Mono"/>
              </a:rPr>
              <a:t>{
  "runner_version": "2.x.y",
  "registration_deprecates_at": "...",
  "runtime_deprecates_at": "..."
}</a:t>
            </a:r>
          </a:p>
        </p:txBody>
      </p:sp>
      <p:sp>
        <p:nvSpPr>
          <p:cNvPr id="10" name="TextBox 9"/>
          <p:cNvSpPr txBox="1"/>
          <p:nvPr/>
        </p:nvSpPr>
        <p:spPr>
          <a:xfrm>
            <a:off x="5852160" y="1847088"/>
            <a:ext cx="5303520" cy="3200400"/>
          </a:xfrm>
          <a:prstGeom prst="rect">
            <a:avLst/>
          </a:prstGeom>
          <a:noFill/>
        </p:spPr>
        <p:txBody>
          <a:bodyPr wrap="square" lIns="45720" rIns="36576">
            <a:spAutoFit/>
          </a:bodyPr>
          <a:lstStyle/>
          <a:p>
            <a:pPr>
              <a:spcAft>
                <a:spcPts val="1400"/>
              </a:spcAft>
              <a:defRPr sz="1900">
                <a:solidFill>
                  <a:srgbClr val="F0F6FC"/>
                </a:solidFill>
                <a:latin typeface="Aptos"/>
              </a:defRPr>
            </a:pPr>
            <a:r>
              <a:t>•  Repository, organization, or enterprise scope</a:t>
            </a:r>
          </a:p>
          <a:p>
            <a:pPr>
              <a:spcAft>
                <a:spcPts val="1400"/>
              </a:spcAft>
              <a:defRPr sz="1900">
                <a:solidFill>
                  <a:srgbClr val="F0F6FC"/>
                </a:solidFill>
                <a:latin typeface="Aptos"/>
              </a:defRPr>
            </a:pPr>
            <a:r>
              <a:t>•  Registration cutoff: new runner connections</a:t>
            </a:r>
          </a:p>
          <a:p>
            <a:pPr>
              <a:spcAft>
                <a:spcPts val="1400"/>
              </a:spcAft>
              <a:defRPr sz="1900">
                <a:solidFill>
                  <a:srgbClr val="F0F6FC"/>
                </a:solidFill>
                <a:latin typeface="Aptos"/>
              </a:defRPr>
            </a:pPr>
            <a:r>
              <a:t>•  Runtime cutoff: existing runner execution</a:t>
            </a:r>
          </a:p>
          <a:p>
            <a:pPr>
              <a:spcAft>
                <a:spcPts val="1400"/>
              </a:spcAft>
              <a:defRPr sz="1900">
                <a:solidFill>
                  <a:srgbClr val="F0F6FC"/>
                </a:solidFill>
                <a:latin typeface="Aptos"/>
              </a:defRPr>
            </a:pPr>
            <a:r>
              <a:t>•  Feed dates into inventory alerts and upgrade SLAs</a:t>
            </a:r>
          </a:p>
        </p:txBody>
      </p:sp>
      <p:sp>
        <p:nvSpPr>
          <p:cNvPr id="11" name="Rounded Rectangle 10"/>
          <p:cNvSpPr/>
          <p:nvPr/>
        </p:nvSpPr>
        <p:spPr>
          <a:xfrm>
            <a:off x="5897880" y="5257800"/>
            <a:ext cx="5074920" cy="658368"/>
          </a:xfrm>
          <a:prstGeom prst="roundRect">
            <a:avLst/>
          </a:prstGeom>
          <a:solidFill>
            <a:srgbClr val="21262D"/>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26480" y="5449824"/>
            <a:ext cx="4572000" cy="274320"/>
          </a:xfrm>
          <a:prstGeom prst="rect">
            <a:avLst/>
          </a:prstGeom>
          <a:noFill/>
        </p:spPr>
        <p:txBody>
          <a:bodyPr wrap="square" lIns="36576" tIns="36576" rIns="36576" bIns="36576" anchor="t">
            <a:spAutoFit/>
          </a:bodyPr>
          <a:lstStyle/>
          <a:p>
            <a:pPr algn="ctr"/>
            <a:r>
              <a:rPr sz="1600" b="1">
                <a:solidFill>
                  <a:srgbClr val="3FB950"/>
                </a:solidFill>
                <a:latin typeface="Aptos"/>
              </a:rPr>
              <a:t>Best use: proactive fleet health checks</a:t>
            </a:r>
          </a:p>
        </p:txBody>
      </p:sp>
      <p:sp>
        <p:nvSpPr>
          <p:cNvPr id="13" name="TextBox 12"/>
          <p:cNvSpPr txBox="1"/>
          <p:nvPr/>
        </p:nvSpPr>
        <p:spPr>
          <a:xfrm>
            <a:off x="640080" y="6519672"/>
            <a:ext cx="5852160" cy="182880"/>
          </a:xfrm>
          <a:prstGeom prst="rect">
            <a:avLst/>
          </a:prstGeom>
          <a:noFill/>
        </p:spPr>
        <p:txBody>
          <a:bodyPr wrap="square" lIns="36576" tIns="36576" rIns="36576" bIns="36576" anchor="t">
            <a:spAutoFit/>
          </a:bodyPr>
          <a:lstStyle/>
          <a:p>
            <a:pPr algn="l"/>
            <a:r>
              <a:rPr sz="900" b="0">
                <a:solidFill>
                  <a:srgbClr val="8B949E"/>
                </a:solidFill>
                <a:latin typeface="Aptos"/>
              </a:rPr>
              <a:t>GitHub Actions Office Hour · Sep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640080" y="292608"/>
            <a:ext cx="6400800" cy="274320"/>
          </a:xfrm>
          <a:prstGeom prst="rect">
            <a:avLst/>
          </a:prstGeom>
          <a:noFill/>
        </p:spPr>
        <p:txBody>
          <a:bodyPr wrap="square" lIns="36576" tIns="36576" rIns="36576" bIns="36576" anchor="t">
            <a:spAutoFit/>
          </a:bodyPr>
          <a:lstStyle/>
          <a:p>
            <a:pPr algn="l"/>
            <a:r>
              <a:rPr sz="1100" b="1">
                <a:solidFill>
                  <a:srgbClr val="58A6FF"/>
                </a:solidFill>
                <a:latin typeface="Aptos"/>
              </a:rPr>
              <a:t>SEPTEMBER · GITHUB_TOKEN</a:t>
            </a:r>
          </a:p>
        </p:txBody>
      </p:sp>
      <p:sp>
        <p:nvSpPr>
          <p:cNvPr id="3" name="TextBox 2"/>
          <p:cNvSpPr txBox="1"/>
          <p:nvPr/>
        </p:nvSpPr>
        <p:spPr>
          <a:xfrm>
            <a:off x="640080" y="667512"/>
            <a:ext cx="10789920" cy="658368"/>
          </a:xfrm>
          <a:prstGeom prst="rect">
            <a:avLst/>
          </a:prstGeom>
          <a:noFill/>
        </p:spPr>
        <p:txBody>
          <a:bodyPr wrap="square" lIns="36576" tIns="36576" rIns="36576" bIns="36576" anchor="t">
            <a:spAutoFit/>
          </a:bodyPr>
          <a:lstStyle/>
          <a:p>
            <a:pPr algn="l"/>
            <a:r>
              <a:rPr sz="3000" b="1">
                <a:solidFill>
                  <a:srgbClr val="F0F6FC"/>
                </a:solidFill>
                <a:latin typeface="Aptos"/>
              </a:rPr>
              <a:t>Read alerts without opening the whole security drawer</a:t>
            </a:r>
          </a:p>
        </p:txBody>
      </p:sp>
      <p:sp>
        <p:nvSpPr>
          <p:cNvPr id="4" name="Rectangle 3"/>
          <p:cNvSpPr/>
          <p:nvPr/>
        </p:nvSpPr>
        <p:spPr>
          <a:xfrm>
            <a:off x="640080" y="1417320"/>
            <a:ext cx="914400" cy="45720"/>
          </a:xfrm>
          <a:prstGeom prst="rect">
            <a:avLst/>
          </a:prstGeom>
          <a:solidFill>
            <a:srgbClr val="BC8CFF"/>
          </a:solidFill>
          <a:ln>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310896"/>
            <a:ext cx="457200" cy="274320"/>
          </a:xfrm>
          <a:prstGeom prst="rect">
            <a:avLst/>
          </a:prstGeom>
          <a:noFill/>
        </p:spPr>
        <p:txBody>
          <a:bodyPr wrap="square" lIns="36576" tIns="36576" rIns="36576" bIns="36576" anchor="t">
            <a:spAutoFit/>
          </a:bodyPr>
          <a:lstStyle/>
          <a:p>
            <a:pPr algn="r"/>
            <a:r>
              <a:rPr sz="1100" b="1">
                <a:solidFill>
                  <a:srgbClr val="8B949E"/>
                </a:solidFill>
                <a:latin typeface="Aptos"/>
              </a:rPr>
              <a:t>10</a:t>
            </a:r>
          </a:p>
        </p:txBody>
      </p:sp>
      <p:sp>
        <p:nvSpPr>
          <p:cNvPr id="6" name="Rounded Rectangle 5"/>
          <p:cNvSpPr/>
          <p:nvPr/>
        </p:nvSpPr>
        <p:spPr>
          <a:xfrm>
            <a:off x="822960" y="1874519"/>
            <a:ext cx="4800600" cy="160020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075688"/>
            <a:ext cx="4343400" cy="1234440"/>
          </a:xfrm>
          <a:prstGeom prst="rect">
            <a:avLst/>
          </a:prstGeom>
          <a:noFill/>
        </p:spPr>
        <p:txBody>
          <a:bodyPr wrap="square" lIns="36576" tIns="36576" rIns="36576" bIns="36576" anchor="t">
            <a:spAutoFit/>
          </a:bodyPr>
          <a:lstStyle/>
          <a:p>
            <a:pPr algn="l"/>
            <a:r>
              <a:rPr sz="1900" b="0">
                <a:solidFill>
                  <a:srgbClr val="F0F6FC"/>
                </a:solidFill>
                <a:latin typeface="Cascadia Mono"/>
              </a:rPr>
              <a:t>permissions:
  contents: read
  vulnerability-alerts: read</a:t>
            </a:r>
          </a:p>
        </p:txBody>
      </p:sp>
      <p:sp>
        <p:nvSpPr>
          <p:cNvPr id="8" name="TextBox 7"/>
          <p:cNvSpPr txBox="1"/>
          <p:nvPr/>
        </p:nvSpPr>
        <p:spPr>
          <a:xfrm>
            <a:off x="6080760" y="1874519"/>
            <a:ext cx="4663440" cy="411480"/>
          </a:xfrm>
          <a:prstGeom prst="rect">
            <a:avLst/>
          </a:prstGeom>
          <a:noFill/>
        </p:spPr>
        <p:txBody>
          <a:bodyPr wrap="square" lIns="36576" tIns="36576" rIns="36576" bIns="36576" anchor="t">
            <a:spAutoFit/>
          </a:bodyPr>
          <a:lstStyle/>
          <a:p>
            <a:pPr algn="l"/>
            <a:r>
              <a:rPr sz="2300" b="1">
                <a:solidFill>
                  <a:srgbClr val="F0F6FC"/>
                </a:solidFill>
                <a:latin typeface="Aptos"/>
              </a:rPr>
              <a:t>Purpose-built access</a:t>
            </a:r>
          </a:p>
        </p:txBody>
      </p:sp>
      <p:sp>
        <p:nvSpPr>
          <p:cNvPr id="9" name="TextBox 8"/>
          <p:cNvSpPr txBox="1"/>
          <p:nvPr/>
        </p:nvSpPr>
        <p:spPr>
          <a:xfrm>
            <a:off x="6035040" y="2450592"/>
            <a:ext cx="5029200" cy="2377440"/>
          </a:xfrm>
          <a:prstGeom prst="rect">
            <a:avLst/>
          </a:prstGeom>
          <a:noFill/>
        </p:spPr>
        <p:txBody>
          <a:bodyPr wrap="square" lIns="45720" rIns="36576">
            <a:spAutoFit/>
          </a:bodyPr>
          <a:lstStyle/>
          <a:p>
            <a:pPr>
              <a:spcAft>
                <a:spcPts val="1200"/>
              </a:spcAft>
              <a:defRPr sz="1800">
                <a:solidFill>
                  <a:srgbClr val="F0F6FC"/>
                </a:solidFill>
                <a:latin typeface="Aptos"/>
              </a:defRPr>
            </a:pPr>
            <a:r>
              <a:t>•  Supports read or none</a:t>
            </a:r>
          </a:p>
          <a:p>
            <a:pPr>
              <a:spcAft>
                <a:spcPts val="1200"/>
              </a:spcAft>
              <a:defRPr sz="1800">
                <a:solidFill>
                  <a:srgbClr val="F0F6FC"/>
                </a:solidFill>
                <a:latin typeface="Aptos"/>
              </a:defRPr>
            </a:pPr>
            <a:r>
              <a:t>•  Works with the workflow-scoped GITHUB_TOKEN</a:t>
            </a:r>
          </a:p>
          <a:p>
            <a:pPr>
              <a:spcAft>
                <a:spcPts val="1200"/>
              </a:spcAft>
              <a:defRPr sz="1800">
                <a:solidFill>
                  <a:srgbClr val="F0F6FC"/>
                </a:solidFill>
                <a:latin typeface="Aptos"/>
              </a:defRPr>
            </a:pPr>
            <a:r>
              <a:t>•  Avoids a PAT and reduces permission surface</a:t>
            </a:r>
          </a:p>
          <a:p>
            <a:pPr>
              <a:spcAft>
                <a:spcPts val="1200"/>
              </a:spcAft>
              <a:defRPr sz="1800">
                <a:solidFill>
                  <a:srgbClr val="F0F6FC"/>
                </a:solidFill>
                <a:latin typeface="Aptos"/>
              </a:defRPr>
            </a:pPr>
            <a:r>
              <a:t>•  Can be set at workflow or job scope</a:t>
            </a:r>
          </a:p>
        </p:txBody>
      </p:sp>
      <p:sp>
        <p:nvSpPr>
          <p:cNvPr id="10" name="Rounded Rectangle 9"/>
          <p:cNvSpPr/>
          <p:nvPr/>
        </p:nvSpPr>
        <p:spPr>
          <a:xfrm>
            <a:off x="822960" y="3977639"/>
            <a:ext cx="4800600" cy="1051560"/>
          </a:xfrm>
          <a:prstGeom prst="roundRect">
            <a:avLst/>
          </a:prstGeom>
          <a:solidFill>
            <a:srgbClr val="21262D"/>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187952"/>
            <a:ext cx="1463040" cy="274320"/>
          </a:xfrm>
          <a:prstGeom prst="rect">
            <a:avLst/>
          </a:prstGeom>
          <a:noFill/>
        </p:spPr>
        <p:txBody>
          <a:bodyPr wrap="square" lIns="36576" tIns="36576" rIns="36576" bIns="36576" anchor="t">
            <a:spAutoFit/>
          </a:bodyPr>
          <a:lstStyle/>
          <a:p>
            <a:pPr algn="l"/>
            <a:r>
              <a:rPr sz="1600" b="1">
                <a:solidFill>
                  <a:srgbClr val="BC8CFF"/>
                </a:solidFill>
                <a:latin typeface="Aptos"/>
              </a:rPr>
              <a:t>Default closed</a:t>
            </a:r>
          </a:p>
        </p:txBody>
      </p:sp>
      <p:sp>
        <p:nvSpPr>
          <p:cNvPr id="12" name="TextBox 11"/>
          <p:cNvSpPr txBox="1"/>
          <p:nvPr/>
        </p:nvSpPr>
        <p:spPr>
          <a:xfrm>
            <a:off x="2423160" y="4187952"/>
            <a:ext cx="2834640" cy="274320"/>
          </a:xfrm>
          <a:prstGeom prst="rect">
            <a:avLst/>
          </a:prstGeom>
          <a:noFill/>
        </p:spPr>
        <p:txBody>
          <a:bodyPr wrap="square" lIns="36576" tIns="36576" rIns="36576" bIns="36576" anchor="t">
            <a:spAutoFit/>
          </a:bodyPr>
          <a:lstStyle/>
          <a:p>
            <a:pPr algn="l"/>
            <a:r>
              <a:rPr sz="1600" b="0">
                <a:solidFill>
                  <a:srgbClr val="F0F6FC"/>
                </a:solidFill>
                <a:latin typeface="Aptos"/>
              </a:rPr>
              <a:t>Declare only where needed.</a:t>
            </a:r>
          </a:p>
        </p:txBody>
      </p:sp>
      <p:sp>
        <p:nvSpPr>
          <p:cNvPr id="13" name="TextBox 12"/>
          <p:cNvSpPr txBox="1"/>
          <p:nvPr/>
        </p:nvSpPr>
        <p:spPr>
          <a:xfrm>
            <a:off x="1097280" y="5504688"/>
            <a:ext cx="9875520" cy="320040"/>
          </a:xfrm>
          <a:prstGeom prst="rect">
            <a:avLst/>
          </a:prstGeom>
          <a:noFill/>
        </p:spPr>
        <p:txBody>
          <a:bodyPr wrap="none" lIns="36576" rIns="36576">
            <a:spAutoFit/>
          </a:bodyPr>
          <a:lstStyle/>
          <a:p>
            <a:pPr algn="ctr"/>
            <a:r>
              <a:rPr sz="1900" b="1">
                <a:solidFill>
                  <a:srgbClr val="58A6FF"/>
                </a:solidFill>
                <a:latin typeface="Aptos"/>
              </a:rPr>
              <a:t>Pattern: </a:t>
            </a:r>
            <a:r>
              <a:rPr sz="1900" b="0">
                <a:solidFill>
                  <a:srgbClr val="F0F6FC"/>
                </a:solidFill>
                <a:latin typeface="Aptos"/>
              </a:rPr>
              <a:t>workflow defaults + job-level elevation</a:t>
            </a:r>
          </a:p>
        </p:txBody>
      </p:sp>
      <p:sp>
        <p:nvSpPr>
          <p:cNvPr id="14" name="TextBox 13"/>
          <p:cNvSpPr txBox="1"/>
          <p:nvPr/>
        </p:nvSpPr>
        <p:spPr>
          <a:xfrm>
            <a:off x="640080" y="6519672"/>
            <a:ext cx="5852160" cy="182880"/>
          </a:xfrm>
          <a:prstGeom prst="rect">
            <a:avLst/>
          </a:prstGeom>
          <a:noFill/>
        </p:spPr>
        <p:txBody>
          <a:bodyPr wrap="square" lIns="36576" tIns="36576" rIns="36576" bIns="36576" anchor="t">
            <a:spAutoFit/>
          </a:bodyPr>
          <a:lstStyle/>
          <a:p>
            <a:pPr algn="l"/>
            <a:r>
              <a:rPr sz="900" b="0">
                <a:solidFill>
                  <a:srgbClr val="8B949E"/>
                </a:solidFill>
                <a:latin typeface="Aptos"/>
              </a:rPr>
              <a:t>GitHub Actions Office Hour · Sep 2026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640080" y="292608"/>
            <a:ext cx="6400800" cy="274320"/>
          </a:xfrm>
          <a:prstGeom prst="rect">
            <a:avLst/>
          </a:prstGeom>
          <a:noFill/>
        </p:spPr>
        <p:txBody>
          <a:bodyPr wrap="square" lIns="36576" tIns="36576" rIns="36576" bIns="36576" anchor="t">
            <a:spAutoFit/>
          </a:bodyPr>
          <a:lstStyle/>
          <a:p>
            <a:pPr algn="l"/>
            <a:r>
              <a:rPr sz="1100" b="1">
                <a:solidFill>
                  <a:srgbClr val="58A6FF"/>
                </a:solidFill>
                <a:latin typeface="Aptos"/>
              </a:rPr>
              <a:t>SEPTEMBER · JOB CONTEXT</a:t>
            </a:r>
          </a:p>
        </p:txBody>
      </p:sp>
      <p:sp>
        <p:nvSpPr>
          <p:cNvPr id="3" name="TextBox 2"/>
          <p:cNvSpPr txBox="1"/>
          <p:nvPr/>
        </p:nvSpPr>
        <p:spPr>
          <a:xfrm>
            <a:off x="640080" y="667512"/>
            <a:ext cx="10789920" cy="658368"/>
          </a:xfrm>
          <a:prstGeom prst="rect">
            <a:avLst/>
          </a:prstGeom>
          <a:noFill/>
        </p:spPr>
        <p:txBody>
          <a:bodyPr wrap="square" lIns="36576" tIns="36576" rIns="36576" bIns="36576" anchor="t">
            <a:spAutoFit/>
          </a:bodyPr>
          <a:lstStyle/>
          <a:p>
            <a:pPr algn="l"/>
            <a:r>
              <a:rPr sz="3000" b="1">
                <a:solidFill>
                  <a:srgbClr val="F0F6FC"/>
                </a:solidFill>
                <a:latin typeface="Aptos"/>
              </a:rPr>
              <a:t>Reusable workflows can identify their own source</a:t>
            </a:r>
          </a:p>
        </p:txBody>
      </p:sp>
      <p:sp>
        <p:nvSpPr>
          <p:cNvPr id="4" name="Rectangle 3"/>
          <p:cNvSpPr/>
          <p:nvPr/>
        </p:nvSpPr>
        <p:spPr>
          <a:xfrm>
            <a:off x="640080" y="1417320"/>
            <a:ext cx="914400" cy="45720"/>
          </a:xfrm>
          <a:prstGeom prst="rect">
            <a:avLst/>
          </a:prstGeom>
          <a:solidFill>
            <a:srgbClr val="BC8CFF"/>
          </a:solidFill>
          <a:ln>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310896"/>
            <a:ext cx="457200" cy="274320"/>
          </a:xfrm>
          <a:prstGeom prst="rect">
            <a:avLst/>
          </a:prstGeom>
          <a:noFill/>
        </p:spPr>
        <p:txBody>
          <a:bodyPr wrap="square" lIns="36576" tIns="36576" rIns="36576" bIns="36576" anchor="t">
            <a:spAutoFit/>
          </a:bodyPr>
          <a:lstStyle/>
          <a:p>
            <a:pPr algn="r"/>
            <a:r>
              <a:rPr sz="1100" b="1">
                <a:solidFill>
                  <a:srgbClr val="8B949E"/>
                </a:solidFill>
                <a:latin typeface="Aptos"/>
              </a:rPr>
              <a:t>11</a:t>
            </a:r>
          </a:p>
        </p:txBody>
      </p:sp>
      <p:sp>
        <p:nvSpPr>
          <p:cNvPr id="6" name="Rounded Rectangle 5"/>
          <p:cNvSpPr/>
          <p:nvPr/>
        </p:nvSpPr>
        <p:spPr>
          <a:xfrm>
            <a:off x="777240" y="1783080"/>
            <a:ext cx="5074920" cy="100584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965960"/>
            <a:ext cx="3291840" cy="274320"/>
          </a:xfrm>
          <a:prstGeom prst="rect">
            <a:avLst/>
          </a:prstGeom>
          <a:noFill/>
        </p:spPr>
        <p:txBody>
          <a:bodyPr wrap="square" lIns="36576" tIns="36576" rIns="36576" bIns="36576" anchor="t">
            <a:spAutoFit/>
          </a:bodyPr>
          <a:lstStyle/>
          <a:p>
            <a:pPr algn="l"/>
            <a:r>
              <a:rPr sz="1600" b="1">
                <a:solidFill>
                  <a:srgbClr val="58A6FF"/>
                </a:solidFill>
                <a:latin typeface="Cascadia Mono"/>
              </a:rPr>
              <a:t>job.workflow_ref</a:t>
            </a:r>
          </a:p>
        </p:txBody>
      </p:sp>
      <p:sp>
        <p:nvSpPr>
          <p:cNvPr id="8" name="TextBox 7"/>
          <p:cNvSpPr txBox="1"/>
          <p:nvPr/>
        </p:nvSpPr>
        <p:spPr>
          <a:xfrm>
            <a:off x="1005840" y="2359152"/>
            <a:ext cx="4389120" cy="228600"/>
          </a:xfrm>
          <a:prstGeom prst="rect">
            <a:avLst/>
          </a:prstGeom>
          <a:noFill/>
        </p:spPr>
        <p:txBody>
          <a:bodyPr wrap="square" lIns="36576" tIns="36576" rIns="36576" bIns="36576" anchor="t">
            <a:spAutoFit/>
          </a:bodyPr>
          <a:lstStyle/>
          <a:p>
            <a:pPr algn="l"/>
            <a:r>
              <a:rPr sz="1400" b="0">
                <a:solidFill>
                  <a:srgbClr val="8B949E"/>
                </a:solidFill>
                <a:latin typeface="Aptos"/>
              </a:rPr>
              <a:t>full workflow ref</a:t>
            </a:r>
          </a:p>
        </p:txBody>
      </p:sp>
      <p:sp>
        <p:nvSpPr>
          <p:cNvPr id="9" name="Rounded Rectangle 8"/>
          <p:cNvSpPr/>
          <p:nvPr/>
        </p:nvSpPr>
        <p:spPr>
          <a:xfrm>
            <a:off x="6309359" y="1783080"/>
            <a:ext cx="5074920" cy="100584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59" y="1965960"/>
            <a:ext cx="3291840" cy="274320"/>
          </a:xfrm>
          <a:prstGeom prst="rect">
            <a:avLst/>
          </a:prstGeom>
          <a:noFill/>
        </p:spPr>
        <p:txBody>
          <a:bodyPr wrap="square" lIns="36576" tIns="36576" rIns="36576" bIns="36576" anchor="t">
            <a:spAutoFit/>
          </a:bodyPr>
          <a:lstStyle/>
          <a:p>
            <a:pPr algn="l"/>
            <a:r>
              <a:rPr sz="1600" b="1">
                <a:solidFill>
                  <a:srgbClr val="58A6FF"/>
                </a:solidFill>
                <a:latin typeface="Cascadia Mono"/>
              </a:rPr>
              <a:t>job.workflow_sha</a:t>
            </a:r>
          </a:p>
        </p:txBody>
      </p:sp>
      <p:sp>
        <p:nvSpPr>
          <p:cNvPr id="11" name="TextBox 10"/>
          <p:cNvSpPr txBox="1"/>
          <p:nvPr/>
        </p:nvSpPr>
        <p:spPr>
          <a:xfrm>
            <a:off x="6537959" y="2359152"/>
            <a:ext cx="4389120" cy="228600"/>
          </a:xfrm>
          <a:prstGeom prst="rect">
            <a:avLst/>
          </a:prstGeom>
          <a:noFill/>
        </p:spPr>
        <p:txBody>
          <a:bodyPr wrap="square" lIns="36576" tIns="36576" rIns="36576" bIns="36576" anchor="t">
            <a:spAutoFit/>
          </a:bodyPr>
          <a:lstStyle/>
          <a:p>
            <a:pPr algn="l"/>
            <a:r>
              <a:rPr sz="1400" b="0">
                <a:solidFill>
                  <a:srgbClr val="8B949E"/>
                </a:solidFill>
                <a:latin typeface="Aptos"/>
              </a:rPr>
              <a:t>defining commit</a:t>
            </a:r>
          </a:p>
        </p:txBody>
      </p:sp>
      <p:sp>
        <p:nvSpPr>
          <p:cNvPr id="12" name="Rounded Rectangle 11"/>
          <p:cNvSpPr/>
          <p:nvPr/>
        </p:nvSpPr>
        <p:spPr>
          <a:xfrm>
            <a:off x="777240" y="3108960"/>
            <a:ext cx="5074920" cy="100584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05840" y="3291840"/>
            <a:ext cx="3291840" cy="274320"/>
          </a:xfrm>
          <a:prstGeom prst="rect">
            <a:avLst/>
          </a:prstGeom>
          <a:noFill/>
        </p:spPr>
        <p:txBody>
          <a:bodyPr wrap="square" lIns="36576" tIns="36576" rIns="36576" bIns="36576" anchor="t">
            <a:spAutoFit/>
          </a:bodyPr>
          <a:lstStyle/>
          <a:p>
            <a:pPr algn="l"/>
            <a:r>
              <a:rPr sz="1600" b="1">
                <a:solidFill>
                  <a:srgbClr val="58A6FF"/>
                </a:solidFill>
                <a:latin typeface="Cascadia Mono"/>
              </a:rPr>
              <a:t>job.workflow_repository</a:t>
            </a:r>
          </a:p>
        </p:txBody>
      </p:sp>
      <p:sp>
        <p:nvSpPr>
          <p:cNvPr id="14" name="TextBox 13"/>
          <p:cNvSpPr txBox="1"/>
          <p:nvPr/>
        </p:nvSpPr>
        <p:spPr>
          <a:xfrm>
            <a:off x="1005840" y="3685032"/>
            <a:ext cx="4389120" cy="228600"/>
          </a:xfrm>
          <a:prstGeom prst="rect">
            <a:avLst/>
          </a:prstGeom>
          <a:noFill/>
        </p:spPr>
        <p:txBody>
          <a:bodyPr wrap="square" lIns="36576" tIns="36576" rIns="36576" bIns="36576" anchor="t">
            <a:spAutoFit/>
          </a:bodyPr>
          <a:lstStyle/>
          <a:p>
            <a:pPr algn="l"/>
            <a:r>
              <a:rPr sz="1400" b="0">
                <a:solidFill>
                  <a:srgbClr val="8B949E"/>
                </a:solidFill>
                <a:latin typeface="Aptos"/>
              </a:rPr>
              <a:t>owner/repo</a:t>
            </a:r>
          </a:p>
        </p:txBody>
      </p:sp>
      <p:sp>
        <p:nvSpPr>
          <p:cNvPr id="15" name="Rounded Rectangle 14"/>
          <p:cNvSpPr/>
          <p:nvPr/>
        </p:nvSpPr>
        <p:spPr>
          <a:xfrm>
            <a:off x="6309359" y="3108960"/>
            <a:ext cx="5074920" cy="100584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37959" y="3291840"/>
            <a:ext cx="3291840" cy="274320"/>
          </a:xfrm>
          <a:prstGeom prst="rect">
            <a:avLst/>
          </a:prstGeom>
          <a:noFill/>
        </p:spPr>
        <p:txBody>
          <a:bodyPr wrap="square" lIns="36576" tIns="36576" rIns="36576" bIns="36576" anchor="t">
            <a:spAutoFit/>
          </a:bodyPr>
          <a:lstStyle/>
          <a:p>
            <a:pPr algn="l"/>
            <a:r>
              <a:rPr sz="1600" b="1">
                <a:solidFill>
                  <a:srgbClr val="58A6FF"/>
                </a:solidFill>
                <a:latin typeface="Cascadia Mono"/>
              </a:rPr>
              <a:t>job.workflow_file_path</a:t>
            </a:r>
          </a:p>
        </p:txBody>
      </p:sp>
      <p:sp>
        <p:nvSpPr>
          <p:cNvPr id="17" name="TextBox 16"/>
          <p:cNvSpPr txBox="1"/>
          <p:nvPr/>
        </p:nvSpPr>
        <p:spPr>
          <a:xfrm>
            <a:off x="6537959" y="3685032"/>
            <a:ext cx="4389120" cy="228600"/>
          </a:xfrm>
          <a:prstGeom prst="rect">
            <a:avLst/>
          </a:prstGeom>
          <a:noFill/>
        </p:spPr>
        <p:txBody>
          <a:bodyPr wrap="square" lIns="36576" tIns="36576" rIns="36576" bIns="36576" anchor="t">
            <a:spAutoFit/>
          </a:bodyPr>
          <a:lstStyle/>
          <a:p>
            <a:pPr algn="l"/>
            <a:r>
              <a:rPr sz="1400" b="0">
                <a:solidFill>
                  <a:srgbClr val="8B949E"/>
                </a:solidFill>
                <a:latin typeface="Aptos"/>
              </a:rPr>
              <a:t>repo-relative path</a:t>
            </a:r>
          </a:p>
        </p:txBody>
      </p:sp>
      <p:sp>
        <p:nvSpPr>
          <p:cNvPr id="18" name="TextBox 17"/>
          <p:cNvSpPr txBox="1"/>
          <p:nvPr/>
        </p:nvSpPr>
        <p:spPr>
          <a:xfrm>
            <a:off x="960120" y="4663440"/>
            <a:ext cx="1828800" cy="274320"/>
          </a:xfrm>
          <a:prstGeom prst="rect">
            <a:avLst/>
          </a:prstGeom>
          <a:noFill/>
        </p:spPr>
        <p:txBody>
          <a:bodyPr wrap="square" lIns="36576" tIns="36576" rIns="36576" bIns="36576" anchor="t">
            <a:spAutoFit/>
          </a:bodyPr>
          <a:lstStyle/>
          <a:p>
            <a:pPr algn="l"/>
            <a:r>
              <a:rPr sz="1500" b="1">
                <a:solidFill>
                  <a:srgbClr val="8B949E"/>
                </a:solidFill>
                <a:latin typeface="Aptos"/>
              </a:rPr>
              <a:t>Caller identity</a:t>
            </a:r>
          </a:p>
        </p:txBody>
      </p:sp>
      <p:sp>
        <p:nvSpPr>
          <p:cNvPr id="19" name="TextBox 18"/>
          <p:cNvSpPr txBox="1"/>
          <p:nvPr/>
        </p:nvSpPr>
        <p:spPr>
          <a:xfrm>
            <a:off x="2743200" y="4663440"/>
            <a:ext cx="2743200" cy="274320"/>
          </a:xfrm>
          <a:prstGeom prst="rect">
            <a:avLst/>
          </a:prstGeom>
          <a:noFill/>
        </p:spPr>
        <p:txBody>
          <a:bodyPr wrap="square" lIns="36576" tIns="36576" rIns="36576" bIns="36576" anchor="t">
            <a:spAutoFit/>
          </a:bodyPr>
          <a:lstStyle/>
          <a:p>
            <a:pPr algn="l"/>
            <a:r>
              <a:rPr sz="1600" b="0">
                <a:solidFill>
                  <a:srgbClr val="F0F6FC"/>
                </a:solidFill>
                <a:latin typeface="Cascadia Mono"/>
              </a:rPr>
              <a:t>github.workflow_ref</a:t>
            </a:r>
          </a:p>
        </p:txBody>
      </p:sp>
      <p:sp>
        <p:nvSpPr>
          <p:cNvPr id="20" name="TextBox 19"/>
          <p:cNvSpPr txBox="1"/>
          <p:nvPr/>
        </p:nvSpPr>
        <p:spPr>
          <a:xfrm>
            <a:off x="5623560" y="4617720"/>
            <a:ext cx="640080" cy="365760"/>
          </a:xfrm>
          <a:prstGeom prst="rect">
            <a:avLst/>
          </a:prstGeom>
          <a:noFill/>
        </p:spPr>
        <p:txBody>
          <a:bodyPr wrap="square" lIns="36576" tIns="36576" rIns="36576" bIns="36576" anchor="t">
            <a:spAutoFit/>
          </a:bodyPr>
          <a:lstStyle/>
          <a:p>
            <a:pPr algn="ctr"/>
            <a:r>
              <a:rPr sz="2300" b="1">
                <a:solidFill>
                  <a:srgbClr val="BC8CFF"/>
                </a:solidFill>
                <a:latin typeface="Aptos"/>
              </a:rPr>
              <a:t>≠</a:t>
            </a:r>
          </a:p>
        </p:txBody>
      </p:sp>
      <p:sp>
        <p:nvSpPr>
          <p:cNvPr id="21" name="TextBox 20"/>
          <p:cNvSpPr txBox="1"/>
          <p:nvPr/>
        </p:nvSpPr>
        <p:spPr>
          <a:xfrm>
            <a:off x="6400800" y="4663440"/>
            <a:ext cx="2743200" cy="274320"/>
          </a:xfrm>
          <a:prstGeom prst="rect">
            <a:avLst/>
          </a:prstGeom>
          <a:noFill/>
        </p:spPr>
        <p:txBody>
          <a:bodyPr wrap="square" lIns="36576" tIns="36576" rIns="36576" bIns="36576" anchor="t">
            <a:spAutoFit/>
          </a:bodyPr>
          <a:lstStyle/>
          <a:p>
            <a:pPr algn="l"/>
            <a:r>
              <a:rPr sz="1600" b="0">
                <a:solidFill>
                  <a:srgbClr val="F0F6FC"/>
                </a:solidFill>
                <a:latin typeface="Cascadia Mono"/>
              </a:rPr>
              <a:t>job.workflow_ref</a:t>
            </a:r>
          </a:p>
        </p:txBody>
      </p:sp>
      <p:sp>
        <p:nvSpPr>
          <p:cNvPr id="22" name="TextBox 21"/>
          <p:cNvSpPr txBox="1"/>
          <p:nvPr/>
        </p:nvSpPr>
        <p:spPr>
          <a:xfrm>
            <a:off x="9235440" y="4663440"/>
            <a:ext cx="1828800" cy="274320"/>
          </a:xfrm>
          <a:prstGeom prst="rect">
            <a:avLst/>
          </a:prstGeom>
          <a:noFill/>
        </p:spPr>
        <p:txBody>
          <a:bodyPr wrap="square" lIns="36576" tIns="36576" rIns="36576" bIns="36576" anchor="t">
            <a:spAutoFit/>
          </a:bodyPr>
          <a:lstStyle/>
          <a:p>
            <a:pPr algn="l"/>
            <a:r>
              <a:rPr sz="1500" b="1">
                <a:solidFill>
                  <a:srgbClr val="8B949E"/>
                </a:solidFill>
                <a:latin typeface="Aptos"/>
              </a:rPr>
              <a:t>Defining identity</a:t>
            </a:r>
          </a:p>
        </p:txBody>
      </p:sp>
      <p:sp>
        <p:nvSpPr>
          <p:cNvPr id="23" name="TextBox 22"/>
          <p:cNvSpPr txBox="1"/>
          <p:nvPr/>
        </p:nvSpPr>
        <p:spPr>
          <a:xfrm>
            <a:off x="914400" y="5669280"/>
            <a:ext cx="10332720" cy="365760"/>
          </a:xfrm>
          <a:prstGeom prst="rect">
            <a:avLst/>
          </a:prstGeom>
          <a:noFill/>
        </p:spPr>
        <p:txBody>
          <a:bodyPr wrap="square" lIns="36576" tIns="36576" rIns="36576" bIns="36576" anchor="t">
            <a:spAutoFit/>
          </a:bodyPr>
          <a:lstStyle/>
          <a:p>
            <a:pPr algn="ctr"/>
            <a:r>
              <a:rPr sz="1800" b="1">
                <a:solidFill>
                  <a:srgbClr val="F0F6FC"/>
                </a:solidFill>
                <a:latin typeface="Aptos"/>
              </a:rPr>
              <a:t>Use cases: provenance · policy · diagnostics · version reporting</a:t>
            </a:r>
          </a:p>
        </p:txBody>
      </p:sp>
      <p:sp>
        <p:nvSpPr>
          <p:cNvPr id="24" name="TextBox 23"/>
          <p:cNvSpPr txBox="1"/>
          <p:nvPr/>
        </p:nvSpPr>
        <p:spPr>
          <a:xfrm>
            <a:off x="640080" y="6519672"/>
            <a:ext cx="5852160" cy="182880"/>
          </a:xfrm>
          <a:prstGeom prst="rect">
            <a:avLst/>
          </a:prstGeom>
          <a:noFill/>
        </p:spPr>
        <p:txBody>
          <a:bodyPr wrap="square" lIns="36576" tIns="36576" rIns="36576" bIns="36576" anchor="t">
            <a:spAutoFit/>
          </a:bodyPr>
          <a:lstStyle/>
          <a:p>
            <a:pPr algn="l"/>
            <a:r>
              <a:rPr sz="900" b="0">
                <a:solidFill>
                  <a:srgbClr val="8B949E"/>
                </a:solidFill>
                <a:latin typeface="Aptos"/>
              </a:rPr>
              <a:t>GitHub Actions Office Hour · Sep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640080" y="292608"/>
            <a:ext cx="6400800" cy="274320"/>
          </a:xfrm>
          <a:prstGeom prst="rect">
            <a:avLst/>
          </a:prstGeom>
          <a:noFill/>
        </p:spPr>
        <p:txBody>
          <a:bodyPr wrap="square" lIns="36576" tIns="36576" rIns="36576" bIns="36576" anchor="t">
            <a:spAutoFit/>
          </a:bodyPr>
          <a:lstStyle/>
          <a:p>
            <a:pPr algn="l"/>
            <a:r>
              <a:rPr sz="1100" b="1">
                <a:solidFill>
                  <a:srgbClr val="58A6FF"/>
                </a:solidFill>
                <a:latin typeface="Aptos"/>
              </a:rPr>
              <a:t>LIVE DEMO</a:t>
            </a:r>
          </a:p>
        </p:txBody>
      </p:sp>
      <p:sp>
        <p:nvSpPr>
          <p:cNvPr id="3" name="TextBox 2"/>
          <p:cNvSpPr txBox="1"/>
          <p:nvPr/>
        </p:nvSpPr>
        <p:spPr>
          <a:xfrm>
            <a:off x="640080" y="667512"/>
            <a:ext cx="10789920" cy="658368"/>
          </a:xfrm>
          <a:prstGeom prst="rect">
            <a:avLst/>
          </a:prstGeom>
          <a:noFill/>
        </p:spPr>
        <p:txBody>
          <a:bodyPr wrap="square" lIns="36576" tIns="36576" rIns="36576" bIns="36576" anchor="t">
            <a:spAutoFit/>
          </a:bodyPr>
          <a:lstStyle/>
          <a:p>
            <a:pPr algn="l"/>
            <a:r>
              <a:rPr sz="3000" b="1">
                <a:solidFill>
                  <a:srgbClr val="F0F6FC"/>
                </a:solidFill>
                <a:latin typeface="Aptos"/>
              </a:rPr>
              <a:t>Demo setup: one dispatch, three visible results</a:t>
            </a:r>
          </a:p>
        </p:txBody>
      </p:sp>
      <p:sp>
        <p:nvSpPr>
          <p:cNvPr id="4" name="Rectangle 3"/>
          <p:cNvSpPr/>
          <p:nvPr/>
        </p:nvSpPr>
        <p:spPr>
          <a:xfrm>
            <a:off x="640080" y="1417320"/>
            <a:ext cx="914400" cy="45720"/>
          </a:xfrm>
          <a:prstGeom prst="rect">
            <a:avLst/>
          </a:prstGeom>
          <a:solidFill>
            <a:srgbClr val="BC8CFF"/>
          </a:solidFill>
          <a:ln>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310896"/>
            <a:ext cx="457200" cy="274320"/>
          </a:xfrm>
          <a:prstGeom prst="rect">
            <a:avLst/>
          </a:prstGeom>
          <a:noFill/>
        </p:spPr>
        <p:txBody>
          <a:bodyPr wrap="square" lIns="36576" tIns="36576" rIns="36576" bIns="36576" anchor="t">
            <a:spAutoFit/>
          </a:bodyPr>
          <a:lstStyle/>
          <a:p>
            <a:pPr algn="r"/>
            <a:r>
              <a:rPr sz="1100" b="1">
                <a:solidFill>
                  <a:srgbClr val="8B949E"/>
                </a:solidFill>
                <a:latin typeface="Aptos"/>
              </a:rPr>
              <a:t>12</a:t>
            </a:r>
          </a:p>
        </p:txBody>
      </p:sp>
      <p:sp>
        <p:nvSpPr>
          <p:cNvPr id="6" name="TextBox 5"/>
          <p:cNvSpPr txBox="1"/>
          <p:nvPr/>
        </p:nvSpPr>
        <p:spPr>
          <a:xfrm>
            <a:off x="822960" y="1828800"/>
            <a:ext cx="2834640" cy="384048"/>
          </a:xfrm>
          <a:prstGeom prst="rect">
            <a:avLst/>
          </a:prstGeom>
          <a:noFill/>
        </p:spPr>
        <p:txBody>
          <a:bodyPr wrap="square" lIns="36576" tIns="36576" rIns="36576" bIns="36576" anchor="t">
            <a:spAutoFit/>
          </a:bodyPr>
          <a:lstStyle/>
          <a:p>
            <a:pPr algn="l"/>
            <a:r>
              <a:rPr sz="2200" b="1">
                <a:solidFill>
                  <a:srgbClr val="F0F6FC"/>
                </a:solidFill>
                <a:latin typeface="Aptos"/>
              </a:rPr>
              <a:t>Office hours demo</a:t>
            </a:r>
          </a:p>
        </p:txBody>
      </p:sp>
      <p:sp>
        <p:nvSpPr>
          <p:cNvPr id="7" name="Rounded Rectangle 6"/>
          <p:cNvSpPr/>
          <p:nvPr/>
        </p:nvSpPr>
        <p:spPr>
          <a:xfrm>
            <a:off x="1005840" y="2514600"/>
            <a:ext cx="2834640" cy="914400"/>
          </a:xfrm>
          <a:prstGeom prst="roundRect">
            <a:avLst/>
          </a:prstGeom>
          <a:solidFill>
            <a:srgbClr val="161B22"/>
          </a:solidFill>
          <a:ln>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807208"/>
            <a:ext cx="2834640" cy="274320"/>
          </a:xfrm>
          <a:prstGeom prst="rect">
            <a:avLst/>
          </a:prstGeom>
          <a:noFill/>
        </p:spPr>
        <p:txBody>
          <a:bodyPr wrap="square" lIns="36576" tIns="36576" rIns="36576" bIns="36576" anchor="t">
            <a:spAutoFit/>
          </a:bodyPr>
          <a:lstStyle/>
          <a:p>
            <a:pPr algn="ctr"/>
            <a:r>
              <a:rPr sz="1700" b="1">
                <a:solidFill>
                  <a:srgbClr val="58A6FF"/>
                </a:solidFill>
                <a:latin typeface="Cascadia Mono"/>
              </a:rPr>
              <a:t>workflow_dispatch</a:t>
            </a:r>
          </a:p>
        </p:txBody>
      </p:sp>
      <p:sp>
        <p:nvSpPr>
          <p:cNvPr id="9" name="TextBox 8"/>
          <p:cNvSpPr txBox="1"/>
          <p:nvPr/>
        </p:nvSpPr>
        <p:spPr>
          <a:xfrm>
            <a:off x="4069080" y="2706624"/>
            <a:ext cx="640080" cy="411480"/>
          </a:xfrm>
          <a:prstGeom prst="rect">
            <a:avLst/>
          </a:prstGeom>
          <a:noFill/>
        </p:spPr>
        <p:txBody>
          <a:bodyPr wrap="square" lIns="36576" tIns="36576" rIns="36576" bIns="36576" anchor="t">
            <a:spAutoFit/>
          </a:bodyPr>
          <a:lstStyle/>
          <a:p>
            <a:pPr algn="ctr"/>
            <a:r>
              <a:rPr sz="3000" b="1">
                <a:solidFill>
                  <a:srgbClr val="BC8CFF"/>
                </a:solidFill>
                <a:latin typeface="Aptos"/>
              </a:rPr>
              <a:t>→</a:t>
            </a:r>
          </a:p>
        </p:txBody>
      </p:sp>
      <p:sp>
        <p:nvSpPr>
          <p:cNvPr id="10" name="Rounded Rectangle 9"/>
          <p:cNvSpPr/>
          <p:nvPr/>
        </p:nvSpPr>
        <p:spPr>
          <a:xfrm>
            <a:off x="4892040" y="1783080"/>
            <a:ext cx="2743200" cy="960120"/>
          </a:xfrm>
          <a:prstGeom prst="roundRect">
            <a:avLst/>
          </a:prstGeom>
          <a:solidFill>
            <a:srgbClr val="161B22"/>
          </a:solidFill>
          <a:ln>
            <a:solidFill>
              <a:srgbClr val="3FB9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92040" y="2112264"/>
            <a:ext cx="2743200" cy="274320"/>
          </a:xfrm>
          <a:prstGeom prst="rect">
            <a:avLst/>
          </a:prstGeom>
          <a:noFill/>
        </p:spPr>
        <p:txBody>
          <a:bodyPr wrap="square" lIns="36576" tIns="36576" rIns="36576" bIns="36576" anchor="t">
            <a:spAutoFit/>
          </a:bodyPr>
          <a:lstStyle/>
          <a:p>
            <a:pPr algn="ctr"/>
            <a:r>
              <a:rPr sz="1600" b="1">
                <a:solidFill>
                  <a:srgbClr val="F0F6FC"/>
                </a:solidFill>
                <a:latin typeface="Aptos"/>
              </a:rPr>
              <a:t>Reusable identity</a:t>
            </a:r>
          </a:p>
        </p:txBody>
      </p:sp>
      <p:sp>
        <p:nvSpPr>
          <p:cNvPr id="12" name="Rounded Rectangle 11"/>
          <p:cNvSpPr/>
          <p:nvPr/>
        </p:nvSpPr>
        <p:spPr>
          <a:xfrm>
            <a:off x="4892040" y="3063240"/>
            <a:ext cx="2743200" cy="960120"/>
          </a:xfrm>
          <a:prstGeom prst="roundRect">
            <a:avLst/>
          </a:prstGeom>
          <a:solidFill>
            <a:srgbClr val="161B22"/>
          </a:solidFill>
          <a:ln>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92040" y="3392424"/>
            <a:ext cx="2743200" cy="274320"/>
          </a:xfrm>
          <a:prstGeom prst="rect">
            <a:avLst/>
          </a:prstGeom>
          <a:noFill/>
        </p:spPr>
        <p:txBody>
          <a:bodyPr wrap="square" lIns="36576" tIns="36576" rIns="36576" bIns="36576" anchor="t">
            <a:spAutoFit/>
          </a:bodyPr>
          <a:lstStyle/>
          <a:p>
            <a:pPr algn="ctr"/>
            <a:r>
              <a:rPr sz="1600" b="1">
                <a:solidFill>
                  <a:srgbClr val="F0F6FC"/>
                </a:solidFill>
                <a:latin typeface="Aptos"/>
              </a:rPr>
              <a:t>Alert count</a:t>
            </a:r>
          </a:p>
        </p:txBody>
      </p:sp>
      <p:sp>
        <p:nvSpPr>
          <p:cNvPr id="14" name="Rounded Rectangle 13"/>
          <p:cNvSpPr/>
          <p:nvPr/>
        </p:nvSpPr>
        <p:spPr>
          <a:xfrm>
            <a:off x="4892040" y="4343400"/>
            <a:ext cx="2743200" cy="960120"/>
          </a:xfrm>
          <a:prstGeom prst="roundRect">
            <a:avLst/>
          </a:prstGeom>
          <a:solidFill>
            <a:srgbClr val="161B22"/>
          </a:solidFill>
          <a:ln>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892040" y="4672584"/>
            <a:ext cx="2743200" cy="274320"/>
          </a:xfrm>
          <a:prstGeom prst="rect">
            <a:avLst/>
          </a:prstGeom>
          <a:noFill/>
        </p:spPr>
        <p:txBody>
          <a:bodyPr wrap="square" lIns="36576" tIns="36576" rIns="36576" bIns="36576" anchor="t">
            <a:spAutoFit/>
          </a:bodyPr>
          <a:lstStyle/>
          <a:p>
            <a:pPr algn="ctr"/>
            <a:r>
              <a:rPr sz="1600" b="1">
                <a:solidFill>
                  <a:srgbClr val="F0F6FC"/>
                </a:solidFill>
                <a:latin typeface="Aptos"/>
              </a:rPr>
              <a:t>CodeQL attribution</a:t>
            </a:r>
          </a:p>
        </p:txBody>
      </p:sp>
      <p:sp>
        <p:nvSpPr>
          <p:cNvPr id="16" name="TextBox 15"/>
          <p:cNvSpPr txBox="1"/>
          <p:nvPr/>
        </p:nvSpPr>
        <p:spPr>
          <a:xfrm>
            <a:off x="7909560" y="2706624"/>
            <a:ext cx="640080" cy="411480"/>
          </a:xfrm>
          <a:prstGeom prst="rect">
            <a:avLst/>
          </a:prstGeom>
          <a:noFill/>
        </p:spPr>
        <p:txBody>
          <a:bodyPr wrap="square" lIns="36576" tIns="36576" rIns="36576" bIns="36576" anchor="t">
            <a:spAutoFit/>
          </a:bodyPr>
          <a:lstStyle/>
          <a:p>
            <a:pPr algn="ctr"/>
            <a:r>
              <a:rPr sz="3000" b="1">
                <a:solidFill>
                  <a:srgbClr val="BC8CFF"/>
                </a:solidFill>
                <a:latin typeface="Aptos"/>
              </a:rPr>
              <a:t>→</a:t>
            </a:r>
          </a:p>
        </p:txBody>
      </p:sp>
      <p:sp>
        <p:nvSpPr>
          <p:cNvPr id="17" name="Rounded Rectangle 16"/>
          <p:cNvSpPr/>
          <p:nvPr/>
        </p:nvSpPr>
        <p:spPr>
          <a:xfrm>
            <a:off x="8732520" y="2514600"/>
            <a:ext cx="2560320" cy="914400"/>
          </a:xfrm>
          <a:prstGeom prst="roundRect">
            <a:avLst/>
          </a:prstGeom>
          <a:solidFill>
            <a:srgbClr val="21262D"/>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732520" y="2807208"/>
            <a:ext cx="2560320" cy="274320"/>
          </a:xfrm>
          <a:prstGeom prst="rect">
            <a:avLst/>
          </a:prstGeom>
          <a:noFill/>
        </p:spPr>
        <p:txBody>
          <a:bodyPr wrap="square" lIns="36576" tIns="36576" rIns="36576" bIns="36576" anchor="t">
            <a:spAutoFit/>
          </a:bodyPr>
          <a:lstStyle/>
          <a:p>
            <a:pPr algn="ctr"/>
            <a:r>
              <a:rPr sz="1700" b="1">
                <a:solidFill>
                  <a:srgbClr val="F0F6FC"/>
                </a:solidFill>
                <a:latin typeface="Aptos"/>
              </a:rPr>
              <a:t>Job summaries</a:t>
            </a:r>
          </a:p>
        </p:txBody>
      </p:sp>
      <p:sp>
        <p:nvSpPr>
          <p:cNvPr id="19" name="TextBox 18"/>
          <p:cNvSpPr txBox="1"/>
          <p:nvPr/>
        </p:nvSpPr>
        <p:spPr>
          <a:xfrm>
            <a:off x="1371600" y="5559552"/>
            <a:ext cx="9418320" cy="365760"/>
          </a:xfrm>
          <a:prstGeom prst="rect">
            <a:avLst/>
          </a:prstGeom>
          <a:noFill/>
        </p:spPr>
        <p:txBody>
          <a:bodyPr wrap="square" lIns="36576" tIns="36576" rIns="36576" bIns="36576" anchor="t">
            <a:spAutoFit/>
          </a:bodyPr>
          <a:lstStyle/>
          <a:p>
            <a:pPr algn="ctr"/>
            <a:r>
              <a:rPr sz="1700" b="1">
                <a:solidFill>
                  <a:srgbClr val="D29922"/>
                </a:solidFill>
                <a:latin typeface="Aptos"/>
              </a:rPr>
              <a:t>Fallback: keep one successful run open before the session.</a:t>
            </a:r>
          </a:p>
        </p:txBody>
      </p:sp>
      <p:sp>
        <p:nvSpPr>
          <p:cNvPr id="20" name="TextBox 19"/>
          <p:cNvSpPr txBox="1"/>
          <p:nvPr/>
        </p:nvSpPr>
        <p:spPr>
          <a:xfrm>
            <a:off x="640080" y="6519672"/>
            <a:ext cx="5852160" cy="182880"/>
          </a:xfrm>
          <a:prstGeom prst="rect">
            <a:avLst/>
          </a:prstGeom>
          <a:noFill/>
        </p:spPr>
        <p:txBody>
          <a:bodyPr wrap="square" lIns="36576" tIns="36576" rIns="36576" bIns="36576" anchor="t">
            <a:spAutoFit/>
          </a:bodyPr>
          <a:lstStyle/>
          <a:p>
            <a:pPr algn="l"/>
            <a:r>
              <a:rPr sz="900" b="0">
                <a:solidFill>
                  <a:srgbClr val="8B949E"/>
                </a:solidFill>
                <a:latin typeface="Aptos"/>
              </a:rPr>
              <a:t>GitHub Actions Office Hour · Sep 2026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640080" y="292608"/>
            <a:ext cx="6400800" cy="274320"/>
          </a:xfrm>
          <a:prstGeom prst="rect">
            <a:avLst/>
          </a:prstGeom>
          <a:noFill/>
        </p:spPr>
        <p:txBody>
          <a:bodyPr wrap="square" lIns="36576" tIns="36576" rIns="36576" bIns="36576" anchor="t">
            <a:spAutoFit/>
          </a:bodyPr>
          <a:lstStyle/>
          <a:p>
            <a:pPr algn="l"/>
            <a:r>
              <a:rPr sz="1100" b="1">
                <a:solidFill>
                  <a:srgbClr val="58A6FF"/>
                </a:solidFill>
                <a:latin typeface="Aptos"/>
              </a:rPr>
              <a:t>LIVE DEMO · 4 MINUTES</a:t>
            </a:r>
          </a:p>
        </p:txBody>
      </p:sp>
      <p:sp>
        <p:nvSpPr>
          <p:cNvPr id="3" name="TextBox 2"/>
          <p:cNvSpPr txBox="1"/>
          <p:nvPr/>
        </p:nvSpPr>
        <p:spPr>
          <a:xfrm>
            <a:off x="640080" y="667512"/>
            <a:ext cx="10789920" cy="658368"/>
          </a:xfrm>
          <a:prstGeom prst="rect">
            <a:avLst/>
          </a:prstGeom>
          <a:noFill/>
        </p:spPr>
        <p:txBody>
          <a:bodyPr wrap="square" lIns="36576" tIns="36576" rIns="36576" bIns="36576" anchor="t">
            <a:spAutoFit/>
          </a:bodyPr>
          <a:lstStyle/>
          <a:p>
            <a:pPr algn="l"/>
            <a:r>
              <a:rPr sz="3000" b="1">
                <a:solidFill>
                  <a:srgbClr val="F0F6FC"/>
                </a:solidFill>
                <a:latin typeface="Aptos"/>
              </a:rPr>
              <a:t>Demo 1: caller versus defining workflow</a:t>
            </a:r>
          </a:p>
        </p:txBody>
      </p:sp>
      <p:sp>
        <p:nvSpPr>
          <p:cNvPr id="4" name="Rectangle 3"/>
          <p:cNvSpPr/>
          <p:nvPr/>
        </p:nvSpPr>
        <p:spPr>
          <a:xfrm>
            <a:off x="640080" y="1417320"/>
            <a:ext cx="914400" cy="45720"/>
          </a:xfrm>
          <a:prstGeom prst="rect">
            <a:avLst/>
          </a:prstGeom>
          <a:solidFill>
            <a:srgbClr val="BC8CFF"/>
          </a:solidFill>
          <a:ln>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310896"/>
            <a:ext cx="457200" cy="274320"/>
          </a:xfrm>
          <a:prstGeom prst="rect">
            <a:avLst/>
          </a:prstGeom>
          <a:noFill/>
        </p:spPr>
        <p:txBody>
          <a:bodyPr wrap="square" lIns="36576" tIns="36576" rIns="36576" bIns="36576" anchor="t">
            <a:spAutoFit/>
          </a:bodyPr>
          <a:lstStyle/>
          <a:p>
            <a:pPr algn="r"/>
            <a:r>
              <a:rPr sz="1100" b="1">
                <a:solidFill>
                  <a:srgbClr val="8B949E"/>
                </a:solidFill>
                <a:latin typeface="Aptos"/>
              </a:rPr>
              <a:t>13</a:t>
            </a:r>
          </a:p>
        </p:txBody>
      </p:sp>
      <p:sp>
        <p:nvSpPr>
          <p:cNvPr id="6" name="Rounded Rectangle 5"/>
          <p:cNvSpPr/>
          <p:nvPr/>
        </p:nvSpPr>
        <p:spPr>
          <a:xfrm>
            <a:off x="777240" y="1828800"/>
            <a:ext cx="4892040" cy="155448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2029968"/>
            <a:ext cx="4434840" cy="1188719"/>
          </a:xfrm>
          <a:prstGeom prst="rect">
            <a:avLst/>
          </a:prstGeom>
          <a:noFill/>
        </p:spPr>
        <p:txBody>
          <a:bodyPr wrap="square" lIns="36576" tIns="36576" rIns="36576" bIns="36576" anchor="t">
            <a:spAutoFit/>
          </a:bodyPr>
          <a:lstStyle/>
          <a:p>
            <a:pPr algn="l"/>
            <a:r>
              <a:rPr sz="1800" b="0">
                <a:solidFill>
                  <a:srgbClr val="F0F6FC"/>
                </a:solidFill>
                <a:latin typeface="Cascadia Mono"/>
              </a:rPr>
              <a:t>jobs:
  reusable-identity:
    uses: ./.github/workflows/reusable-source.yml</a:t>
            </a:r>
          </a:p>
        </p:txBody>
      </p:sp>
      <p:sp>
        <p:nvSpPr>
          <p:cNvPr id="8" name="Rounded Rectangle 7"/>
          <p:cNvSpPr/>
          <p:nvPr/>
        </p:nvSpPr>
        <p:spPr>
          <a:xfrm>
            <a:off x="6080760" y="1828800"/>
            <a:ext cx="5303520" cy="237744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09360" y="2029968"/>
            <a:ext cx="4846320" cy="2011680"/>
          </a:xfrm>
          <a:prstGeom prst="rect">
            <a:avLst/>
          </a:prstGeom>
          <a:noFill/>
        </p:spPr>
        <p:txBody>
          <a:bodyPr wrap="square" lIns="36576" tIns="36576" rIns="36576" bIns="36576" anchor="t">
            <a:spAutoFit/>
          </a:bodyPr>
          <a:lstStyle/>
          <a:p>
            <a:pPr algn="l"/>
            <a:r>
              <a:rPr sz="1700" b="0">
                <a:solidFill>
                  <a:srgbClr val="F0F6FC"/>
                </a:solidFill>
                <a:latin typeface="Cascadia Mono"/>
              </a:rPr>
              <a:t>github.workflow_ref
job.workflow_ref
job.workflow_sha
job.workflow_repository
job.workflow_file_path</a:t>
            </a:r>
          </a:p>
        </p:txBody>
      </p:sp>
      <p:sp>
        <p:nvSpPr>
          <p:cNvPr id="10" name="Rounded Rectangle 9"/>
          <p:cNvSpPr/>
          <p:nvPr/>
        </p:nvSpPr>
        <p:spPr>
          <a:xfrm>
            <a:off x="777240" y="3886200"/>
            <a:ext cx="4892040" cy="1188720"/>
          </a:xfrm>
          <a:prstGeom prst="roundRect">
            <a:avLst/>
          </a:prstGeom>
          <a:solidFill>
            <a:srgbClr val="21262D"/>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24128" y="4133087"/>
            <a:ext cx="1188720" cy="274320"/>
          </a:xfrm>
          <a:prstGeom prst="rect">
            <a:avLst/>
          </a:prstGeom>
          <a:noFill/>
        </p:spPr>
        <p:txBody>
          <a:bodyPr wrap="square" lIns="36576" tIns="36576" rIns="36576" bIns="36576" anchor="t">
            <a:spAutoFit/>
          </a:bodyPr>
          <a:lstStyle/>
          <a:p>
            <a:pPr algn="l"/>
            <a:r>
              <a:rPr sz="1500" b="1">
                <a:solidFill>
                  <a:srgbClr val="3FB950"/>
                </a:solidFill>
                <a:latin typeface="Aptos"/>
              </a:rPr>
              <a:t>Observe</a:t>
            </a:r>
          </a:p>
        </p:txBody>
      </p:sp>
      <p:sp>
        <p:nvSpPr>
          <p:cNvPr id="12" name="TextBox 11"/>
          <p:cNvSpPr txBox="1"/>
          <p:nvPr/>
        </p:nvSpPr>
        <p:spPr>
          <a:xfrm>
            <a:off x="2057400" y="4133087"/>
            <a:ext cx="3200400" cy="274320"/>
          </a:xfrm>
          <a:prstGeom prst="rect">
            <a:avLst/>
          </a:prstGeom>
          <a:noFill/>
        </p:spPr>
        <p:txBody>
          <a:bodyPr wrap="square" lIns="36576" tIns="36576" rIns="36576" bIns="36576" anchor="t">
            <a:spAutoFit/>
          </a:bodyPr>
          <a:lstStyle/>
          <a:p>
            <a:pPr algn="l"/>
            <a:r>
              <a:rPr sz="1600" b="0">
                <a:solidFill>
                  <a:srgbClr val="F0F6FC"/>
                </a:solidFill>
                <a:latin typeface="Aptos"/>
              </a:rPr>
              <a:t>The two workflow refs diverge.</a:t>
            </a:r>
          </a:p>
        </p:txBody>
      </p:sp>
      <p:sp>
        <p:nvSpPr>
          <p:cNvPr id="13" name="Rounded Rectangle 12"/>
          <p:cNvSpPr/>
          <p:nvPr/>
        </p:nvSpPr>
        <p:spPr>
          <a:xfrm>
            <a:off x="6080760" y="4617720"/>
            <a:ext cx="5303520" cy="685800"/>
          </a:xfrm>
          <a:prstGeom prst="roundRect">
            <a:avLst/>
          </a:prstGeom>
          <a:solidFill>
            <a:srgbClr val="21262D"/>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09360" y="4818888"/>
            <a:ext cx="4846320" cy="274320"/>
          </a:xfrm>
          <a:prstGeom prst="rect">
            <a:avLst/>
          </a:prstGeom>
          <a:noFill/>
        </p:spPr>
        <p:txBody>
          <a:bodyPr wrap="square" lIns="36576" tIns="36576" rIns="36576" bIns="36576" anchor="t">
            <a:spAutoFit/>
          </a:bodyPr>
          <a:lstStyle/>
          <a:p>
            <a:pPr algn="ctr"/>
            <a:r>
              <a:rPr sz="1700" b="1">
                <a:solidFill>
                  <a:srgbClr val="58A6FF"/>
                </a:solidFill>
                <a:latin typeface="Aptos"/>
              </a:rPr>
              <a:t>Land the point: provenance is now native.</a:t>
            </a:r>
          </a:p>
        </p:txBody>
      </p:sp>
      <p:sp>
        <p:nvSpPr>
          <p:cNvPr id="15" name="TextBox 14"/>
          <p:cNvSpPr txBox="1"/>
          <p:nvPr/>
        </p:nvSpPr>
        <p:spPr>
          <a:xfrm>
            <a:off x="640080" y="6519672"/>
            <a:ext cx="5852160" cy="182880"/>
          </a:xfrm>
          <a:prstGeom prst="rect">
            <a:avLst/>
          </a:prstGeom>
          <a:noFill/>
        </p:spPr>
        <p:txBody>
          <a:bodyPr wrap="square" lIns="36576" tIns="36576" rIns="36576" bIns="36576" anchor="t">
            <a:spAutoFit/>
          </a:bodyPr>
          <a:lstStyle/>
          <a:p>
            <a:pPr algn="l"/>
            <a:r>
              <a:rPr sz="900" b="0">
                <a:solidFill>
                  <a:srgbClr val="8B949E"/>
                </a:solidFill>
                <a:latin typeface="Aptos"/>
              </a:rPr>
              <a:t>GitHub Actions Office Hour · Sep 2026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640080" y="292608"/>
            <a:ext cx="6400800" cy="274320"/>
          </a:xfrm>
          <a:prstGeom prst="rect">
            <a:avLst/>
          </a:prstGeom>
          <a:noFill/>
        </p:spPr>
        <p:txBody>
          <a:bodyPr wrap="square" lIns="36576" tIns="36576" rIns="36576" bIns="36576" anchor="t">
            <a:spAutoFit/>
          </a:bodyPr>
          <a:lstStyle/>
          <a:p>
            <a:pPr algn="l"/>
            <a:r>
              <a:rPr sz="1100" b="1">
                <a:solidFill>
                  <a:srgbClr val="58A6FF"/>
                </a:solidFill>
                <a:latin typeface="Aptos"/>
              </a:rPr>
              <a:t>LIVE DEMO · 3 MINUTES</a:t>
            </a:r>
          </a:p>
        </p:txBody>
      </p:sp>
      <p:sp>
        <p:nvSpPr>
          <p:cNvPr id="3" name="TextBox 2"/>
          <p:cNvSpPr txBox="1"/>
          <p:nvPr/>
        </p:nvSpPr>
        <p:spPr>
          <a:xfrm>
            <a:off x="640080" y="667512"/>
            <a:ext cx="10789920" cy="658368"/>
          </a:xfrm>
          <a:prstGeom prst="rect">
            <a:avLst/>
          </a:prstGeom>
          <a:noFill/>
        </p:spPr>
        <p:txBody>
          <a:bodyPr wrap="square" lIns="36576" tIns="36576" rIns="36576" bIns="36576" anchor="t">
            <a:spAutoFit/>
          </a:bodyPr>
          <a:lstStyle/>
          <a:p>
            <a:pPr algn="l"/>
            <a:r>
              <a:rPr sz="3000" b="1">
                <a:solidFill>
                  <a:srgbClr val="F0F6FC"/>
                </a:solidFill>
                <a:latin typeface="Aptos"/>
              </a:rPr>
              <a:t>Demo 2: least privilege in three lines</a:t>
            </a:r>
          </a:p>
        </p:txBody>
      </p:sp>
      <p:sp>
        <p:nvSpPr>
          <p:cNvPr id="4" name="Rectangle 3"/>
          <p:cNvSpPr/>
          <p:nvPr/>
        </p:nvSpPr>
        <p:spPr>
          <a:xfrm>
            <a:off x="640080" y="1417320"/>
            <a:ext cx="914400" cy="45720"/>
          </a:xfrm>
          <a:prstGeom prst="rect">
            <a:avLst/>
          </a:prstGeom>
          <a:solidFill>
            <a:srgbClr val="BC8CFF"/>
          </a:solidFill>
          <a:ln>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310896"/>
            <a:ext cx="457200" cy="274320"/>
          </a:xfrm>
          <a:prstGeom prst="rect">
            <a:avLst/>
          </a:prstGeom>
          <a:noFill/>
        </p:spPr>
        <p:txBody>
          <a:bodyPr wrap="square" lIns="36576" tIns="36576" rIns="36576" bIns="36576" anchor="t">
            <a:spAutoFit/>
          </a:bodyPr>
          <a:lstStyle/>
          <a:p>
            <a:pPr algn="r"/>
            <a:r>
              <a:rPr sz="1100" b="1">
                <a:solidFill>
                  <a:srgbClr val="8B949E"/>
                </a:solidFill>
                <a:latin typeface="Aptos"/>
              </a:rPr>
              <a:t>14</a:t>
            </a:r>
          </a:p>
        </p:txBody>
      </p:sp>
      <p:sp>
        <p:nvSpPr>
          <p:cNvPr id="6" name="Rounded Rectangle 5"/>
          <p:cNvSpPr/>
          <p:nvPr/>
        </p:nvSpPr>
        <p:spPr>
          <a:xfrm>
            <a:off x="822960" y="1828800"/>
            <a:ext cx="4389120" cy="150876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029968"/>
            <a:ext cx="3931920" cy="1143000"/>
          </a:xfrm>
          <a:prstGeom prst="rect">
            <a:avLst/>
          </a:prstGeom>
          <a:noFill/>
        </p:spPr>
        <p:txBody>
          <a:bodyPr wrap="square" lIns="36576" tIns="36576" rIns="36576" bIns="36576" anchor="t">
            <a:spAutoFit/>
          </a:bodyPr>
          <a:lstStyle/>
          <a:p>
            <a:pPr algn="l"/>
            <a:r>
              <a:rPr sz="1900" b="0">
                <a:solidFill>
                  <a:srgbClr val="F0F6FC"/>
                </a:solidFill>
                <a:latin typeface="Cascadia Mono"/>
              </a:rPr>
              <a:t>permissions:
  contents: read
  vulnerability-alerts: read</a:t>
            </a:r>
          </a:p>
        </p:txBody>
      </p:sp>
      <p:sp>
        <p:nvSpPr>
          <p:cNvPr id="8" name="Rounded Rectangle 7"/>
          <p:cNvSpPr/>
          <p:nvPr/>
        </p:nvSpPr>
        <p:spPr>
          <a:xfrm>
            <a:off x="5623560" y="1828800"/>
            <a:ext cx="5623560" cy="256032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852160" y="2029968"/>
            <a:ext cx="5166360" cy="2194560"/>
          </a:xfrm>
          <a:prstGeom prst="rect">
            <a:avLst/>
          </a:prstGeom>
          <a:noFill/>
        </p:spPr>
        <p:txBody>
          <a:bodyPr wrap="square" lIns="36576" tIns="36576" rIns="36576" bIns="36576" anchor="t">
            <a:spAutoFit/>
          </a:bodyPr>
          <a:lstStyle/>
          <a:p>
            <a:pPr algn="l"/>
            <a:r>
              <a:rPr sz="1500" b="0">
                <a:solidFill>
                  <a:srgbClr val="F0F6FC"/>
                </a:solidFill>
                <a:latin typeface="Cascadia Mono"/>
              </a:rPr>
              <a:t>env:
  GH_TOKEN: ${{ github.token }}
run: |
  gh api "repos/$GITHUB_REPOSITORY/
    dependabot/alerts?state=open"</a:t>
            </a:r>
          </a:p>
        </p:txBody>
      </p:sp>
      <p:sp>
        <p:nvSpPr>
          <p:cNvPr id="10" name="Rounded Rectangle 9"/>
          <p:cNvSpPr/>
          <p:nvPr/>
        </p:nvSpPr>
        <p:spPr>
          <a:xfrm>
            <a:off x="822960" y="3840480"/>
            <a:ext cx="4389120" cy="1051560"/>
          </a:xfrm>
          <a:prstGeom prst="roundRect">
            <a:avLst/>
          </a:prstGeom>
          <a:solidFill>
            <a:srgbClr val="21262D"/>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096512"/>
            <a:ext cx="1097280" cy="274320"/>
          </a:xfrm>
          <a:prstGeom prst="rect">
            <a:avLst/>
          </a:prstGeom>
          <a:noFill/>
        </p:spPr>
        <p:txBody>
          <a:bodyPr wrap="square" lIns="36576" tIns="36576" rIns="36576" bIns="36576" anchor="t">
            <a:spAutoFit/>
          </a:bodyPr>
          <a:lstStyle/>
          <a:p>
            <a:pPr algn="l"/>
            <a:r>
              <a:rPr sz="1700" b="1">
                <a:solidFill>
                  <a:srgbClr val="3FB950"/>
                </a:solidFill>
                <a:latin typeface="Aptos"/>
              </a:rPr>
              <a:t>No PAT</a:t>
            </a:r>
          </a:p>
        </p:txBody>
      </p:sp>
      <p:sp>
        <p:nvSpPr>
          <p:cNvPr id="12" name="TextBox 11"/>
          <p:cNvSpPr txBox="1"/>
          <p:nvPr/>
        </p:nvSpPr>
        <p:spPr>
          <a:xfrm>
            <a:off x="2194560" y="4096512"/>
            <a:ext cx="2560320" cy="274320"/>
          </a:xfrm>
          <a:prstGeom prst="rect">
            <a:avLst/>
          </a:prstGeom>
          <a:noFill/>
        </p:spPr>
        <p:txBody>
          <a:bodyPr wrap="square" lIns="36576" tIns="36576" rIns="36576" bIns="36576" anchor="t">
            <a:spAutoFit/>
          </a:bodyPr>
          <a:lstStyle/>
          <a:p>
            <a:pPr algn="l"/>
            <a:r>
              <a:rPr sz="1600" b="0">
                <a:solidFill>
                  <a:srgbClr val="F0F6FC"/>
                </a:solidFill>
                <a:latin typeface="Aptos"/>
              </a:rPr>
              <a:t>No broad token scope</a:t>
            </a:r>
          </a:p>
        </p:txBody>
      </p:sp>
      <p:sp>
        <p:nvSpPr>
          <p:cNvPr id="13" name="TextBox 12"/>
          <p:cNvSpPr txBox="1"/>
          <p:nvPr/>
        </p:nvSpPr>
        <p:spPr>
          <a:xfrm>
            <a:off x="1828800" y="5486400"/>
            <a:ext cx="8686800" cy="384048"/>
          </a:xfrm>
          <a:prstGeom prst="rect">
            <a:avLst/>
          </a:prstGeom>
          <a:noFill/>
        </p:spPr>
        <p:txBody>
          <a:bodyPr wrap="square" lIns="36576" tIns="36576" rIns="36576" bIns="36576" anchor="t">
            <a:spAutoFit/>
          </a:bodyPr>
          <a:lstStyle/>
          <a:p>
            <a:pPr algn="ctr"/>
            <a:r>
              <a:rPr sz="2000" b="1">
                <a:solidFill>
                  <a:srgbClr val="F0F6FC"/>
                </a:solidFill>
                <a:latin typeface="Aptos"/>
              </a:rPr>
              <a:t>Expected output: “Open Dependabot alerts: N”</a:t>
            </a:r>
          </a:p>
        </p:txBody>
      </p:sp>
      <p:sp>
        <p:nvSpPr>
          <p:cNvPr id="14" name="TextBox 13"/>
          <p:cNvSpPr txBox="1"/>
          <p:nvPr/>
        </p:nvSpPr>
        <p:spPr>
          <a:xfrm>
            <a:off x="640080" y="6519672"/>
            <a:ext cx="5852160" cy="182880"/>
          </a:xfrm>
          <a:prstGeom prst="rect">
            <a:avLst/>
          </a:prstGeom>
          <a:noFill/>
        </p:spPr>
        <p:txBody>
          <a:bodyPr wrap="square" lIns="36576" tIns="36576" rIns="36576" bIns="36576" anchor="t">
            <a:spAutoFit/>
          </a:bodyPr>
          <a:lstStyle/>
          <a:p>
            <a:pPr algn="l"/>
            <a:r>
              <a:rPr sz="900" b="0">
                <a:solidFill>
                  <a:srgbClr val="8B949E"/>
                </a:solidFill>
                <a:latin typeface="Aptos"/>
              </a:rPr>
              <a:t>GitHub Actions Office Hour · Sep 2026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640080" y="292608"/>
            <a:ext cx="6400800" cy="274320"/>
          </a:xfrm>
          <a:prstGeom prst="rect">
            <a:avLst/>
          </a:prstGeom>
          <a:noFill/>
        </p:spPr>
        <p:txBody>
          <a:bodyPr wrap="square" lIns="36576" tIns="36576" rIns="36576" bIns="36576" anchor="t">
            <a:spAutoFit/>
          </a:bodyPr>
          <a:lstStyle/>
          <a:p>
            <a:pPr algn="l"/>
            <a:r>
              <a:rPr sz="1100" b="1">
                <a:solidFill>
                  <a:srgbClr val="58A6FF"/>
                </a:solidFill>
                <a:latin typeface="Aptos"/>
              </a:rPr>
              <a:t>LIVE DEMO · 3 MINUTES</a:t>
            </a:r>
          </a:p>
        </p:txBody>
      </p:sp>
      <p:sp>
        <p:nvSpPr>
          <p:cNvPr id="3" name="TextBox 2"/>
          <p:cNvSpPr txBox="1"/>
          <p:nvPr/>
        </p:nvSpPr>
        <p:spPr>
          <a:xfrm>
            <a:off x="640080" y="667512"/>
            <a:ext cx="10789920" cy="658368"/>
          </a:xfrm>
          <a:prstGeom prst="rect">
            <a:avLst/>
          </a:prstGeom>
          <a:noFill/>
        </p:spPr>
        <p:txBody>
          <a:bodyPr wrap="square" lIns="36576" tIns="36576" rIns="36576" bIns="36576" anchor="t">
            <a:spAutoFit/>
          </a:bodyPr>
          <a:lstStyle/>
          <a:p>
            <a:pPr algn="l"/>
            <a:r>
              <a:rPr sz="3000" b="1">
                <a:solidFill>
                  <a:srgbClr val="F0F6FC"/>
                </a:solidFill>
                <a:latin typeface="Aptos"/>
              </a:rPr>
              <a:t>Demo 3: separate CodeQL workload attribution</a:t>
            </a:r>
          </a:p>
        </p:txBody>
      </p:sp>
      <p:sp>
        <p:nvSpPr>
          <p:cNvPr id="4" name="Rectangle 3"/>
          <p:cNvSpPr/>
          <p:nvPr/>
        </p:nvSpPr>
        <p:spPr>
          <a:xfrm>
            <a:off x="640080" y="1417320"/>
            <a:ext cx="914400" cy="45720"/>
          </a:xfrm>
          <a:prstGeom prst="rect">
            <a:avLst/>
          </a:prstGeom>
          <a:solidFill>
            <a:srgbClr val="BC8CFF"/>
          </a:solidFill>
          <a:ln>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310896"/>
            <a:ext cx="457200" cy="274320"/>
          </a:xfrm>
          <a:prstGeom prst="rect">
            <a:avLst/>
          </a:prstGeom>
          <a:noFill/>
        </p:spPr>
        <p:txBody>
          <a:bodyPr wrap="square" lIns="36576" tIns="36576" rIns="36576" bIns="36576" anchor="t">
            <a:spAutoFit/>
          </a:bodyPr>
          <a:lstStyle/>
          <a:p>
            <a:pPr algn="r"/>
            <a:r>
              <a:rPr sz="1100" b="1">
                <a:solidFill>
                  <a:srgbClr val="8B949E"/>
                </a:solidFill>
                <a:latin typeface="Aptos"/>
              </a:rPr>
              <a:t>15</a:t>
            </a:r>
          </a:p>
        </p:txBody>
      </p:sp>
      <p:sp>
        <p:nvSpPr>
          <p:cNvPr id="6" name="Rounded Rectangle 5"/>
          <p:cNvSpPr/>
          <p:nvPr/>
        </p:nvSpPr>
        <p:spPr>
          <a:xfrm>
            <a:off x="777240" y="1828800"/>
            <a:ext cx="4937760" cy="123444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2029968"/>
            <a:ext cx="4480560" cy="868680"/>
          </a:xfrm>
          <a:prstGeom prst="rect">
            <a:avLst/>
          </a:prstGeom>
          <a:noFill/>
        </p:spPr>
        <p:txBody>
          <a:bodyPr wrap="square" lIns="36576" tIns="36576" rIns="36576" bIns="36576" anchor="t">
            <a:spAutoFit/>
          </a:bodyPr>
          <a:lstStyle/>
          <a:p>
            <a:pPr algn="l"/>
            <a:r>
              <a:rPr sz="1600" b="0">
                <a:solidFill>
                  <a:srgbClr val="F0F6FC"/>
                </a:solidFill>
                <a:latin typeface="Cascadia Mono"/>
              </a:rPr>
              <a:t>gh api "repos/$GITHUB_REPOSITORY/
  actions/runs?actor=github-code-quality"</a:t>
            </a:r>
          </a:p>
        </p:txBody>
      </p:sp>
      <p:sp>
        <p:nvSpPr>
          <p:cNvPr id="8" name="Rounded Rectangle 7"/>
          <p:cNvSpPr/>
          <p:nvPr/>
        </p:nvSpPr>
        <p:spPr>
          <a:xfrm>
            <a:off x="6080760" y="1828800"/>
            <a:ext cx="5303520" cy="123444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09360" y="2029968"/>
            <a:ext cx="4846320" cy="868680"/>
          </a:xfrm>
          <a:prstGeom prst="rect">
            <a:avLst/>
          </a:prstGeom>
          <a:noFill/>
        </p:spPr>
        <p:txBody>
          <a:bodyPr wrap="square" lIns="36576" tIns="36576" rIns="36576" bIns="36576" anchor="t">
            <a:spAutoFit/>
          </a:bodyPr>
          <a:lstStyle/>
          <a:p>
            <a:pPr algn="l"/>
            <a:r>
              <a:rPr sz="1600" b="0">
                <a:solidFill>
                  <a:srgbClr val="F0F6FC"/>
                </a:solidFill>
                <a:latin typeface="Cascadia Mono"/>
              </a:rPr>
              <a:t>gh api "repos/$GITHUB_REPOSITORY/
  actions/runs?actor=github-advanced-security"</a:t>
            </a:r>
          </a:p>
        </p:txBody>
      </p:sp>
      <p:sp>
        <p:nvSpPr>
          <p:cNvPr id="10" name="Rounded Rectangle 9"/>
          <p:cNvSpPr/>
          <p:nvPr/>
        </p:nvSpPr>
        <p:spPr>
          <a:xfrm>
            <a:off x="777240" y="3429000"/>
            <a:ext cx="4937760" cy="1371600"/>
          </a:xfrm>
          <a:prstGeom prst="roundRect">
            <a:avLst/>
          </a:prstGeom>
          <a:solidFill>
            <a:srgbClr val="161B22"/>
          </a:solidFill>
          <a:ln>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24128" y="3675887"/>
            <a:ext cx="1828800" cy="274320"/>
          </a:xfrm>
          <a:prstGeom prst="rect">
            <a:avLst/>
          </a:prstGeom>
          <a:noFill/>
        </p:spPr>
        <p:txBody>
          <a:bodyPr wrap="square" lIns="36576" tIns="36576" rIns="36576" bIns="36576" anchor="t">
            <a:spAutoFit/>
          </a:bodyPr>
          <a:lstStyle/>
          <a:p>
            <a:pPr algn="l"/>
            <a:r>
              <a:rPr sz="1800" b="1">
                <a:solidFill>
                  <a:srgbClr val="58A6FF"/>
                </a:solidFill>
                <a:latin typeface="Aptos"/>
              </a:rPr>
              <a:t>Code Quality</a:t>
            </a:r>
          </a:p>
        </p:txBody>
      </p:sp>
      <p:sp>
        <p:nvSpPr>
          <p:cNvPr id="12" name="TextBox 11"/>
          <p:cNvSpPr txBox="1"/>
          <p:nvPr/>
        </p:nvSpPr>
        <p:spPr>
          <a:xfrm>
            <a:off x="1024128" y="4050791"/>
            <a:ext cx="4114800" cy="246888"/>
          </a:xfrm>
          <a:prstGeom prst="rect">
            <a:avLst/>
          </a:prstGeom>
          <a:noFill/>
        </p:spPr>
        <p:txBody>
          <a:bodyPr wrap="square" lIns="36576" tIns="36576" rIns="36576" bIns="36576" anchor="t">
            <a:spAutoFit/>
          </a:bodyPr>
          <a:lstStyle/>
          <a:p>
            <a:pPr algn="l"/>
            <a:r>
              <a:rPr sz="1400" b="0">
                <a:solidFill>
                  <a:srgbClr val="F0F6FC"/>
                </a:solidFill>
                <a:latin typeface="Cascadia Mono"/>
              </a:rPr>
              <a:t>actor: github-code-quality</a:t>
            </a:r>
          </a:p>
        </p:txBody>
      </p:sp>
      <p:sp>
        <p:nvSpPr>
          <p:cNvPr id="13" name="TextBox 12"/>
          <p:cNvSpPr txBox="1"/>
          <p:nvPr/>
        </p:nvSpPr>
        <p:spPr>
          <a:xfrm>
            <a:off x="1024128" y="4379976"/>
            <a:ext cx="4389120" cy="246888"/>
          </a:xfrm>
          <a:prstGeom prst="rect">
            <a:avLst/>
          </a:prstGeom>
          <a:noFill/>
        </p:spPr>
        <p:txBody>
          <a:bodyPr wrap="square" lIns="36576" tIns="36576" rIns="36576" bIns="36576" anchor="t">
            <a:spAutoFit/>
          </a:bodyPr>
          <a:lstStyle/>
          <a:p>
            <a:pPr algn="l"/>
            <a:r>
              <a:rPr sz="1300" b="0">
                <a:solidFill>
                  <a:srgbClr val="F0F6FC"/>
                </a:solidFill>
                <a:latin typeface="Cascadia Mono"/>
              </a:rPr>
              <a:t>path: dynamic/github-code-quality/codeql</a:t>
            </a:r>
          </a:p>
        </p:txBody>
      </p:sp>
      <p:sp>
        <p:nvSpPr>
          <p:cNvPr id="14" name="Rounded Rectangle 13"/>
          <p:cNvSpPr/>
          <p:nvPr/>
        </p:nvSpPr>
        <p:spPr>
          <a:xfrm>
            <a:off x="6080760" y="3429000"/>
            <a:ext cx="5303520" cy="1371600"/>
          </a:xfrm>
          <a:prstGeom prst="roundRect">
            <a:avLst/>
          </a:prstGeom>
          <a:solidFill>
            <a:srgbClr val="161B22"/>
          </a:solidFill>
          <a:ln>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27648" y="3675887"/>
            <a:ext cx="1828800" cy="274320"/>
          </a:xfrm>
          <a:prstGeom prst="rect">
            <a:avLst/>
          </a:prstGeom>
          <a:noFill/>
        </p:spPr>
        <p:txBody>
          <a:bodyPr wrap="square" lIns="36576" tIns="36576" rIns="36576" bIns="36576" anchor="t">
            <a:spAutoFit/>
          </a:bodyPr>
          <a:lstStyle/>
          <a:p>
            <a:pPr algn="l"/>
            <a:r>
              <a:rPr sz="1800" b="1">
                <a:solidFill>
                  <a:srgbClr val="BC8CFF"/>
                </a:solidFill>
                <a:latin typeface="Aptos"/>
              </a:rPr>
              <a:t>Code scanning</a:t>
            </a:r>
          </a:p>
        </p:txBody>
      </p:sp>
      <p:sp>
        <p:nvSpPr>
          <p:cNvPr id="16" name="TextBox 15"/>
          <p:cNvSpPr txBox="1"/>
          <p:nvPr/>
        </p:nvSpPr>
        <p:spPr>
          <a:xfrm>
            <a:off x="6327648" y="4050791"/>
            <a:ext cx="4389120" cy="246888"/>
          </a:xfrm>
          <a:prstGeom prst="rect">
            <a:avLst/>
          </a:prstGeom>
          <a:noFill/>
        </p:spPr>
        <p:txBody>
          <a:bodyPr wrap="square" lIns="36576" tIns="36576" rIns="36576" bIns="36576" anchor="t">
            <a:spAutoFit/>
          </a:bodyPr>
          <a:lstStyle/>
          <a:p>
            <a:pPr algn="l"/>
            <a:r>
              <a:rPr sz="1400" b="0">
                <a:solidFill>
                  <a:srgbClr val="F0F6FC"/>
                </a:solidFill>
                <a:latin typeface="Cascadia Mono"/>
              </a:rPr>
              <a:t>actor: github-advanced-security</a:t>
            </a:r>
          </a:p>
        </p:txBody>
      </p:sp>
      <p:sp>
        <p:nvSpPr>
          <p:cNvPr id="17" name="TextBox 16"/>
          <p:cNvSpPr txBox="1"/>
          <p:nvPr/>
        </p:nvSpPr>
        <p:spPr>
          <a:xfrm>
            <a:off x="6327648" y="4379976"/>
            <a:ext cx="4572000" cy="246888"/>
          </a:xfrm>
          <a:prstGeom prst="rect">
            <a:avLst/>
          </a:prstGeom>
          <a:noFill/>
        </p:spPr>
        <p:txBody>
          <a:bodyPr wrap="square" lIns="36576" tIns="36576" rIns="36576" bIns="36576" anchor="t">
            <a:spAutoFit/>
          </a:bodyPr>
          <a:lstStyle/>
          <a:p>
            <a:pPr algn="l"/>
            <a:r>
              <a:rPr sz="1300" b="0">
                <a:solidFill>
                  <a:srgbClr val="F0F6FC"/>
                </a:solidFill>
                <a:latin typeface="Cascadia Mono"/>
              </a:rPr>
              <a:t>path: dynamic/github-code-scanning/codeql</a:t>
            </a:r>
          </a:p>
        </p:txBody>
      </p:sp>
      <p:sp>
        <p:nvSpPr>
          <p:cNvPr id="18" name="TextBox 17"/>
          <p:cNvSpPr txBox="1"/>
          <p:nvPr/>
        </p:nvSpPr>
        <p:spPr>
          <a:xfrm>
            <a:off x="1005840" y="5532120"/>
            <a:ext cx="10149840" cy="365760"/>
          </a:xfrm>
          <a:prstGeom prst="rect">
            <a:avLst/>
          </a:prstGeom>
          <a:noFill/>
        </p:spPr>
        <p:txBody>
          <a:bodyPr wrap="square" lIns="36576" tIns="36576" rIns="36576" bIns="36576" anchor="t">
            <a:spAutoFit/>
          </a:bodyPr>
          <a:lstStyle/>
          <a:p>
            <a:pPr algn="ctr"/>
            <a:r>
              <a:rPr sz="1900" b="1">
                <a:solidFill>
                  <a:srgbClr val="3FB950"/>
                </a:solidFill>
                <a:latin typeface="Aptos"/>
              </a:rPr>
              <a:t>Land the point: quality and security are now independently reportable.</a:t>
            </a:r>
          </a:p>
        </p:txBody>
      </p:sp>
      <p:sp>
        <p:nvSpPr>
          <p:cNvPr id="19" name="TextBox 18"/>
          <p:cNvSpPr txBox="1"/>
          <p:nvPr/>
        </p:nvSpPr>
        <p:spPr>
          <a:xfrm>
            <a:off x="640080" y="6519672"/>
            <a:ext cx="5852160" cy="182880"/>
          </a:xfrm>
          <a:prstGeom prst="rect">
            <a:avLst/>
          </a:prstGeom>
          <a:noFill/>
        </p:spPr>
        <p:txBody>
          <a:bodyPr wrap="square" lIns="36576" tIns="36576" rIns="36576" bIns="36576" anchor="t">
            <a:spAutoFit/>
          </a:bodyPr>
          <a:lstStyle/>
          <a:p>
            <a:pPr algn="l"/>
            <a:r>
              <a:rPr sz="900" b="0">
                <a:solidFill>
                  <a:srgbClr val="8B949E"/>
                </a:solidFill>
                <a:latin typeface="Aptos"/>
              </a:rPr>
              <a:t>GitHub Actions Office Hour · Sep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640080" y="292608"/>
            <a:ext cx="6400800" cy="274320"/>
          </a:xfrm>
          <a:prstGeom prst="rect">
            <a:avLst/>
          </a:prstGeom>
          <a:noFill/>
        </p:spPr>
        <p:txBody>
          <a:bodyPr wrap="square" lIns="36576" tIns="36576" rIns="36576" bIns="36576" anchor="t">
            <a:spAutoFit/>
          </a:bodyPr>
          <a:lstStyle/>
          <a:p>
            <a:pPr algn="l"/>
            <a:r>
              <a:rPr sz="1100" b="1">
                <a:solidFill>
                  <a:srgbClr val="58A6FF"/>
                </a:solidFill>
                <a:latin typeface="Aptos"/>
              </a:rPr>
              <a:t>FINAL FIVE MINUTES</a:t>
            </a:r>
          </a:p>
        </p:txBody>
      </p:sp>
      <p:sp>
        <p:nvSpPr>
          <p:cNvPr id="3" name="TextBox 2"/>
          <p:cNvSpPr txBox="1"/>
          <p:nvPr/>
        </p:nvSpPr>
        <p:spPr>
          <a:xfrm>
            <a:off x="640080" y="667512"/>
            <a:ext cx="10789920" cy="658368"/>
          </a:xfrm>
          <a:prstGeom prst="rect">
            <a:avLst/>
          </a:prstGeom>
          <a:noFill/>
        </p:spPr>
        <p:txBody>
          <a:bodyPr wrap="square" lIns="36576" tIns="36576" rIns="36576" bIns="36576" anchor="t">
            <a:spAutoFit/>
          </a:bodyPr>
          <a:lstStyle/>
          <a:p>
            <a:pPr algn="l"/>
            <a:r>
              <a:rPr sz="3000" b="1">
                <a:solidFill>
                  <a:srgbClr val="F0F6FC"/>
                </a:solidFill>
                <a:latin typeface="Aptos"/>
              </a:rPr>
              <a:t>Five performance moves with outsized returns</a:t>
            </a:r>
          </a:p>
        </p:txBody>
      </p:sp>
      <p:sp>
        <p:nvSpPr>
          <p:cNvPr id="4" name="Rectangle 3"/>
          <p:cNvSpPr/>
          <p:nvPr/>
        </p:nvSpPr>
        <p:spPr>
          <a:xfrm>
            <a:off x="640080" y="1417320"/>
            <a:ext cx="914400" cy="45720"/>
          </a:xfrm>
          <a:prstGeom prst="rect">
            <a:avLst/>
          </a:prstGeom>
          <a:solidFill>
            <a:srgbClr val="BC8CFF"/>
          </a:solidFill>
          <a:ln>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310896"/>
            <a:ext cx="457200" cy="274320"/>
          </a:xfrm>
          <a:prstGeom prst="rect">
            <a:avLst/>
          </a:prstGeom>
          <a:noFill/>
        </p:spPr>
        <p:txBody>
          <a:bodyPr wrap="square" lIns="36576" tIns="36576" rIns="36576" bIns="36576" anchor="t">
            <a:spAutoFit/>
          </a:bodyPr>
          <a:lstStyle/>
          <a:p>
            <a:pPr algn="r"/>
            <a:r>
              <a:rPr sz="1100" b="1">
                <a:solidFill>
                  <a:srgbClr val="8B949E"/>
                </a:solidFill>
                <a:latin typeface="Aptos"/>
              </a:rPr>
              <a:t>16</a:t>
            </a:r>
          </a:p>
        </p:txBody>
      </p:sp>
      <p:sp>
        <p:nvSpPr>
          <p:cNvPr id="6" name="Rounded Rectangle 5"/>
          <p:cNvSpPr/>
          <p:nvPr/>
        </p:nvSpPr>
        <p:spPr>
          <a:xfrm>
            <a:off x="777240" y="1700784"/>
            <a:ext cx="530352" cy="530352"/>
          </a:xfrm>
          <a:prstGeom prst="roundRect">
            <a:avLst/>
          </a:prstGeom>
          <a:solidFill>
            <a:srgbClr val="58A6FF"/>
          </a:solidFill>
          <a:ln>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828800"/>
            <a:ext cx="530352" cy="219456"/>
          </a:xfrm>
          <a:prstGeom prst="rect">
            <a:avLst/>
          </a:prstGeom>
          <a:noFill/>
        </p:spPr>
        <p:txBody>
          <a:bodyPr wrap="square" lIns="36576" tIns="36576" rIns="36576" bIns="36576" anchor="t">
            <a:spAutoFit/>
          </a:bodyPr>
          <a:lstStyle/>
          <a:p>
            <a:pPr algn="ctr"/>
            <a:r>
              <a:rPr sz="1300" b="1">
                <a:solidFill>
                  <a:srgbClr val="0D1117"/>
                </a:solidFill>
                <a:latin typeface="Aptos"/>
              </a:rPr>
              <a:t>1</a:t>
            </a:r>
          </a:p>
        </p:txBody>
      </p:sp>
      <p:sp>
        <p:nvSpPr>
          <p:cNvPr id="8" name="TextBox 7"/>
          <p:cNvSpPr txBox="1"/>
          <p:nvPr/>
        </p:nvSpPr>
        <p:spPr>
          <a:xfrm>
            <a:off x="1536192" y="1691640"/>
            <a:ext cx="2560320" cy="310896"/>
          </a:xfrm>
          <a:prstGeom prst="rect">
            <a:avLst/>
          </a:prstGeom>
          <a:noFill/>
        </p:spPr>
        <p:txBody>
          <a:bodyPr wrap="square" lIns="36576" tIns="36576" rIns="36576" bIns="36576" anchor="t">
            <a:spAutoFit/>
          </a:bodyPr>
          <a:lstStyle/>
          <a:p>
            <a:pPr algn="l"/>
            <a:r>
              <a:rPr sz="1800" b="1">
                <a:solidFill>
                  <a:srgbClr val="F0F6FC"/>
                </a:solidFill>
                <a:latin typeface="Aptos"/>
              </a:rPr>
              <a:t>Cancel stale work</a:t>
            </a:r>
          </a:p>
        </p:txBody>
      </p:sp>
      <p:sp>
        <p:nvSpPr>
          <p:cNvPr id="9" name="TextBox 8"/>
          <p:cNvSpPr txBox="1"/>
          <p:nvPr/>
        </p:nvSpPr>
        <p:spPr>
          <a:xfrm>
            <a:off x="3886200" y="1719072"/>
            <a:ext cx="7223760" cy="292608"/>
          </a:xfrm>
          <a:prstGeom prst="rect">
            <a:avLst/>
          </a:prstGeom>
          <a:noFill/>
        </p:spPr>
        <p:txBody>
          <a:bodyPr wrap="square" lIns="36576" tIns="36576" rIns="36576" bIns="36576" anchor="t">
            <a:spAutoFit/>
          </a:bodyPr>
          <a:lstStyle/>
          <a:p>
            <a:pPr algn="l"/>
            <a:r>
              <a:rPr sz="1500" b="0">
                <a:solidFill>
                  <a:srgbClr val="8B949E"/>
                </a:solidFill>
                <a:latin typeface="Aptos"/>
              </a:rPr>
              <a:t>Use concurrency groups with cancel-in-progress for PRs.</a:t>
            </a:r>
          </a:p>
        </p:txBody>
      </p:sp>
      <p:sp>
        <p:nvSpPr>
          <p:cNvPr id="10" name="Rounded Rectangle 9"/>
          <p:cNvSpPr/>
          <p:nvPr/>
        </p:nvSpPr>
        <p:spPr>
          <a:xfrm>
            <a:off x="777240" y="2569464"/>
            <a:ext cx="530352" cy="530352"/>
          </a:xfrm>
          <a:prstGeom prst="roundRect">
            <a:avLst/>
          </a:prstGeom>
          <a:solidFill>
            <a:srgbClr val="BC8CFF"/>
          </a:solidFill>
          <a:ln>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97480"/>
            <a:ext cx="530352" cy="219456"/>
          </a:xfrm>
          <a:prstGeom prst="rect">
            <a:avLst/>
          </a:prstGeom>
          <a:noFill/>
        </p:spPr>
        <p:txBody>
          <a:bodyPr wrap="square" lIns="36576" tIns="36576" rIns="36576" bIns="36576" anchor="t">
            <a:spAutoFit/>
          </a:bodyPr>
          <a:lstStyle/>
          <a:p>
            <a:pPr algn="ctr"/>
            <a:r>
              <a:rPr sz="1300" b="1">
                <a:solidFill>
                  <a:srgbClr val="0D1117"/>
                </a:solidFill>
                <a:latin typeface="Aptos"/>
              </a:rPr>
              <a:t>2</a:t>
            </a:r>
          </a:p>
        </p:txBody>
      </p:sp>
      <p:sp>
        <p:nvSpPr>
          <p:cNvPr id="12" name="TextBox 11"/>
          <p:cNvSpPr txBox="1"/>
          <p:nvPr/>
        </p:nvSpPr>
        <p:spPr>
          <a:xfrm>
            <a:off x="1536192" y="2560320"/>
            <a:ext cx="2560320" cy="310896"/>
          </a:xfrm>
          <a:prstGeom prst="rect">
            <a:avLst/>
          </a:prstGeom>
          <a:noFill/>
        </p:spPr>
        <p:txBody>
          <a:bodyPr wrap="square" lIns="36576" tIns="36576" rIns="36576" bIns="36576" anchor="t">
            <a:spAutoFit/>
          </a:bodyPr>
          <a:lstStyle/>
          <a:p>
            <a:pPr algn="l"/>
            <a:r>
              <a:rPr sz="1800" b="1">
                <a:solidFill>
                  <a:srgbClr val="F0F6FC"/>
                </a:solidFill>
                <a:latin typeface="Aptos"/>
              </a:rPr>
              <a:t>Cache with intent</a:t>
            </a:r>
          </a:p>
        </p:txBody>
      </p:sp>
      <p:sp>
        <p:nvSpPr>
          <p:cNvPr id="13" name="TextBox 12"/>
          <p:cNvSpPr txBox="1"/>
          <p:nvPr/>
        </p:nvSpPr>
        <p:spPr>
          <a:xfrm>
            <a:off x="3886200" y="2587752"/>
            <a:ext cx="7223760" cy="292608"/>
          </a:xfrm>
          <a:prstGeom prst="rect">
            <a:avLst/>
          </a:prstGeom>
          <a:noFill/>
        </p:spPr>
        <p:txBody>
          <a:bodyPr wrap="square" lIns="36576" tIns="36576" rIns="36576" bIns="36576" anchor="t">
            <a:spAutoFit/>
          </a:bodyPr>
          <a:lstStyle/>
          <a:p>
            <a:pPr algn="l"/>
            <a:r>
              <a:rPr sz="1500" b="0">
                <a:solidFill>
                  <a:srgbClr val="8B949E"/>
                </a:solidFill>
                <a:latin typeface="Aptos"/>
              </a:rPr>
              <a:t>Key on lockfiles; restore broadly; measure hit rate.</a:t>
            </a:r>
          </a:p>
        </p:txBody>
      </p:sp>
      <p:sp>
        <p:nvSpPr>
          <p:cNvPr id="14" name="Rounded Rectangle 13"/>
          <p:cNvSpPr/>
          <p:nvPr/>
        </p:nvSpPr>
        <p:spPr>
          <a:xfrm>
            <a:off x="777240" y="3438144"/>
            <a:ext cx="530352" cy="530352"/>
          </a:xfrm>
          <a:prstGeom prst="roundRect">
            <a:avLst/>
          </a:prstGeom>
          <a:solidFill>
            <a:srgbClr val="3FB950"/>
          </a:solidFill>
          <a:ln>
            <a:solidFill>
              <a:srgbClr val="3FB9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566160"/>
            <a:ext cx="530352" cy="219456"/>
          </a:xfrm>
          <a:prstGeom prst="rect">
            <a:avLst/>
          </a:prstGeom>
          <a:noFill/>
        </p:spPr>
        <p:txBody>
          <a:bodyPr wrap="square" lIns="36576" tIns="36576" rIns="36576" bIns="36576" anchor="t">
            <a:spAutoFit/>
          </a:bodyPr>
          <a:lstStyle/>
          <a:p>
            <a:pPr algn="ctr"/>
            <a:r>
              <a:rPr sz="1300" b="1">
                <a:solidFill>
                  <a:srgbClr val="0D1117"/>
                </a:solidFill>
                <a:latin typeface="Aptos"/>
              </a:rPr>
              <a:t>3</a:t>
            </a:r>
          </a:p>
        </p:txBody>
      </p:sp>
      <p:sp>
        <p:nvSpPr>
          <p:cNvPr id="16" name="TextBox 15"/>
          <p:cNvSpPr txBox="1"/>
          <p:nvPr/>
        </p:nvSpPr>
        <p:spPr>
          <a:xfrm>
            <a:off x="1536192" y="3429000"/>
            <a:ext cx="2560320" cy="310896"/>
          </a:xfrm>
          <a:prstGeom prst="rect">
            <a:avLst/>
          </a:prstGeom>
          <a:noFill/>
        </p:spPr>
        <p:txBody>
          <a:bodyPr wrap="square" lIns="36576" tIns="36576" rIns="36576" bIns="36576" anchor="t">
            <a:spAutoFit/>
          </a:bodyPr>
          <a:lstStyle/>
          <a:p>
            <a:pPr algn="l"/>
            <a:r>
              <a:rPr sz="1800" b="1">
                <a:solidFill>
                  <a:srgbClr val="F0F6FC"/>
                </a:solidFill>
                <a:latin typeface="Aptos"/>
              </a:rPr>
              <a:t>Filter early</a:t>
            </a:r>
          </a:p>
        </p:txBody>
      </p:sp>
      <p:sp>
        <p:nvSpPr>
          <p:cNvPr id="17" name="TextBox 16"/>
          <p:cNvSpPr txBox="1"/>
          <p:nvPr/>
        </p:nvSpPr>
        <p:spPr>
          <a:xfrm>
            <a:off x="3886200" y="3456432"/>
            <a:ext cx="7223760" cy="292608"/>
          </a:xfrm>
          <a:prstGeom prst="rect">
            <a:avLst/>
          </a:prstGeom>
          <a:noFill/>
        </p:spPr>
        <p:txBody>
          <a:bodyPr wrap="square" lIns="36576" tIns="36576" rIns="36576" bIns="36576" anchor="t">
            <a:spAutoFit/>
          </a:bodyPr>
          <a:lstStyle/>
          <a:p>
            <a:pPr algn="l"/>
            <a:r>
              <a:rPr sz="1500" b="0">
                <a:solidFill>
                  <a:srgbClr val="8B949E"/>
                </a:solidFill>
                <a:latin typeface="Aptos"/>
              </a:rPr>
              <a:t>Use paths, branches, and job if conditions before runners start.</a:t>
            </a:r>
          </a:p>
        </p:txBody>
      </p:sp>
      <p:sp>
        <p:nvSpPr>
          <p:cNvPr id="18" name="Rounded Rectangle 17"/>
          <p:cNvSpPr/>
          <p:nvPr/>
        </p:nvSpPr>
        <p:spPr>
          <a:xfrm>
            <a:off x="777240" y="4306824"/>
            <a:ext cx="530352" cy="530352"/>
          </a:xfrm>
          <a:prstGeom prst="roundRect">
            <a:avLst/>
          </a:prstGeom>
          <a:solidFill>
            <a:srgbClr val="D29922"/>
          </a:solidFill>
          <a:ln>
            <a:solidFill>
              <a:srgbClr val="D299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434840"/>
            <a:ext cx="530352" cy="219456"/>
          </a:xfrm>
          <a:prstGeom prst="rect">
            <a:avLst/>
          </a:prstGeom>
          <a:noFill/>
        </p:spPr>
        <p:txBody>
          <a:bodyPr wrap="square" lIns="36576" tIns="36576" rIns="36576" bIns="36576" anchor="t">
            <a:spAutoFit/>
          </a:bodyPr>
          <a:lstStyle/>
          <a:p>
            <a:pPr algn="ctr"/>
            <a:r>
              <a:rPr sz="1300" b="1">
                <a:solidFill>
                  <a:srgbClr val="0D1117"/>
                </a:solidFill>
                <a:latin typeface="Aptos"/>
              </a:rPr>
              <a:t>4</a:t>
            </a:r>
          </a:p>
        </p:txBody>
      </p:sp>
      <p:sp>
        <p:nvSpPr>
          <p:cNvPr id="20" name="TextBox 19"/>
          <p:cNvSpPr txBox="1"/>
          <p:nvPr/>
        </p:nvSpPr>
        <p:spPr>
          <a:xfrm>
            <a:off x="1536192" y="4297680"/>
            <a:ext cx="2560320" cy="310896"/>
          </a:xfrm>
          <a:prstGeom prst="rect">
            <a:avLst/>
          </a:prstGeom>
          <a:noFill/>
        </p:spPr>
        <p:txBody>
          <a:bodyPr wrap="square" lIns="36576" tIns="36576" rIns="36576" bIns="36576" anchor="t">
            <a:spAutoFit/>
          </a:bodyPr>
          <a:lstStyle/>
          <a:p>
            <a:pPr algn="l"/>
            <a:r>
              <a:rPr sz="1800" b="1">
                <a:solidFill>
                  <a:srgbClr val="F0F6FC"/>
                </a:solidFill>
                <a:latin typeface="Aptos"/>
              </a:rPr>
              <a:t>Shrink the matrix</a:t>
            </a:r>
          </a:p>
        </p:txBody>
      </p:sp>
      <p:sp>
        <p:nvSpPr>
          <p:cNvPr id="21" name="TextBox 20"/>
          <p:cNvSpPr txBox="1"/>
          <p:nvPr/>
        </p:nvSpPr>
        <p:spPr>
          <a:xfrm>
            <a:off x="3886200" y="4325112"/>
            <a:ext cx="7223760" cy="292608"/>
          </a:xfrm>
          <a:prstGeom prst="rect">
            <a:avLst/>
          </a:prstGeom>
          <a:noFill/>
        </p:spPr>
        <p:txBody>
          <a:bodyPr wrap="square" lIns="36576" tIns="36576" rIns="36576" bIns="36576" anchor="t">
            <a:spAutoFit/>
          </a:bodyPr>
          <a:lstStyle/>
          <a:p>
            <a:pPr algn="l"/>
            <a:r>
              <a:rPr sz="1500" b="0">
                <a:solidFill>
                  <a:srgbClr val="8B949E"/>
                </a:solidFill>
                <a:latin typeface="Aptos"/>
              </a:rPr>
              <a:t>Test representative combinations first; expand on main or nightly.</a:t>
            </a:r>
          </a:p>
        </p:txBody>
      </p:sp>
      <p:sp>
        <p:nvSpPr>
          <p:cNvPr id="22" name="Rounded Rectangle 21"/>
          <p:cNvSpPr/>
          <p:nvPr/>
        </p:nvSpPr>
        <p:spPr>
          <a:xfrm>
            <a:off x="777240" y="5175504"/>
            <a:ext cx="530352" cy="530352"/>
          </a:xfrm>
          <a:prstGeom prst="roundRect">
            <a:avLst/>
          </a:prstGeom>
          <a:solidFill>
            <a:srgbClr val="F85149"/>
          </a:solidFill>
          <a:ln>
            <a:solidFill>
              <a:srgbClr val="F851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5303520"/>
            <a:ext cx="530352" cy="219456"/>
          </a:xfrm>
          <a:prstGeom prst="rect">
            <a:avLst/>
          </a:prstGeom>
          <a:noFill/>
        </p:spPr>
        <p:txBody>
          <a:bodyPr wrap="square" lIns="36576" tIns="36576" rIns="36576" bIns="36576" anchor="t">
            <a:spAutoFit/>
          </a:bodyPr>
          <a:lstStyle/>
          <a:p>
            <a:pPr algn="ctr"/>
            <a:r>
              <a:rPr sz="1300" b="1">
                <a:solidFill>
                  <a:srgbClr val="0D1117"/>
                </a:solidFill>
                <a:latin typeface="Aptos"/>
              </a:rPr>
              <a:t>5</a:t>
            </a:r>
          </a:p>
        </p:txBody>
      </p:sp>
      <p:sp>
        <p:nvSpPr>
          <p:cNvPr id="24" name="TextBox 23"/>
          <p:cNvSpPr txBox="1"/>
          <p:nvPr/>
        </p:nvSpPr>
        <p:spPr>
          <a:xfrm>
            <a:off x="1536192" y="5166360"/>
            <a:ext cx="2560320" cy="310896"/>
          </a:xfrm>
          <a:prstGeom prst="rect">
            <a:avLst/>
          </a:prstGeom>
          <a:noFill/>
        </p:spPr>
        <p:txBody>
          <a:bodyPr wrap="square" lIns="36576" tIns="36576" rIns="36576" bIns="36576" anchor="t">
            <a:spAutoFit/>
          </a:bodyPr>
          <a:lstStyle/>
          <a:p>
            <a:pPr algn="l"/>
            <a:r>
              <a:rPr sz="1800" b="1">
                <a:solidFill>
                  <a:srgbClr val="F0F6FC"/>
                </a:solidFill>
                <a:latin typeface="Aptos"/>
              </a:rPr>
              <a:t>Measure the queue</a:t>
            </a:r>
          </a:p>
        </p:txBody>
      </p:sp>
      <p:sp>
        <p:nvSpPr>
          <p:cNvPr id="25" name="TextBox 24"/>
          <p:cNvSpPr txBox="1"/>
          <p:nvPr/>
        </p:nvSpPr>
        <p:spPr>
          <a:xfrm>
            <a:off x="3886200" y="5193792"/>
            <a:ext cx="7223760" cy="292608"/>
          </a:xfrm>
          <a:prstGeom prst="rect">
            <a:avLst/>
          </a:prstGeom>
          <a:noFill/>
        </p:spPr>
        <p:txBody>
          <a:bodyPr wrap="square" lIns="36576" tIns="36576" rIns="36576" bIns="36576" anchor="t">
            <a:spAutoFit/>
          </a:bodyPr>
          <a:lstStyle/>
          <a:p>
            <a:pPr algn="l"/>
            <a:r>
              <a:rPr sz="1500" b="0">
                <a:solidFill>
                  <a:srgbClr val="8B949E"/>
                </a:solidFill>
                <a:latin typeface="Aptos"/>
              </a:rPr>
              <a:t>Separate queue time from execution time before changing code.</a:t>
            </a:r>
          </a:p>
        </p:txBody>
      </p:sp>
      <p:sp>
        <p:nvSpPr>
          <p:cNvPr id="26" name="Rounded Rectangle 25"/>
          <p:cNvSpPr/>
          <p:nvPr/>
        </p:nvSpPr>
        <p:spPr>
          <a:xfrm>
            <a:off x="777240" y="6062472"/>
            <a:ext cx="10561320" cy="384048"/>
          </a:xfrm>
          <a:prstGeom prst="roundRect">
            <a:avLst/>
          </a:prstGeom>
          <a:solidFill>
            <a:srgbClr val="21262D"/>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0" y="6153912"/>
            <a:ext cx="10561320" cy="201168"/>
          </a:xfrm>
          <a:prstGeom prst="rect">
            <a:avLst/>
          </a:prstGeom>
          <a:noFill/>
        </p:spPr>
        <p:txBody>
          <a:bodyPr wrap="square" lIns="36576" tIns="36576" rIns="36576" bIns="36576" anchor="t">
            <a:spAutoFit/>
          </a:bodyPr>
          <a:lstStyle/>
          <a:p>
            <a:pPr algn="ctr"/>
            <a:r>
              <a:rPr sz="1300" b="1">
                <a:solidFill>
                  <a:srgbClr val="F0F6FC"/>
                </a:solidFill>
                <a:latin typeface="Aptos"/>
              </a:rPr>
              <a:t>Optimize total feedback time—not just step duration.</a:t>
            </a:r>
          </a:p>
        </p:txBody>
      </p:sp>
      <p:sp>
        <p:nvSpPr>
          <p:cNvPr id="28" name="TextBox 27"/>
          <p:cNvSpPr txBox="1"/>
          <p:nvPr/>
        </p:nvSpPr>
        <p:spPr>
          <a:xfrm>
            <a:off x="640080" y="6519672"/>
            <a:ext cx="5852160" cy="182880"/>
          </a:xfrm>
          <a:prstGeom prst="rect">
            <a:avLst/>
          </a:prstGeom>
          <a:noFill/>
        </p:spPr>
        <p:txBody>
          <a:bodyPr wrap="square" lIns="36576" tIns="36576" rIns="36576" bIns="36576" anchor="t">
            <a:spAutoFit/>
          </a:bodyPr>
          <a:lstStyle/>
          <a:p>
            <a:pPr algn="l"/>
            <a:r>
              <a:rPr sz="900" b="0">
                <a:solidFill>
                  <a:srgbClr val="8B949E"/>
                </a:solidFill>
                <a:latin typeface="Aptos"/>
              </a:rPr>
              <a:t>GitHub Actions Office Hour · Sep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640080" y="292608"/>
            <a:ext cx="6400800" cy="274320"/>
          </a:xfrm>
          <a:prstGeom prst="rect">
            <a:avLst/>
          </a:prstGeom>
          <a:noFill/>
        </p:spPr>
        <p:txBody>
          <a:bodyPr wrap="square" lIns="36576" tIns="36576" rIns="36576" bIns="36576" anchor="t">
            <a:spAutoFit/>
          </a:bodyPr>
          <a:lstStyle/>
          <a:p>
            <a:pPr algn="l"/>
            <a:r>
              <a:rPr sz="1100" b="1">
                <a:solidFill>
                  <a:srgbClr val="58A6FF"/>
                </a:solidFill>
                <a:latin typeface="Aptos"/>
              </a:rPr>
              <a:t>CLOSE</a:t>
            </a:r>
          </a:p>
        </p:txBody>
      </p:sp>
      <p:sp>
        <p:nvSpPr>
          <p:cNvPr id="3" name="TextBox 2"/>
          <p:cNvSpPr txBox="1"/>
          <p:nvPr/>
        </p:nvSpPr>
        <p:spPr>
          <a:xfrm>
            <a:off x="640080" y="667512"/>
            <a:ext cx="10789920" cy="658368"/>
          </a:xfrm>
          <a:prstGeom prst="rect">
            <a:avLst/>
          </a:prstGeom>
          <a:noFill/>
        </p:spPr>
        <p:txBody>
          <a:bodyPr wrap="square" lIns="36576" tIns="36576" rIns="36576" bIns="36576" anchor="t">
            <a:spAutoFit/>
          </a:bodyPr>
          <a:lstStyle/>
          <a:p>
            <a:pPr algn="l"/>
            <a:r>
              <a:rPr sz="3000" b="1">
                <a:solidFill>
                  <a:srgbClr val="F0F6FC"/>
                </a:solidFill>
                <a:latin typeface="Aptos"/>
              </a:rPr>
              <a:t>Three actions for next week</a:t>
            </a:r>
          </a:p>
        </p:txBody>
      </p:sp>
      <p:sp>
        <p:nvSpPr>
          <p:cNvPr id="4" name="Rectangle 3"/>
          <p:cNvSpPr/>
          <p:nvPr/>
        </p:nvSpPr>
        <p:spPr>
          <a:xfrm>
            <a:off x="640080" y="1417320"/>
            <a:ext cx="914400" cy="45720"/>
          </a:xfrm>
          <a:prstGeom prst="rect">
            <a:avLst/>
          </a:prstGeom>
          <a:solidFill>
            <a:srgbClr val="BC8CFF"/>
          </a:solidFill>
          <a:ln>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310896"/>
            <a:ext cx="457200" cy="274320"/>
          </a:xfrm>
          <a:prstGeom prst="rect">
            <a:avLst/>
          </a:prstGeom>
          <a:noFill/>
        </p:spPr>
        <p:txBody>
          <a:bodyPr wrap="square" lIns="36576" tIns="36576" rIns="36576" bIns="36576" anchor="t">
            <a:spAutoFit/>
          </a:bodyPr>
          <a:lstStyle/>
          <a:p>
            <a:pPr algn="r"/>
            <a:r>
              <a:rPr sz="1100" b="1">
                <a:solidFill>
                  <a:srgbClr val="8B949E"/>
                </a:solidFill>
                <a:latin typeface="Aptos"/>
              </a:rPr>
              <a:t>17</a:t>
            </a:r>
          </a:p>
        </p:txBody>
      </p:sp>
      <p:sp>
        <p:nvSpPr>
          <p:cNvPr id="6" name="Rounded Rectangle 5"/>
          <p:cNvSpPr/>
          <p:nvPr/>
        </p:nvSpPr>
        <p:spPr>
          <a:xfrm>
            <a:off x="731520" y="1828800"/>
            <a:ext cx="3429000" cy="310896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828800"/>
            <a:ext cx="64008" cy="3108960"/>
          </a:xfrm>
          <a:prstGeom prst="rect">
            <a:avLst/>
          </a:prstGeom>
          <a:solidFill>
            <a:srgbClr val="3FB950"/>
          </a:solidFill>
          <a:ln>
            <a:solidFill>
              <a:srgbClr val="3FB9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2057400"/>
            <a:ext cx="2971800" cy="274320"/>
          </a:xfrm>
          <a:prstGeom prst="rect">
            <a:avLst/>
          </a:prstGeom>
          <a:noFill/>
        </p:spPr>
        <p:txBody>
          <a:bodyPr wrap="square" lIns="36576" tIns="36576" rIns="36576" bIns="36576" anchor="t">
            <a:spAutoFit/>
          </a:bodyPr>
          <a:lstStyle/>
          <a:p>
            <a:pPr algn="l"/>
            <a:r>
              <a:rPr sz="1000" b="1">
                <a:solidFill>
                  <a:srgbClr val="3FB950"/>
                </a:solidFill>
                <a:latin typeface="Aptos"/>
              </a:rPr>
              <a:t>TEST</a:t>
            </a:r>
          </a:p>
        </p:txBody>
      </p:sp>
      <p:sp>
        <p:nvSpPr>
          <p:cNvPr id="9" name="TextBox 8"/>
          <p:cNvSpPr txBox="1"/>
          <p:nvPr/>
        </p:nvSpPr>
        <p:spPr>
          <a:xfrm>
            <a:off x="987552" y="2423160"/>
            <a:ext cx="2916936" cy="658368"/>
          </a:xfrm>
          <a:prstGeom prst="rect">
            <a:avLst/>
          </a:prstGeom>
          <a:noFill/>
        </p:spPr>
        <p:txBody>
          <a:bodyPr wrap="square" lIns="36576" tIns="36576" rIns="36576" bIns="36576" anchor="t">
            <a:spAutoFit/>
          </a:bodyPr>
          <a:lstStyle/>
          <a:p>
            <a:pPr algn="l"/>
            <a:r>
              <a:rPr sz="1900" b="1">
                <a:solidFill>
                  <a:srgbClr val="F0F6FC"/>
                </a:solidFill>
                <a:latin typeface="Aptos"/>
              </a:rPr>
              <a:t>Arm64 + VS 2026</a:t>
            </a:r>
          </a:p>
        </p:txBody>
      </p:sp>
      <p:sp>
        <p:nvSpPr>
          <p:cNvPr id="10" name="TextBox 9"/>
          <p:cNvSpPr txBox="1"/>
          <p:nvPr/>
        </p:nvSpPr>
        <p:spPr>
          <a:xfrm>
            <a:off x="987552" y="3127248"/>
            <a:ext cx="2916936" cy="1591056"/>
          </a:xfrm>
          <a:prstGeom prst="rect">
            <a:avLst/>
          </a:prstGeom>
          <a:noFill/>
        </p:spPr>
        <p:txBody>
          <a:bodyPr wrap="square" lIns="18288" tIns="18288" rIns="18288" bIns="18288" anchor="t">
            <a:spAutoFit/>
          </a:bodyPr>
          <a:lstStyle/>
          <a:p>
            <a:pPr algn="l"/>
            <a:r>
              <a:rPr sz="1300" b="0">
                <a:solidFill>
                  <a:srgbClr val="8B949E"/>
                </a:solidFill>
                <a:latin typeface="Aptos"/>
              </a:rPr>
              <a:t>Run architecture-specific builds on the explicit image before automatic migration.</a:t>
            </a:r>
          </a:p>
        </p:txBody>
      </p:sp>
      <p:sp>
        <p:nvSpPr>
          <p:cNvPr id="11" name="Rounded Rectangle 10"/>
          <p:cNvSpPr/>
          <p:nvPr/>
        </p:nvSpPr>
        <p:spPr>
          <a:xfrm>
            <a:off x="4389120" y="1828800"/>
            <a:ext cx="3429000" cy="310896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1828800"/>
            <a:ext cx="64008" cy="3108960"/>
          </a:xfrm>
          <a:prstGeom prst="rect">
            <a:avLst/>
          </a:prstGeom>
          <a:solidFill>
            <a:srgbClr val="D29922"/>
          </a:solidFill>
          <a:ln>
            <a:solidFill>
              <a:srgbClr val="D299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45152" y="2057400"/>
            <a:ext cx="2971800" cy="274320"/>
          </a:xfrm>
          <a:prstGeom prst="rect">
            <a:avLst/>
          </a:prstGeom>
          <a:noFill/>
        </p:spPr>
        <p:txBody>
          <a:bodyPr wrap="square" lIns="36576" tIns="36576" rIns="36576" bIns="36576" anchor="t">
            <a:spAutoFit/>
          </a:bodyPr>
          <a:lstStyle/>
          <a:p>
            <a:pPr algn="l"/>
            <a:r>
              <a:rPr sz="1000" b="1">
                <a:solidFill>
                  <a:srgbClr val="D29922"/>
                </a:solidFill>
                <a:latin typeface="Aptos"/>
              </a:rPr>
              <a:t>REVIEW</a:t>
            </a:r>
          </a:p>
        </p:txBody>
      </p:sp>
      <p:sp>
        <p:nvSpPr>
          <p:cNvPr id="14" name="TextBox 13"/>
          <p:cNvSpPr txBox="1"/>
          <p:nvPr/>
        </p:nvSpPr>
        <p:spPr>
          <a:xfrm>
            <a:off x="4645152" y="2423160"/>
            <a:ext cx="2916936" cy="658368"/>
          </a:xfrm>
          <a:prstGeom prst="rect">
            <a:avLst/>
          </a:prstGeom>
          <a:noFill/>
        </p:spPr>
        <p:txBody>
          <a:bodyPr wrap="square" lIns="36576" tIns="36576" rIns="36576" bIns="36576" anchor="t">
            <a:spAutoFit/>
          </a:bodyPr>
          <a:lstStyle/>
          <a:p>
            <a:pPr algn="l"/>
            <a:r>
              <a:rPr sz="1900" b="1">
                <a:solidFill>
                  <a:srgbClr val="F0F6FC"/>
                </a:solidFill>
                <a:latin typeface="Aptos"/>
              </a:rPr>
              <a:t>Retention + reports</a:t>
            </a:r>
          </a:p>
        </p:txBody>
      </p:sp>
      <p:sp>
        <p:nvSpPr>
          <p:cNvPr id="15" name="TextBox 14"/>
          <p:cNvSpPr txBox="1"/>
          <p:nvPr/>
        </p:nvSpPr>
        <p:spPr>
          <a:xfrm>
            <a:off x="4645152" y="3127248"/>
            <a:ext cx="2916936" cy="1591056"/>
          </a:xfrm>
          <a:prstGeom prst="rect">
            <a:avLst/>
          </a:prstGeom>
          <a:noFill/>
        </p:spPr>
        <p:txBody>
          <a:bodyPr wrap="square" lIns="18288" tIns="18288" rIns="18288" bIns="18288" anchor="t">
            <a:spAutoFit/>
          </a:bodyPr>
          <a:lstStyle/>
          <a:p>
            <a:pPr algn="l"/>
            <a:r>
              <a:rPr sz="1300" b="0">
                <a:solidFill>
                  <a:srgbClr val="8B949E"/>
                </a:solidFill>
                <a:latin typeface="Aptos"/>
              </a:rPr>
              <a:t>Confirm the retention window and update Code Quality path or actor filters.</a:t>
            </a:r>
          </a:p>
        </p:txBody>
      </p:sp>
      <p:sp>
        <p:nvSpPr>
          <p:cNvPr id="16" name="Rounded Rectangle 15"/>
          <p:cNvSpPr/>
          <p:nvPr/>
        </p:nvSpPr>
        <p:spPr>
          <a:xfrm>
            <a:off x="8046720" y="1828800"/>
            <a:ext cx="3429000" cy="3108960"/>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46720" y="1828800"/>
            <a:ext cx="64008" cy="3108960"/>
          </a:xfrm>
          <a:prstGeom prst="rect">
            <a:avLst/>
          </a:prstGeom>
          <a:solidFill>
            <a:srgbClr val="58A6FF"/>
          </a:solidFill>
          <a:ln>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02752" y="2057400"/>
            <a:ext cx="2971800" cy="274320"/>
          </a:xfrm>
          <a:prstGeom prst="rect">
            <a:avLst/>
          </a:prstGeom>
          <a:noFill/>
        </p:spPr>
        <p:txBody>
          <a:bodyPr wrap="square" lIns="36576" tIns="36576" rIns="36576" bIns="36576" anchor="t">
            <a:spAutoFit/>
          </a:bodyPr>
          <a:lstStyle/>
          <a:p>
            <a:pPr algn="l"/>
            <a:r>
              <a:rPr sz="1000" b="1">
                <a:solidFill>
                  <a:srgbClr val="58A6FF"/>
                </a:solidFill>
                <a:latin typeface="Aptos"/>
              </a:rPr>
              <a:t>ADOPT</a:t>
            </a:r>
          </a:p>
        </p:txBody>
      </p:sp>
      <p:sp>
        <p:nvSpPr>
          <p:cNvPr id="19" name="TextBox 18"/>
          <p:cNvSpPr txBox="1"/>
          <p:nvPr/>
        </p:nvSpPr>
        <p:spPr>
          <a:xfrm>
            <a:off x="8302752" y="2423160"/>
            <a:ext cx="2916936" cy="658368"/>
          </a:xfrm>
          <a:prstGeom prst="rect">
            <a:avLst/>
          </a:prstGeom>
          <a:noFill/>
        </p:spPr>
        <p:txBody>
          <a:bodyPr wrap="square" lIns="36576" tIns="36576" rIns="36576" bIns="36576" anchor="t">
            <a:spAutoFit/>
          </a:bodyPr>
          <a:lstStyle/>
          <a:p>
            <a:pPr algn="l"/>
            <a:r>
              <a:rPr sz="1900" b="1">
                <a:solidFill>
                  <a:srgbClr val="F0F6FC"/>
                </a:solidFill>
                <a:latin typeface="Aptos"/>
              </a:rPr>
              <a:t>Identity + permission</a:t>
            </a:r>
          </a:p>
        </p:txBody>
      </p:sp>
      <p:sp>
        <p:nvSpPr>
          <p:cNvPr id="20" name="TextBox 19"/>
          <p:cNvSpPr txBox="1"/>
          <p:nvPr/>
        </p:nvSpPr>
        <p:spPr>
          <a:xfrm>
            <a:off x="8302752" y="3127248"/>
            <a:ext cx="2916936" cy="1591056"/>
          </a:xfrm>
          <a:prstGeom prst="rect">
            <a:avLst/>
          </a:prstGeom>
          <a:noFill/>
        </p:spPr>
        <p:txBody>
          <a:bodyPr wrap="square" lIns="18288" tIns="18288" rIns="18288" bIns="18288" anchor="t">
            <a:spAutoFit/>
          </a:bodyPr>
          <a:lstStyle/>
          <a:p>
            <a:pPr algn="l"/>
            <a:r>
              <a:rPr sz="1300" b="0">
                <a:solidFill>
                  <a:srgbClr val="8B949E"/>
                </a:solidFill>
                <a:latin typeface="Aptos"/>
              </a:rPr>
              <a:t>Use native reusable-workflow provenance and job-scoped alert access.</a:t>
            </a:r>
          </a:p>
        </p:txBody>
      </p:sp>
      <p:sp>
        <p:nvSpPr>
          <p:cNvPr id="21" name="TextBox 20"/>
          <p:cNvSpPr txBox="1"/>
          <p:nvPr/>
        </p:nvSpPr>
        <p:spPr>
          <a:xfrm>
            <a:off x="731520" y="5532120"/>
            <a:ext cx="10744200" cy="566928"/>
          </a:xfrm>
          <a:prstGeom prst="rect">
            <a:avLst/>
          </a:prstGeom>
          <a:noFill/>
        </p:spPr>
        <p:txBody>
          <a:bodyPr wrap="square" lIns="36576" tIns="36576" rIns="36576" bIns="36576" anchor="t">
            <a:spAutoFit/>
          </a:bodyPr>
          <a:lstStyle/>
          <a:p>
            <a:pPr algn="ctr"/>
            <a:r>
              <a:rPr sz="3400" b="1">
                <a:solidFill>
                  <a:srgbClr val="BC8CFF"/>
                </a:solidFill>
                <a:latin typeface="Aptos"/>
              </a:rPr>
              <a:t>Q&amp;A</a:t>
            </a:r>
          </a:p>
        </p:txBody>
      </p:sp>
      <p:sp>
        <p:nvSpPr>
          <p:cNvPr id="22" name="TextBox 21"/>
          <p:cNvSpPr txBox="1"/>
          <p:nvPr/>
        </p:nvSpPr>
        <p:spPr>
          <a:xfrm>
            <a:off x="731520" y="6144768"/>
            <a:ext cx="10744200" cy="274320"/>
          </a:xfrm>
          <a:prstGeom prst="rect">
            <a:avLst/>
          </a:prstGeom>
          <a:noFill/>
        </p:spPr>
        <p:txBody>
          <a:bodyPr wrap="square" lIns="36576" tIns="36576" rIns="36576" bIns="36576" anchor="t">
            <a:spAutoFit/>
          </a:bodyPr>
          <a:lstStyle/>
          <a:p>
            <a:pPr algn="ctr"/>
            <a:r>
              <a:rPr sz="1300" b="0">
                <a:solidFill>
                  <a:srgbClr val="8B949E"/>
                </a:solidFill>
                <a:latin typeface="Cascadia Mono"/>
              </a:rPr>
              <a:t>github.blog/changelog/label/actions</a:t>
            </a:r>
          </a:p>
        </p:txBody>
      </p:sp>
      <p:sp>
        <p:nvSpPr>
          <p:cNvPr id="23" name="TextBox 22"/>
          <p:cNvSpPr txBox="1"/>
          <p:nvPr/>
        </p:nvSpPr>
        <p:spPr>
          <a:xfrm>
            <a:off x="640080" y="6519672"/>
            <a:ext cx="5852160" cy="182880"/>
          </a:xfrm>
          <a:prstGeom prst="rect">
            <a:avLst/>
          </a:prstGeom>
          <a:noFill/>
        </p:spPr>
        <p:txBody>
          <a:bodyPr wrap="square" lIns="36576" tIns="36576" rIns="36576" bIns="36576" anchor="t">
            <a:spAutoFit/>
          </a:bodyPr>
          <a:lstStyle/>
          <a:p>
            <a:pPr algn="l"/>
            <a:r>
              <a:rPr sz="900" b="0">
                <a:solidFill>
                  <a:srgbClr val="8B949E"/>
                </a:solidFill>
                <a:latin typeface="Aptos"/>
              </a:rPr>
              <a:t>GitHub Actions Office Hour · Sep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640080" y="292608"/>
            <a:ext cx="6400800" cy="274320"/>
          </a:xfrm>
          <a:prstGeom prst="rect">
            <a:avLst/>
          </a:prstGeom>
          <a:noFill/>
        </p:spPr>
        <p:txBody>
          <a:bodyPr wrap="square" lIns="36576" tIns="36576" rIns="36576" bIns="36576" anchor="t">
            <a:spAutoFit/>
          </a:bodyPr>
          <a:lstStyle/>
          <a:p>
            <a:pPr algn="l"/>
            <a:r>
              <a:rPr sz="1100" b="1">
                <a:solidFill>
                  <a:srgbClr val="58A6FF"/>
                </a:solidFill>
                <a:latin typeface="Aptos"/>
              </a:rPr>
              <a:t>GITHUB CHANGELOG</a:t>
            </a:r>
          </a:p>
        </p:txBody>
      </p:sp>
      <p:sp>
        <p:nvSpPr>
          <p:cNvPr id="3" name="TextBox 2"/>
          <p:cNvSpPr txBox="1"/>
          <p:nvPr/>
        </p:nvSpPr>
        <p:spPr>
          <a:xfrm>
            <a:off x="640080" y="667512"/>
            <a:ext cx="10789920" cy="658368"/>
          </a:xfrm>
          <a:prstGeom prst="rect">
            <a:avLst/>
          </a:prstGeom>
          <a:noFill/>
        </p:spPr>
        <p:txBody>
          <a:bodyPr wrap="square" lIns="36576" tIns="36576" rIns="36576" bIns="36576" anchor="t">
            <a:spAutoFit/>
          </a:bodyPr>
          <a:lstStyle/>
          <a:p>
            <a:pPr algn="l"/>
            <a:r>
              <a:rPr sz="3000" b="1">
                <a:solidFill>
                  <a:srgbClr val="F0F6FC"/>
                </a:solidFill>
                <a:latin typeface="Aptos"/>
              </a:rPr>
              <a:t>Feature references</a:t>
            </a:r>
          </a:p>
        </p:txBody>
      </p:sp>
      <p:sp>
        <p:nvSpPr>
          <p:cNvPr id="4" name="Rectangle 3"/>
          <p:cNvSpPr/>
          <p:nvPr/>
        </p:nvSpPr>
        <p:spPr>
          <a:xfrm>
            <a:off x="640080" y="1417320"/>
            <a:ext cx="914400" cy="45720"/>
          </a:xfrm>
          <a:prstGeom prst="rect">
            <a:avLst/>
          </a:prstGeom>
          <a:solidFill>
            <a:srgbClr val="BC8CFF"/>
          </a:solidFill>
          <a:ln>
            <a:solidFill>
              <a:srgbClr val="BC8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310896"/>
            <a:ext cx="457200" cy="274320"/>
          </a:xfrm>
          <a:prstGeom prst="rect">
            <a:avLst/>
          </a:prstGeom>
          <a:noFill/>
        </p:spPr>
        <p:txBody>
          <a:bodyPr wrap="square" lIns="36576" tIns="36576" rIns="36576" bIns="36576" anchor="t">
            <a:spAutoFit/>
          </a:bodyPr>
          <a:lstStyle/>
          <a:p>
            <a:pPr algn="r"/>
            <a:r>
              <a:rPr sz="1100" b="1">
                <a:solidFill>
                  <a:srgbClr val="8B949E"/>
                </a:solidFill>
                <a:latin typeface="Aptos"/>
              </a:rPr>
              <a:t>18</a:t>
            </a:r>
          </a:p>
        </p:txBody>
      </p:sp>
      <p:sp>
        <p:nvSpPr>
          <p:cNvPr id="6" name="Rounded Rectangle 5"/>
          <p:cNvSpPr/>
          <p:nvPr/>
        </p:nvSpPr>
        <p:spPr>
          <a:xfrm>
            <a:off x="731520" y="1664208"/>
            <a:ext cx="10744200" cy="612648"/>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755648"/>
            <a:ext cx="4206240" cy="228600"/>
          </a:xfrm>
          <a:prstGeom prst="rect">
            <a:avLst/>
          </a:prstGeom>
          <a:noFill/>
        </p:spPr>
        <p:txBody>
          <a:bodyPr wrap="square" lIns="36576" tIns="36576" rIns="36576" bIns="36576" anchor="t">
            <a:spAutoFit/>
          </a:bodyPr>
          <a:lstStyle/>
          <a:p>
            <a:pPr algn="l"/>
            <a:r>
              <a:rPr sz="1400" b="1">
                <a:solidFill>
                  <a:srgbClr val="F0F6FC"/>
                </a:solidFill>
                <a:latin typeface="Aptos"/>
              </a:rPr>
              <a:t>Windows 11 Arm64 with Visual Studio 2026</a:t>
            </a:r>
          </a:p>
        </p:txBody>
      </p:sp>
      <p:sp>
        <p:nvSpPr>
          <p:cNvPr id="8" name="TextBox 7"/>
          <p:cNvSpPr txBox="1"/>
          <p:nvPr/>
        </p:nvSpPr>
        <p:spPr>
          <a:xfrm>
            <a:off x="5074920" y="1746504"/>
            <a:ext cx="6080760" cy="347472"/>
          </a:xfrm>
          <a:prstGeom prst="rect">
            <a:avLst/>
          </a:prstGeom>
          <a:noFill/>
        </p:spPr>
        <p:txBody>
          <a:bodyPr wrap="square" lIns="36576" tIns="36576" rIns="36576" bIns="36576" anchor="t">
            <a:spAutoFit/>
          </a:bodyPr>
          <a:lstStyle/>
          <a:p>
            <a:pPr algn="l"/>
            <a:r>
              <a:rPr sz="900" b="0" u="sng">
                <a:solidFill>
                  <a:srgbClr val="58A6FF"/>
                </a:solidFill>
                <a:latin typeface="Cascadia Mono"/>
                <a:hlinkClick r:id="rId3"/>
              </a:rPr>
              <a:t>https://github.blog/changelog/2026-08-20-windows-11-arm64-vs2026-image-generally-available</a:t>
            </a:r>
          </a:p>
        </p:txBody>
      </p:sp>
      <p:sp>
        <p:nvSpPr>
          <p:cNvPr id="9" name="Rounded Rectangle 8"/>
          <p:cNvSpPr/>
          <p:nvPr/>
        </p:nvSpPr>
        <p:spPr>
          <a:xfrm>
            <a:off x="731520" y="2414016"/>
            <a:ext cx="10744200" cy="612648"/>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2505456"/>
            <a:ext cx="4206240" cy="228600"/>
          </a:xfrm>
          <a:prstGeom prst="rect">
            <a:avLst/>
          </a:prstGeom>
          <a:noFill/>
        </p:spPr>
        <p:txBody>
          <a:bodyPr wrap="square" lIns="36576" tIns="36576" rIns="36576" bIns="36576" anchor="t">
            <a:spAutoFit/>
          </a:bodyPr>
          <a:lstStyle/>
          <a:p>
            <a:pPr algn="l"/>
            <a:r>
              <a:rPr sz="1400" b="1">
                <a:solidFill>
                  <a:srgbClr val="F0F6FC"/>
                </a:solidFill>
                <a:latin typeface="Aptos"/>
              </a:rPr>
              <a:t>Separate GitHub Actions path for GitHub Code Quality</a:t>
            </a:r>
          </a:p>
        </p:txBody>
      </p:sp>
      <p:sp>
        <p:nvSpPr>
          <p:cNvPr id="11" name="TextBox 10"/>
          <p:cNvSpPr txBox="1"/>
          <p:nvPr/>
        </p:nvSpPr>
        <p:spPr>
          <a:xfrm>
            <a:off x="5074920" y="2496312"/>
            <a:ext cx="6080760" cy="347472"/>
          </a:xfrm>
          <a:prstGeom prst="rect">
            <a:avLst/>
          </a:prstGeom>
          <a:noFill/>
        </p:spPr>
        <p:txBody>
          <a:bodyPr wrap="square" lIns="36576" tIns="36576" rIns="36576" bIns="36576" anchor="t">
            <a:spAutoFit/>
          </a:bodyPr>
          <a:lstStyle/>
          <a:p>
            <a:pPr algn="l"/>
            <a:r>
              <a:rPr sz="900" b="0" u="sng">
                <a:solidFill>
                  <a:srgbClr val="58A6FF"/>
                </a:solidFill>
                <a:latin typeface="Cascadia Mono"/>
                <a:hlinkClick r:id="rId4"/>
              </a:rPr>
              <a:t>https://github.blog/changelog/2026-08-20-separate-github-actions-path-for-github-code-quality</a:t>
            </a:r>
          </a:p>
        </p:txBody>
      </p:sp>
      <p:sp>
        <p:nvSpPr>
          <p:cNvPr id="12" name="Rounded Rectangle 11"/>
          <p:cNvSpPr/>
          <p:nvPr/>
        </p:nvSpPr>
        <p:spPr>
          <a:xfrm>
            <a:off x="731520" y="3163824"/>
            <a:ext cx="10744200" cy="612648"/>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3255264"/>
            <a:ext cx="4206240" cy="228600"/>
          </a:xfrm>
          <a:prstGeom prst="rect">
            <a:avLst/>
          </a:prstGeom>
          <a:noFill/>
        </p:spPr>
        <p:txBody>
          <a:bodyPr wrap="square" lIns="36576" tIns="36576" rIns="36576" bIns="36576" anchor="t">
            <a:spAutoFit/>
          </a:bodyPr>
          <a:lstStyle/>
          <a:p>
            <a:pPr algn="l"/>
            <a:r>
              <a:rPr sz="1400" b="1">
                <a:solidFill>
                  <a:srgbClr val="F0F6FC"/>
                </a:solidFill>
                <a:latin typeface="Aptos"/>
              </a:rPr>
              <a:t>Actions retention for checks, workflow runs, and statuses</a:t>
            </a:r>
          </a:p>
        </p:txBody>
      </p:sp>
      <p:sp>
        <p:nvSpPr>
          <p:cNvPr id="14" name="TextBox 13"/>
          <p:cNvSpPr txBox="1"/>
          <p:nvPr/>
        </p:nvSpPr>
        <p:spPr>
          <a:xfrm>
            <a:off x="5074920" y="3246120"/>
            <a:ext cx="6080760" cy="347472"/>
          </a:xfrm>
          <a:prstGeom prst="rect">
            <a:avLst/>
          </a:prstGeom>
          <a:noFill/>
        </p:spPr>
        <p:txBody>
          <a:bodyPr wrap="square" lIns="36576" tIns="36576" rIns="36576" bIns="36576" anchor="t">
            <a:spAutoFit/>
          </a:bodyPr>
          <a:lstStyle/>
          <a:p>
            <a:pPr algn="l"/>
            <a:r>
              <a:rPr sz="900" b="0" u="sng" dirty="0">
                <a:solidFill>
                  <a:srgbClr val="58A6FF"/>
                </a:solidFill>
                <a:latin typeface="Cascadia Mono"/>
                <a:hlinkClick r:id="rId5"/>
              </a:rPr>
              <a:t>https://github.blog/changelog/2026-08-27-actions-retention-will-cover-checks-workflow-runs-and-statuses</a:t>
            </a:r>
          </a:p>
        </p:txBody>
      </p:sp>
      <p:sp>
        <p:nvSpPr>
          <p:cNvPr id="15" name="Rounded Rectangle 14"/>
          <p:cNvSpPr/>
          <p:nvPr/>
        </p:nvSpPr>
        <p:spPr>
          <a:xfrm>
            <a:off x="731520" y="3913632"/>
            <a:ext cx="10744200" cy="612648"/>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0120" y="4005072"/>
            <a:ext cx="4206240" cy="228600"/>
          </a:xfrm>
          <a:prstGeom prst="rect">
            <a:avLst/>
          </a:prstGeom>
          <a:noFill/>
        </p:spPr>
        <p:txBody>
          <a:bodyPr wrap="square" lIns="36576" tIns="36576" rIns="36576" bIns="36576" anchor="t">
            <a:spAutoFit/>
          </a:bodyPr>
          <a:lstStyle/>
          <a:p>
            <a:pPr algn="l"/>
            <a:r>
              <a:rPr sz="1400" b="1">
                <a:solidFill>
                  <a:srgbClr val="F0F6FC"/>
                </a:solidFill>
                <a:latin typeface="Aptos"/>
              </a:rPr>
              <a:t>REST API for runner version deprecations</a:t>
            </a:r>
          </a:p>
        </p:txBody>
      </p:sp>
      <p:sp>
        <p:nvSpPr>
          <p:cNvPr id="17" name="TextBox 16"/>
          <p:cNvSpPr txBox="1"/>
          <p:nvPr/>
        </p:nvSpPr>
        <p:spPr>
          <a:xfrm>
            <a:off x="5074920" y="3995928"/>
            <a:ext cx="6080760" cy="347472"/>
          </a:xfrm>
          <a:prstGeom prst="rect">
            <a:avLst/>
          </a:prstGeom>
          <a:noFill/>
        </p:spPr>
        <p:txBody>
          <a:bodyPr wrap="square" lIns="36576" tIns="36576" rIns="36576" bIns="36576" anchor="t">
            <a:spAutoFit/>
          </a:bodyPr>
          <a:lstStyle/>
          <a:p>
            <a:pPr algn="l"/>
            <a:r>
              <a:rPr sz="900" b="0" u="sng">
                <a:solidFill>
                  <a:srgbClr val="58A6FF"/>
                </a:solidFill>
                <a:latin typeface="Cascadia Mono"/>
                <a:hlinkClick r:id="rId6"/>
              </a:rPr>
              <a:t>https://github.blog/changelog/2026-09-03-github-actions-early-september-2026-updates</a:t>
            </a:r>
          </a:p>
        </p:txBody>
      </p:sp>
      <p:sp>
        <p:nvSpPr>
          <p:cNvPr id="18" name="Rounded Rectangle 17"/>
          <p:cNvSpPr/>
          <p:nvPr/>
        </p:nvSpPr>
        <p:spPr>
          <a:xfrm>
            <a:off x="731520" y="4663440"/>
            <a:ext cx="10744200" cy="612648"/>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0120" y="4754879"/>
            <a:ext cx="4206240" cy="228600"/>
          </a:xfrm>
          <a:prstGeom prst="rect">
            <a:avLst/>
          </a:prstGeom>
          <a:noFill/>
        </p:spPr>
        <p:txBody>
          <a:bodyPr wrap="square" lIns="36576" tIns="36576" rIns="36576" bIns="36576" anchor="t">
            <a:spAutoFit/>
          </a:bodyPr>
          <a:lstStyle/>
          <a:p>
            <a:pPr algn="l"/>
            <a:r>
              <a:rPr sz="1400" b="1">
                <a:solidFill>
                  <a:srgbClr val="F0F6FC"/>
                </a:solidFill>
                <a:latin typeface="Aptos"/>
              </a:rPr>
              <a:t>vulnerability-alerts permission for GITHUB_TOKEN</a:t>
            </a:r>
          </a:p>
        </p:txBody>
      </p:sp>
      <p:sp>
        <p:nvSpPr>
          <p:cNvPr id="20" name="TextBox 19"/>
          <p:cNvSpPr txBox="1"/>
          <p:nvPr/>
        </p:nvSpPr>
        <p:spPr>
          <a:xfrm>
            <a:off x="5074920" y="4745736"/>
            <a:ext cx="6080760" cy="347472"/>
          </a:xfrm>
          <a:prstGeom prst="rect">
            <a:avLst/>
          </a:prstGeom>
          <a:noFill/>
        </p:spPr>
        <p:txBody>
          <a:bodyPr wrap="square" lIns="36576" tIns="36576" rIns="36576" bIns="36576" anchor="t">
            <a:spAutoFit/>
          </a:bodyPr>
          <a:lstStyle/>
          <a:p>
            <a:pPr algn="l"/>
            <a:r>
              <a:rPr sz="900" b="0" u="sng">
                <a:solidFill>
                  <a:srgbClr val="58A6FF"/>
                </a:solidFill>
                <a:latin typeface="Cascadia Mono"/>
                <a:hlinkClick r:id="rId6"/>
              </a:rPr>
              <a:t>https://github.blog/changelog/2026-09-03-github-actions-early-september-2026-updates</a:t>
            </a:r>
          </a:p>
        </p:txBody>
      </p:sp>
      <p:sp>
        <p:nvSpPr>
          <p:cNvPr id="21" name="Rounded Rectangle 20"/>
          <p:cNvSpPr/>
          <p:nvPr/>
        </p:nvSpPr>
        <p:spPr>
          <a:xfrm>
            <a:off x="731520" y="5413248"/>
            <a:ext cx="10744200" cy="612648"/>
          </a:xfrm>
          <a:prstGeom prst="roundRect">
            <a:avLst/>
          </a:prstGeom>
          <a:solidFill>
            <a:srgbClr val="161B22"/>
          </a:solidFill>
          <a:ln>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0120" y="5504688"/>
            <a:ext cx="4206240" cy="228600"/>
          </a:xfrm>
          <a:prstGeom prst="rect">
            <a:avLst/>
          </a:prstGeom>
          <a:noFill/>
        </p:spPr>
        <p:txBody>
          <a:bodyPr wrap="square" lIns="36576" tIns="36576" rIns="36576" bIns="36576" anchor="t">
            <a:spAutoFit/>
          </a:bodyPr>
          <a:lstStyle/>
          <a:p>
            <a:pPr algn="l"/>
            <a:r>
              <a:rPr sz="1400" b="1">
                <a:solidFill>
                  <a:srgbClr val="F0F6FC"/>
                </a:solidFill>
                <a:latin typeface="Aptos"/>
              </a:rPr>
              <a:t>Reusable workflow job context properties</a:t>
            </a:r>
          </a:p>
        </p:txBody>
      </p:sp>
      <p:sp>
        <p:nvSpPr>
          <p:cNvPr id="23" name="TextBox 22"/>
          <p:cNvSpPr txBox="1"/>
          <p:nvPr/>
        </p:nvSpPr>
        <p:spPr>
          <a:xfrm>
            <a:off x="5074920" y="5495544"/>
            <a:ext cx="6080760" cy="347472"/>
          </a:xfrm>
          <a:prstGeom prst="rect">
            <a:avLst/>
          </a:prstGeom>
          <a:noFill/>
        </p:spPr>
        <p:txBody>
          <a:bodyPr wrap="square" lIns="36576" tIns="36576" rIns="36576" bIns="36576" anchor="t">
            <a:spAutoFit/>
          </a:bodyPr>
          <a:lstStyle/>
          <a:p>
            <a:pPr algn="l"/>
            <a:r>
              <a:rPr sz="900" b="0" u="sng">
                <a:solidFill>
                  <a:srgbClr val="58A6FF"/>
                </a:solidFill>
                <a:latin typeface="Cascadia Mono"/>
                <a:hlinkClick r:id="rId6"/>
              </a:rPr>
              <a:t>https://github.blog/changelog/2026-09-03-github-actions-early-september-2026-updates</a:t>
            </a:r>
          </a:p>
        </p:txBody>
      </p:sp>
      <p:sp>
        <p:nvSpPr>
          <p:cNvPr id="24" name="TextBox 23"/>
          <p:cNvSpPr txBox="1"/>
          <p:nvPr/>
        </p:nvSpPr>
        <p:spPr>
          <a:xfrm>
            <a:off x="777240" y="6236208"/>
            <a:ext cx="10607040" cy="228600"/>
          </a:xfrm>
          <a:prstGeom prst="rect">
            <a:avLst/>
          </a:prstGeom>
          <a:noFill/>
        </p:spPr>
        <p:txBody>
          <a:bodyPr wrap="square" lIns="36576" tIns="36576" rIns="36576" bIns="36576" anchor="t">
            <a:spAutoFit/>
          </a:bodyPr>
          <a:lstStyle/>
          <a:p>
            <a:pPr algn="ctr"/>
            <a:r>
              <a:rPr sz="1100" b="0">
                <a:solidFill>
                  <a:srgbClr val="8B949E"/>
                </a:solidFill>
                <a:latin typeface="Aptos"/>
              </a:rPr>
              <a:t>Links are clickable in Slide Show and Normal view.</a:t>
            </a:r>
          </a:p>
        </p:txBody>
      </p:sp>
      <p:sp>
        <p:nvSpPr>
          <p:cNvPr id="25" name="TextBox 24"/>
          <p:cNvSpPr txBox="1"/>
          <p:nvPr/>
        </p:nvSpPr>
        <p:spPr>
          <a:xfrm>
            <a:off x="640080" y="6519672"/>
            <a:ext cx="5852160" cy="182880"/>
          </a:xfrm>
          <a:prstGeom prst="rect">
            <a:avLst/>
          </a:prstGeom>
          <a:noFill/>
        </p:spPr>
        <p:txBody>
          <a:bodyPr wrap="square" lIns="36576" tIns="36576" rIns="36576" bIns="36576" anchor="t">
            <a:spAutoFit/>
          </a:bodyPr>
          <a:lstStyle/>
          <a:p>
            <a:pPr algn="l"/>
            <a:r>
              <a:rPr sz="900" b="0">
                <a:solidFill>
                  <a:srgbClr val="8B949E"/>
                </a:solidFill>
                <a:latin typeface="Aptos"/>
              </a:rPr>
              <a:t>GitHub Actions Office Hour · Sep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119</TotalTime>
  <Words>3730</Words>
  <Application>Microsoft Office PowerPoint</Application>
  <PresentationFormat>Widescreen</PresentationFormat>
  <Paragraphs>430</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Arial</vt:lpstr>
      <vt:lpstr>Calibri</vt:lpstr>
      <vt:lpstr>Cascadia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Actions Office Hour — August and September 2026</dc:title>
  <dc:subject>GitHub Actions product updates, demos, and performance tips</dc:subject>
  <dc:creator>GitHub Office Hours</dc:creator>
  <cp:keywords/>
  <dc:description>generated using python-pptx</dc:description>
  <cp:lastModifiedBy>Sean Dorsett</cp:lastModifiedBy>
  <cp:revision>2</cp:revision>
  <dcterms:created xsi:type="dcterms:W3CDTF">2013-01-27T09:14:16Z</dcterms:created>
  <dcterms:modified xsi:type="dcterms:W3CDTF">2026-09-07T23:25:03Z</dcterms:modified>
  <cp:category/>
</cp:coreProperties>
</file>